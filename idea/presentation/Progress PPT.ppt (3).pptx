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slides/slide6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embedTrueTypeFonts="1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18288000" cy="10287000"/>
  <p:notesSz cx="7559675" cy="10691813"/>
  <p:embeddedFontLst>
    <p:embeddedFont>
      <p:font typeface="Calibri (MS) Bold"/>
      <p:bold r:id="rId15"/>
    </p:embeddedFont>
    <p:embeddedFont>
      <p:font typeface="Georgia"/>
      <p:regular r:id="rId16"/>
      <p:bold r:id="rId17"/>
      <p:italic r:id="rId18"/>
      <p:boldItalic r:id="rId19"/>
    </p:embeddedFont>
    <p:embeddedFont>
      <p:font typeface="TT Rounds Condensed Bold"/>
      <p:bold r:id="rId20"/>
    </p:embeddedFont>
    <p:embeddedFont>
      <p:font typeface="Arimo Bold"/>
      <p:bold r:id="rId21"/>
    </p:embeddedFont>
    <p:embeddedFont>
      <p:font typeface="Georgia Bold"/>
      <p:bold r:id="rId17"/>
    </p:embeddedFont>
    <p:embeddedFont>
      <p:font typeface="Georgia Pro"/>
      <p:regular r:id="rId22"/>
    </p:embeddedFont>
    <p:embeddedFont>
      <p:font typeface="Calibri (MS)"/>
      <p:regular r:id="rId23"/>
    </p:embeddedFont>
    <p:embeddedFont>
      <p:font typeface="Arimo"/>
      <p:regular r:id="rId24"/>
    </p:embeddedFont>
    <p:embeddedFont>
      <p:font typeface="Arimo Italics"/>
      <p:italic r:id="rId25"/>
    </p:embeddedFont>
    <p:embeddedFont>
      <p:font typeface="TT Rounds Condensed"/>
    </p:embeddedFont>
  </p:embeddedFontLst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font" Target="fonts/Font_1_Calibri_(MS)_Bold_Bold.fntdata"/><Relationship Id="rId16" Type="http://schemas.openxmlformats.org/officeDocument/2006/relationships/font" Target="fonts/Font_2_Georgia_Regular.fntdata"/><Relationship Id="rId17" Type="http://schemas.openxmlformats.org/officeDocument/2006/relationships/font" Target="fonts/Font_3_Georgia_Bold.fntdata"/><Relationship Id="rId18" Type="http://schemas.openxmlformats.org/officeDocument/2006/relationships/font" Target="fonts/Font_4_Georgia_Italic.fntdata"/><Relationship Id="rId19" Type="http://schemas.openxmlformats.org/officeDocument/2006/relationships/font" Target="fonts/Font_5_Georgia_BoldItalic.fntdata"/><Relationship Id="rId20" Type="http://schemas.openxmlformats.org/officeDocument/2006/relationships/font" Target="fonts/Font_6_TT_Rounds_Condensed_Bold_Bold.fntdata"/><Relationship Id="rId21" Type="http://schemas.openxmlformats.org/officeDocument/2006/relationships/font" Target="fonts/Font_7_Arimo_Bold_Bold.fntdata"/><Relationship Id="rId22" Type="http://schemas.openxmlformats.org/officeDocument/2006/relationships/font" Target="fonts/Font_8_Georgia_Pro_Regular.fntdata"/><Relationship Id="rId23" Type="http://schemas.openxmlformats.org/officeDocument/2006/relationships/font" Target="fonts/Font_9_Calibri_(MS)_Regular.fntdata"/><Relationship Id="rId24" Type="http://schemas.openxmlformats.org/officeDocument/2006/relationships/font" Target="fonts/Font_10_Arimo_Regular.fntdata"/><Relationship Id="rId25" Type="http://schemas.openxmlformats.org/officeDocument/2006/relationships/font" Target="fonts/Font_11_Arimo_Italics_Italic.fntdata"/><Relationship Id="rId26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99796AD-6B5F-41BA-97E1-5B4F7F2F0C1A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676F9B3-A964-48B5-B0B7-334DFD53DC5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AB64594-37CF-4A88-ADC9-6174C9D15D9A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19288BD-3400-4AF9-82E9-54A73B5EC30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4625F8C-0505-4AAA-85E9-30D1433C3BE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83EDBE8-A796-4671-A0E8-A3B5FD047A8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D237D46-DC84-4B2E-A44E-EDDA4A6A9CE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D996086-1D92-469C-A71A-4ACBE635271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81056BB-D262-4B62-988B-013A6DDC4CF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 defTabSz="914400"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914400" y="2406960"/>
            <a:ext cx="16458840" cy="596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914400"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1E8FBFF-E60D-4D77-AE36-7EADF894B16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pic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indent="0" algn="l">
              <a:buNone/>
            </a:pPr>
            <a:r>
              <a:rPr lang="en-IN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Double-click to add an Image</a:t>
            </a:r>
            <a:endParaRPr lang="en-IN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8D680F8-569C-47DF-B972-2D596840282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slideLayout" Target="../slideLayouts/slideLayout9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5.png"/><Relationship Id="rId3" Type="http://schemas.openxmlformats.org/officeDocument/2006/relationships/image" Target="../media/image5.png"/><Relationship Id="rId4" Type="http://schemas.openxmlformats.org/officeDocument/2006/relationships/image" Target="../media/image7.png"/><Relationship Id="rId5" Type="http://schemas.openxmlformats.org/officeDocument/2006/relationships/image" Target="../media/image6.png"/><Relationship Id="rId6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5.png"/><Relationship Id="rId3" Type="http://schemas.openxmlformats.org/officeDocument/2006/relationships/image" Target="../media/image5.png"/><Relationship Id="rId4" Type="http://schemas.openxmlformats.org/officeDocument/2006/relationships/image" Target="../media/image7.png"/><Relationship Id="rId5" Type="http://schemas.openxmlformats.org/officeDocument/2006/relationships/image" Target="../media/image6.png"/><Relationship Id="rId6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8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8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9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5.png"/><Relationship Id="rId3" Type="http://schemas.openxmlformats.org/officeDocument/2006/relationships/image" Target="../media/image5.png"/><Relationship Id="rId4" Type="http://schemas.openxmlformats.org/officeDocument/2006/relationships/image" Target="../media/image7.png"/><Relationship Id="rId5" Type="http://schemas.openxmlformats.org/officeDocument/2006/relationships/image" Target="../media/image6.png"/><Relationship Id="rId6" Type="http://schemas.openxmlformats.org/officeDocument/2006/relationships/slideLayout" Target="../slideLayouts/slideLayout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8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slideLayout" Target="../slideLayouts/slideLayout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9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slideLayout" Target="../slideLayouts/slideLayout9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Relationship Id="rId7" Type="http://schemas.openxmlformats.org/officeDocument/2006/relationships/image" Target="../media/image16.png"/><Relationship Id="rId8" Type="http://schemas.openxmlformats.org/officeDocument/2006/relationships/image" Target="../media/image17.png"/><Relationship Id="rId9" Type="http://schemas.openxmlformats.org/officeDocument/2006/relationships/image" Target="../media/image18.png"/><Relationship Id="rId10" Type="http://schemas.openxmlformats.org/officeDocument/2006/relationships/image" Target="../media/image19.png"/><Relationship Id="rId11" Type="http://schemas.openxmlformats.org/officeDocument/2006/relationships/image" Target="../media/image20.png"/><Relationship Id="rId12" Type="http://schemas.openxmlformats.org/officeDocument/2006/relationships/image" Target="../media/image21.png"/><Relationship Id="rId13" Type="http://schemas.openxmlformats.org/officeDocument/2006/relationships/image" Target="../media/image22.png"/><Relationship Id="rId14" Type="http://schemas.openxmlformats.org/officeDocument/2006/relationships/slideLayout" Target="../slideLayouts/slideLayout9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8.png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7.png"/><Relationship Id="rId6" Type="http://schemas.openxmlformats.org/officeDocument/2006/relationships/image" Target="../media/image6.png"/><Relationship Id="rId7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" name="Group 2"/>
          <p:cNvGrpSpPr/>
          <p:nvPr/>
        </p:nvGrpSpPr>
        <p:grpSpPr>
          <a:xfrm>
            <a:off x="0" y="9698760"/>
            <a:ext cx="18288000" cy="606600"/>
            <a:chOff x="0" y="9698760"/>
            <a:chExt cx="18288000" cy="606600"/>
          </a:xfrm>
        </p:grpSpPr>
        <p:sp>
          <p:nvSpPr>
            <p:cNvPr id="62" name="Freeform 3"/>
            <p:cNvSpPr/>
            <p:nvPr/>
          </p:nvSpPr>
          <p:spPr>
            <a:xfrm>
              <a:off x="0" y="9698760"/>
              <a:ext cx="18288000" cy="606600"/>
            </a:xfrm>
            <a:custGeom>
              <a:avLst/>
              <a:gdLst>
                <a:gd name="textAreaLeft" fmla="*/ 0 w 18288000"/>
                <a:gd name="textAreaRight" fmla="*/ 18288360 w 18288000"/>
                <a:gd name="textAreaTop" fmla="*/ 0 h 606600"/>
                <a:gd name="textAreaBottom" fmla="*/ 606960 h 606600"/>
              </a:gdLst>
              <a:ahLst/>
              <a:cxnLst/>
              <a:rect l="textAreaLeft" t="textAreaTop" r="textAreaRight" b="textAreaBottom"/>
              <a:pathLst>
                <a:path w="24384254" h="809244">
                  <a:moveTo>
                    <a:pt x="0" y="0"/>
                  </a:moveTo>
                  <a:lnTo>
                    <a:pt x="24384254" y="0"/>
                  </a:lnTo>
                  <a:lnTo>
                    <a:pt x="24384254" y="809244"/>
                  </a:lnTo>
                  <a:lnTo>
                    <a:pt x="0" y="809244"/>
                  </a:lnTo>
                  <a:close/>
                </a:path>
              </a:pathLst>
            </a:custGeom>
            <a:solidFill>
              <a:srgbClr val="0C2577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63" name="Group 4"/>
          <p:cNvGrpSpPr/>
          <p:nvPr/>
        </p:nvGrpSpPr>
        <p:grpSpPr>
          <a:xfrm>
            <a:off x="15935400" y="345240"/>
            <a:ext cx="2190240" cy="2190240"/>
            <a:chOff x="15935400" y="345240"/>
            <a:chExt cx="2190240" cy="2190240"/>
          </a:xfrm>
        </p:grpSpPr>
        <p:sp>
          <p:nvSpPr>
            <p:cNvPr id="64" name="Freeform 5"/>
            <p:cNvSpPr/>
            <p:nvPr/>
          </p:nvSpPr>
          <p:spPr>
            <a:xfrm>
              <a:off x="15935400" y="345240"/>
              <a:ext cx="2190240" cy="2190240"/>
            </a:xfrm>
            <a:custGeom>
              <a:avLst/>
              <a:gdLst>
                <a:gd name="textAreaLeft" fmla="*/ 0 w 2190240"/>
                <a:gd name="textAreaRight" fmla="*/ 2190600 w 2190240"/>
                <a:gd name="textAreaTop" fmla="*/ 0 h 2190240"/>
                <a:gd name="textAreaBottom" fmla="*/ 2190600 h 2190240"/>
              </a:gdLst>
              <a:ahLst/>
              <a:cxnLst/>
              <a:rect l="textAreaLeft" t="textAreaTop" r="textAreaRight" b="textAreaBottom"/>
              <a:pathLst>
                <a:path w="2921000" h="2921000">
                  <a:moveTo>
                    <a:pt x="0" y="0"/>
                  </a:moveTo>
                  <a:lnTo>
                    <a:pt x="2921000" y="0"/>
                  </a:lnTo>
                  <a:lnTo>
                    <a:pt x="2921000" y="2921000"/>
                  </a:lnTo>
                  <a:lnTo>
                    <a:pt x="0" y="2921000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1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65" name="Group 6"/>
          <p:cNvGrpSpPr/>
          <p:nvPr/>
        </p:nvGrpSpPr>
        <p:grpSpPr>
          <a:xfrm>
            <a:off x="0" y="0"/>
            <a:ext cx="18288000" cy="5264640"/>
            <a:chOff x="0" y="0"/>
            <a:chExt cx="18288000" cy="5264640"/>
          </a:xfrm>
        </p:grpSpPr>
        <p:sp>
          <p:nvSpPr>
            <p:cNvPr id="66" name="Freeform 7"/>
            <p:cNvSpPr/>
            <p:nvPr/>
          </p:nvSpPr>
          <p:spPr>
            <a:xfrm>
              <a:off x="0" y="0"/>
              <a:ext cx="18288000" cy="5264640"/>
            </a:xfrm>
            <a:custGeom>
              <a:avLst/>
              <a:gdLst>
                <a:gd name="textAreaLeft" fmla="*/ 0 w 18288000"/>
                <a:gd name="textAreaRight" fmla="*/ 18288360 w 18288000"/>
                <a:gd name="textAreaTop" fmla="*/ 0 h 5264640"/>
                <a:gd name="textAreaBottom" fmla="*/ 5265000 h 5264640"/>
              </a:gdLst>
              <a:ahLst/>
              <a:cxnLst/>
              <a:rect l="textAreaLeft" t="textAreaTop" r="textAreaRight" b="textAreaBottom"/>
              <a:pathLst>
                <a:path w="24384254" h="7020051">
                  <a:moveTo>
                    <a:pt x="0" y="0"/>
                  </a:moveTo>
                  <a:lnTo>
                    <a:pt x="24384254" y="0"/>
                  </a:lnTo>
                  <a:lnTo>
                    <a:pt x="24384254" y="7020051"/>
                  </a:lnTo>
                  <a:lnTo>
                    <a:pt x="0" y="7020051"/>
                  </a:lnTo>
                  <a:close/>
                </a:path>
              </a:pathLst>
            </a:custGeom>
            <a:solidFill>
              <a:srgbClr val="0C2577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7" name="TextBox 8"/>
            <p:cNvSpPr/>
            <p:nvPr/>
          </p:nvSpPr>
          <p:spPr>
            <a:xfrm>
              <a:off x="0" y="0"/>
              <a:ext cx="18288000" cy="52646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tIns="50760" rIns="50760" bIns="50760" anchor="t">
              <a:noAutofit/>
            </a:bodyPr>
            <a:p>
              <a:pPr defTabSz="914400">
                <a:lnSpc>
                  <a:spcPts val="162"/>
                </a:lnSpc>
                <a:tabLst>
                  <a:tab pos="0" algn="l"/>
                </a:tabLst>
              </a:pPr>
              <a:r>
                <a:rPr lang="en-US" sz="150" b="0" u="none" strike="noStrike">
                  <a:solidFill>
                    <a:srgbClr val="0C2577"/>
                  </a:solidFill>
                  <a:effectLst/>
                  <a:uFillTx/>
                  <a:latin typeface="Georgia"/>
                  <a:ea typeface="Georgia"/>
                </a:rPr>
                <a:t>..</a:t>
              </a:r>
              <a:endParaRPr lang="en-IN" sz="1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68" name="Group 9"/>
          <p:cNvGrpSpPr/>
          <p:nvPr/>
        </p:nvGrpSpPr>
        <p:grpSpPr>
          <a:xfrm>
            <a:off x="226080" y="7279560"/>
            <a:ext cx="1866600" cy="1866600"/>
            <a:chOff x="226080" y="7279560"/>
            <a:chExt cx="1866600" cy="1866600"/>
          </a:xfrm>
        </p:grpSpPr>
        <p:sp>
          <p:nvSpPr>
            <p:cNvPr id="69" name="Freeform 10"/>
            <p:cNvSpPr/>
            <p:nvPr/>
          </p:nvSpPr>
          <p:spPr>
            <a:xfrm>
              <a:off x="226080" y="7279560"/>
              <a:ext cx="1866600" cy="1866600"/>
            </a:xfrm>
            <a:custGeom>
              <a:avLst/>
              <a:gdLst>
                <a:gd name="textAreaLeft" fmla="*/ 0 w 1866600"/>
                <a:gd name="textAreaRight" fmla="*/ 1866960 w 1866600"/>
                <a:gd name="textAreaTop" fmla="*/ 0 h 1866600"/>
                <a:gd name="textAreaBottom" fmla="*/ 1866960 h 1866600"/>
              </a:gdLst>
              <a:ahLst/>
              <a:cxnLst/>
              <a:rect l="textAreaLeft" t="textAreaTop" r="textAreaRight" b="textAreaBottom"/>
              <a:pathLst>
                <a:path w="2489073" h="2489073">
                  <a:moveTo>
                    <a:pt x="0" y="0"/>
                  </a:moveTo>
                  <a:lnTo>
                    <a:pt x="2489073" y="0"/>
                  </a:lnTo>
                  <a:lnTo>
                    <a:pt x="2489073" y="2489073"/>
                  </a:lnTo>
                  <a:lnTo>
                    <a:pt x="0" y="2489073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2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70" name="TextBox 11"/>
          <p:cNvSpPr/>
          <p:nvPr/>
        </p:nvSpPr>
        <p:spPr>
          <a:xfrm>
            <a:off x="2518920" y="7557480"/>
            <a:ext cx="8159040" cy="54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750" b="1" u="none" strike="noStrike">
                <a:solidFill>
                  <a:srgbClr val="23298A"/>
                </a:solidFill>
                <a:effectLst/>
                <a:uFillTx/>
                <a:latin typeface="Georgia Bold"/>
                <a:ea typeface="Georgia Bold"/>
              </a:rPr>
              <a:t>B.Tech in Artificial Intelligence &amp; Data Science, Semester 5 / 3rd Year</a:t>
            </a:r>
            <a:endParaRPr lang="en-IN" sz="1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750" b="1" u="none" strike="noStrike">
                <a:solidFill>
                  <a:srgbClr val="23298A"/>
                </a:solidFill>
                <a:effectLst/>
                <a:uFillTx/>
                <a:latin typeface="Georgia Bold"/>
                <a:ea typeface="Georgia Bold"/>
              </a:rPr>
              <a:t>Minor Project, AI-301, 4 Credits</a:t>
            </a:r>
            <a:endParaRPr lang="en-IN" sz="1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TextBox 12"/>
          <p:cNvSpPr/>
          <p:nvPr/>
        </p:nvSpPr>
        <p:spPr>
          <a:xfrm>
            <a:off x="12651120" y="5738040"/>
            <a:ext cx="4577760" cy="28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14400">
              <a:lnSpc>
                <a:spcPts val="2100"/>
              </a:lnSpc>
              <a:tabLst>
                <a:tab pos="0" algn="l"/>
              </a:tabLst>
            </a:pPr>
            <a:r>
              <a:rPr lang="en-US" sz="1940" b="0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5 October 2026</a:t>
            </a:r>
            <a:endParaRPr lang="en-IN" sz="19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72" name="Group 13"/>
          <p:cNvGrpSpPr/>
          <p:nvPr/>
        </p:nvGrpSpPr>
        <p:grpSpPr>
          <a:xfrm>
            <a:off x="-720" y="5264280"/>
            <a:ext cx="18288000" cy="1516320"/>
            <a:chOff x="-720" y="5264280"/>
            <a:chExt cx="18288000" cy="1516320"/>
          </a:xfrm>
        </p:grpSpPr>
        <p:sp>
          <p:nvSpPr>
            <p:cNvPr id="73" name="Freeform 14"/>
            <p:cNvSpPr/>
            <p:nvPr/>
          </p:nvSpPr>
          <p:spPr>
            <a:xfrm>
              <a:off x="-720" y="5264280"/>
              <a:ext cx="18288000" cy="1516320"/>
            </a:xfrm>
            <a:custGeom>
              <a:avLst/>
              <a:gdLst>
                <a:gd name="textAreaLeft" fmla="*/ 0 w 18288000"/>
                <a:gd name="textAreaRight" fmla="*/ 18288360 w 18288000"/>
                <a:gd name="textAreaTop" fmla="*/ 0 h 1516320"/>
                <a:gd name="textAreaBottom" fmla="*/ 1516680 h 1516320"/>
              </a:gdLst>
              <a:ahLst/>
              <a:cxnLst/>
              <a:rect l="textAreaLeft" t="textAreaTop" r="textAreaRight" b="textAreaBottom"/>
              <a:pathLst>
                <a:path w="24384254" h="2022475">
                  <a:moveTo>
                    <a:pt x="0" y="0"/>
                  </a:moveTo>
                  <a:lnTo>
                    <a:pt x="24384254" y="0"/>
                  </a:lnTo>
                  <a:lnTo>
                    <a:pt x="24384254" y="2022475"/>
                  </a:lnTo>
                  <a:lnTo>
                    <a:pt x="0" y="2022475"/>
                  </a:lnTo>
                  <a:close/>
                </a:path>
              </a:pathLst>
            </a:custGeom>
            <a:blipFill rotWithShape="0">
              <a:blip r:embed="rId3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74" name="Group 15"/>
          <p:cNvGrpSpPr/>
          <p:nvPr/>
        </p:nvGrpSpPr>
        <p:grpSpPr>
          <a:xfrm>
            <a:off x="2285640" y="1683720"/>
            <a:ext cx="13715640" cy="2452320"/>
            <a:chOff x="2285640" y="1683720"/>
            <a:chExt cx="13715640" cy="2452320"/>
          </a:xfrm>
        </p:grpSpPr>
        <p:sp>
          <p:nvSpPr>
            <p:cNvPr id="75" name="Freeform 16"/>
            <p:cNvSpPr/>
            <p:nvPr/>
          </p:nvSpPr>
          <p:spPr>
            <a:xfrm>
              <a:off x="2285640" y="1683720"/>
              <a:ext cx="13715640" cy="2452320"/>
            </a:xfrm>
            <a:custGeom>
              <a:avLst/>
              <a:gdLst>
                <a:gd name="textAreaLeft" fmla="*/ 0 w 13715640"/>
                <a:gd name="textAreaRight" fmla="*/ 13716000 w 13715640"/>
                <a:gd name="textAreaTop" fmla="*/ 0 h 2452320"/>
                <a:gd name="textAreaBottom" fmla="*/ 2452680 h 2452320"/>
              </a:gdLst>
              <a:ahLst/>
              <a:cxnLst/>
              <a:rect l="textAreaLeft" t="textAreaTop" r="textAreaRight" b="textAreaBottom"/>
              <a:pathLst>
                <a:path w="18288000" h="3270243">
                  <a:moveTo>
                    <a:pt x="0" y="0"/>
                  </a:moveTo>
                  <a:lnTo>
                    <a:pt x="18288000" y="0"/>
                  </a:lnTo>
                  <a:lnTo>
                    <a:pt x="18288000" y="3270243"/>
                  </a:lnTo>
                  <a:lnTo>
                    <a:pt x="0" y="3270243"/>
                  </a:lnTo>
                  <a:close/>
                </a:path>
              </a:pathLst>
            </a:custGeom>
            <a:blipFill rotWithShape="0">
              <a:blip r:embed="rId4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6" name="TextBox 17"/>
            <p:cNvSpPr/>
            <p:nvPr/>
          </p:nvSpPr>
          <p:spPr>
            <a:xfrm>
              <a:off x="2285640" y="1712160"/>
              <a:ext cx="13715640" cy="2423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b">
              <a:noAutofit/>
            </a:bodyPr>
            <a:p>
              <a:pPr algn="ctr" defTabSz="914400">
                <a:lnSpc>
                  <a:spcPts val="5043"/>
                </a:lnSpc>
                <a:tabLst>
                  <a:tab pos="0" algn="l"/>
                </a:tabLst>
              </a:pPr>
              <a:r>
                <a:rPr lang="en-US" sz="4670" b="1" u="none" strike="noStrike">
                  <a:solidFill>
                    <a:srgbClr val="FFFFFF"/>
                  </a:solidFill>
                  <a:effectLst/>
                  <a:uFillTx/>
                  <a:latin typeface="Georgia Bold"/>
                  <a:ea typeface="Georgia Bold"/>
                </a:rPr>
                <a:t>Architecture of an Edge-Optimized, Low-Latency Voice-to-Voice Conversational Agent for Low-Resource Vernacular Dialects</a:t>
              </a:r>
              <a:endParaRPr lang="en-IN" sz="467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77" name="TextBox 18"/>
          <p:cNvSpPr/>
          <p:nvPr/>
        </p:nvSpPr>
        <p:spPr>
          <a:xfrm>
            <a:off x="1183680" y="6227640"/>
            <a:ext cx="6665040" cy="33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2520"/>
              </a:lnSpc>
              <a:tabLst>
                <a:tab pos="0" algn="l"/>
              </a:tabLst>
            </a:pPr>
            <a:r>
              <a:rPr lang="en-US" sz="2340" b="0" u="none" strike="noStrike">
                <a:solidFill>
                  <a:srgbClr val="002060"/>
                </a:solidFill>
                <a:effectLst/>
                <a:uFillTx/>
                <a:latin typeface="Georgia"/>
                <a:ea typeface="Georgia"/>
              </a:rPr>
              <a:t>Supervisor: Prof. Santosh Kumar</a:t>
            </a:r>
            <a:endParaRPr lang="en-IN" sz="23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TextBox 19"/>
          <p:cNvSpPr/>
          <p:nvPr/>
        </p:nvSpPr>
        <p:spPr>
          <a:xfrm>
            <a:off x="4604760" y="9776880"/>
            <a:ext cx="8827920" cy="23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1868"/>
              </a:lnSpc>
              <a:tabLst>
                <a:tab pos="0" algn="l"/>
              </a:tabLst>
            </a:pPr>
            <a:r>
              <a:rPr lang="en-US" sz="1560" b="0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International Institute of Information Technology, Naya Raipur</a:t>
            </a:r>
            <a:endParaRPr lang="en-IN" sz="15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TextBox 20"/>
          <p:cNvSpPr/>
          <p:nvPr/>
        </p:nvSpPr>
        <p:spPr>
          <a:xfrm>
            <a:off x="1180800" y="5487840"/>
            <a:ext cx="6667920" cy="33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2520"/>
              </a:lnSpc>
              <a:tabLst>
                <a:tab pos="0" algn="l"/>
              </a:tabLst>
            </a:pPr>
            <a:r>
              <a:rPr lang="en-US" sz="2340" b="0" u="none" strike="noStrike">
                <a:solidFill>
                  <a:schemeClr val="dk1"/>
                </a:solidFill>
                <a:effectLst/>
                <a:uFillTx/>
                <a:latin typeface="Georgia"/>
                <a:ea typeface="Georgia"/>
              </a:rPr>
              <a:t>Punyansh Thakur, Harsh Dadsena, Aakash Sen</a:t>
            </a:r>
            <a:endParaRPr lang="en-IN" sz="23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" name="Group 2"/>
          <p:cNvGrpSpPr/>
          <p:nvPr/>
        </p:nvGrpSpPr>
        <p:grpSpPr>
          <a:xfrm>
            <a:off x="0" y="9698760"/>
            <a:ext cx="18288000" cy="606600"/>
            <a:chOff x="0" y="9698760"/>
            <a:chExt cx="18288000" cy="606600"/>
          </a:xfrm>
        </p:grpSpPr>
        <p:sp>
          <p:nvSpPr>
            <p:cNvPr id="81" name="Freeform 3"/>
            <p:cNvSpPr/>
            <p:nvPr/>
          </p:nvSpPr>
          <p:spPr>
            <a:xfrm>
              <a:off x="0" y="9698760"/>
              <a:ext cx="18288000" cy="606600"/>
            </a:xfrm>
            <a:custGeom>
              <a:avLst/>
              <a:gdLst>
                <a:gd name="textAreaLeft" fmla="*/ 0 w 18288000"/>
                <a:gd name="textAreaRight" fmla="*/ 18288360 w 18288000"/>
                <a:gd name="textAreaTop" fmla="*/ 0 h 606600"/>
                <a:gd name="textAreaBottom" fmla="*/ 606960 h 606600"/>
              </a:gdLst>
              <a:ahLst/>
              <a:cxnLst/>
              <a:rect l="textAreaLeft" t="textAreaTop" r="textAreaRight" b="textAreaBottom"/>
              <a:pathLst>
                <a:path w="24384254" h="809244">
                  <a:moveTo>
                    <a:pt x="0" y="0"/>
                  </a:moveTo>
                  <a:lnTo>
                    <a:pt x="24384254" y="0"/>
                  </a:lnTo>
                  <a:lnTo>
                    <a:pt x="24384254" y="809244"/>
                  </a:lnTo>
                  <a:lnTo>
                    <a:pt x="0" y="809244"/>
                  </a:lnTo>
                  <a:close/>
                </a:path>
              </a:pathLst>
            </a:custGeom>
            <a:solidFill>
              <a:srgbClr val="0C2577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82" name="Group 4"/>
          <p:cNvGrpSpPr/>
          <p:nvPr/>
        </p:nvGrpSpPr>
        <p:grpSpPr>
          <a:xfrm>
            <a:off x="15935400" y="345240"/>
            <a:ext cx="2190240" cy="2190240"/>
            <a:chOff x="15935400" y="345240"/>
            <a:chExt cx="2190240" cy="2190240"/>
          </a:xfrm>
        </p:grpSpPr>
        <p:sp>
          <p:nvSpPr>
            <p:cNvPr id="83" name="Freeform 5"/>
            <p:cNvSpPr/>
            <p:nvPr/>
          </p:nvSpPr>
          <p:spPr>
            <a:xfrm>
              <a:off x="15935400" y="345240"/>
              <a:ext cx="2190240" cy="2190240"/>
            </a:xfrm>
            <a:custGeom>
              <a:avLst/>
              <a:gdLst>
                <a:gd name="textAreaLeft" fmla="*/ 0 w 2190240"/>
                <a:gd name="textAreaRight" fmla="*/ 2190600 w 2190240"/>
                <a:gd name="textAreaTop" fmla="*/ 0 h 2190240"/>
                <a:gd name="textAreaBottom" fmla="*/ 2190600 h 2190240"/>
              </a:gdLst>
              <a:ahLst/>
              <a:cxnLst/>
              <a:rect l="textAreaLeft" t="textAreaTop" r="textAreaRight" b="textAreaBottom"/>
              <a:pathLst>
                <a:path w="2921000" h="2921000">
                  <a:moveTo>
                    <a:pt x="0" y="0"/>
                  </a:moveTo>
                  <a:lnTo>
                    <a:pt x="2921000" y="0"/>
                  </a:lnTo>
                  <a:lnTo>
                    <a:pt x="2921000" y="2921000"/>
                  </a:lnTo>
                  <a:lnTo>
                    <a:pt x="0" y="2921000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1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84" name="Group 6"/>
          <p:cNvGrpSpPr/>
          <p:nvPr/>
        </p:nvGrpSpPr>
        <p:grpSpPr>
          <a:xfrm>
            <a:off x="1257120" y="547560"/>
            <a:ext cx="15773040" cy="1566720"/>
            <a:chOff x="1257120" y="547560"/>
            <a:chExt cx="15773040" cy="1566720"/>
          </a:xfrm>
        </p:grpSpPr>
        <p:sp>
          <p:nvSpPr>
            <p:cNvPr id="85" name="Freeform 7"/>
            <p:cNvSpPr/>
            <p:nvPr/>
          </p:nvSpPr>
          <p:spPr>
            <a:xfrm>
              <a:off x="1257120" y="547560"/>
              <a:ext cx="15773040" cy="1566720"/>
            </a:xfrm>
            <a:custGeom>
              <a:avLst/>
              <a:gdLst>
                <a:gd name="textAreaLeft" fmla="*/ 0 w 15773040"/>
                <a:gd name="textAreaRight" fmla="*/ 15773400 w 15773040"/>
                <a:gd name="textAreaTop" fmla="*/ 0 h 1566720"/>
                <a:gd name="textAreaBottom" fmla="*/ 1567080 h 1566720"/>
              </a:gdLst>
              <a:ahLst/>
              <a:cxnLst/>
              <a:rect l="textAreaLeft" t="textAreaTop" r="textAreaRight" b="textAreaBottom"/>
              <a:pathLst>
                <a:path w="21031200" h="2089438">
                  <a:moveTo>
                    <a:pt x="0" y="0"/>
                  </a:moveTo>
                  <a:lnTo>
                    <a:pt x="21031200" y="0"/>
                  </a:lnTo>
                  <a:lnTo>
                    <a:pt x="21031200" y="2089438"/>
                  </a:lnTo>
                  <a:lnTo>
                    <a:pt x="0" y="2089438"/>
                  </a:lnTo>
                  <a:close/>
                </a:path>
              </a:pathLst>
            </a:custGeom>
            <a:blipFill rotWithShape="0">
              <a:blip r:embed="rId2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6" name="TextBox 8"/>
            <p:cNvSpPr/>
            <p:nvPr/>
          </p:nvSpPr>
          <p:spPr>
            <a:xfrm>
              <a:off x="1257120" y="597600"/>
              <a:ext cx="15773040" cy="1516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defTabSz="914400">
                <a:lnSpc>
                  <a:spcPts val="7129"/>
                </a:lnSpc>
                <a:tabLst>
                  <a:tab pos="0" algn="l"/>
                </a:tabLst>
              </a:pPr>
              <a:r>
                <a:rPr lang="en-US" sz="6600" b="1" u="none" spc="-40" strike="noStrike">
                  <a:solidFill>
                    <a:srgbClr val="002060"/>
                  </a:solidFill>
                  <a:effectLst/>
                  <a:uFillTx/>
                  <a:latin typeface="TT Rounds Condensed Bold"/>
                  <a:ea typeface="TT Rounds Condensed"/>
                </a:rPr>
                <a:t>01  Introduction</a:t>
              </a:r>
              <a:endParaRPr lang="en-IN" sz="6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87" name="Group 9"/>
          <p:cNvGrpSpPr/>
          <p:nvPr/>
        </p:nvGrpSpPr>
        <p:grpSpPr>
          <a:xfrm>
            <a:off x="399960" y="9808560"/>
            <a:ext cx="3314160" cy="478080"/>
            <a:chOff x="399960" y="9808560"/>
            <a:chExt cx="3314160" cy="478080"/>
          </a:xfrm>
        </p:grpSpPr>
        <p:sp>
          <p:nvSpPr>
            <p:cNvPr id="88" name="Freeform 10"/>
            <p:cNvSpPr/>
            <p:nvPr/>
          </p:nvSpPr>
          <p:spPr>
            <a:xfrm>
              <a:off x="399960" y="9837360"/>
              <a:ext cx="3314160" cy="449280"/>
            </a:xfrm>
            <a:custGeom>
              <a:avLst/>
              <a:gdLst>
                <a:gd name="textAreaLeft" fmla="*/ 0 w 3314160"/>
                <a:gd name="textAreaRight" fmla="*/ 3314520 w 3314160"/>
                <a:gd name="textAreaTop" fmla="*/ 0 h 449280"/>
                <a:gd name="textAreaBottom" fmla="*/ 449640 h 449280"/>
              </a:gdLst>
              <a:ahLst/>
              <a:cxnLst/>
              <a:rect l="textAreaLeft" t="textAreaTop" r="textAreaRight" b="textAreaBottom"/>
              <a:pathLst>
                <a:path w="4419360" h="599760">
                  <a:moveTo>
                    <a:pt x="0" y="0"/>
                  </a:moveTo>
                  <a:lnTo>
                    <a:pt x="4419360" y="0"/>
                  </a:lnTo>
                  <a:lnTo>
                    <a:pt x="4419360" y="599760"/>
                  </a:lnTo>
                  <a:lnTo>
                    <a:pt x="0" y="599760"/>
                  </a:lnTo>
                  <a:close/>
                </a:path>
              </a:pathLst>
            </a:custGeom>
            <a:blipFill rotWithShape="0">
              <a:blip r:embed="rId3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9" name="TextBox 11"/>
            <p:cNvSpPr/>
            <p:nvPr/>
          </p:nvSpPr>
          <p:spPr>
            <a:xfrm>
              <a:off x="399960" y="9808560"/>
              <a:ext cx="3314160" cy="478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defTabSz="914400">
                <a:lnSpc>
                  <a:spcPts val="2160"/>
                </a:lnSpc>
              </a:pPr>
              <a:r>
                <a:rPr lang="en-US" sz="1800" b="0" u="none" strike="noStrike">
                  <a:solidFill>
                    <a:srgbClr val="FFFFFF"/>
                  </a:solidFill>
                  <a:effectLst/>
                  <a:uFillTx/>
                  <a:latin typeface="Calibri (MS)"/>
                  <a:ea typeface="Calibri (MS)"/>
                </a:rPr>
                <a:t>05/10/26</a:t>
              </a:r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90" name="Group 12"/>
          <p:cNvGrpSpPr/>
          <p:nvPr/>
        </p:nvGrpSpPr>
        <p:grpSpPr>
          <a:xfrm>
            <a:off x="4288680" y="9732240"/>
            <a:ext cx="9896400" cy="554400"/>
            <a:chOff x="4288680" y="9732240"/>
            <a:chExt cx="9896400" cy="554400"/>
          </a:xfrm>
        </p:grpSpPr>
        <p:sp>
          <p:nvSpPr>
            <p:cNvPr id="91" name="Freeform 13"/>
            <p:cNvSpPr/>
            <p:nvPr/>
          </p:nvSpPr>
          <p:spPr>
            <a:xfrm>
              <a:off x="4288680" y="9739440"/>
              <a:ext cx="9896400" cy="547200"/>
            </a:xfrm>
            <a:custGeom>
              <a:avLst/>
              <a:gdLst>
                <a:gd name="textAreaLeft" fmla="*/ 0 w 9896400"/>
                <a:gd name="textAreaRight" fmla="*/ 9896760 w 9896400"/>
                <a:gd name="textAreaTop" fmla="*/ 0 h 547200"/>
                <a:gd name="textAreaBottom" fmla="*/ 547560 h 547200"/>
              </a:gdLst>
              <a:ahLst/>
              <a:cxnLst/>
              <a:rect l="textAreaLeft" t="textAreaTop" r="textAreaRight" b="textAreaBottom"/>
              <a:pathLst>
                <a:path w="13195440" h="730080">
                  <a:moveTo>
                    <a:pt x="0" y="0"/>
                  </a:moveTo>
                  <a:lnTo>
                    <a:pt x="13195440" y="0"/>
                  </a:lnTo>
                  <a:lnTo>
                    <a:pt x="13195440" y="730080"/>
                  </a:lnTo>
                  <a:lnTo>
                    <a:pt x="0" y="730080"/>
                  </a:lnTo>
                  <a:close/>
                </a:path>
              </a:pathLst>
            </a:custGeom>
            <a:blipFill rotWithShape="0">
              <a:blip r:embed="rId4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2" name="TextBox 14"/>
            <p:cNvSpPr/>
            <p:nvPr/>
          </p:nvSpPr>
          <p:spPr>
            <a:xfrm>
              <a:off x="4288680" y="9732240"/>
              <a:ext cx="9896400" cy="554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algn="ctr" defTabSz="914400">
                <a:lnSpc>
                  <a:spcPts val="2520"/>
                </a:lnSpc>
              </a:pPr>
              <a:r>
                <a:rPr lang="en-US" sz="2100" b="0" u="none" strike="noStrike">
                  <a:solidFill>
                    <a:srgbClr val="FFFFFF"/>
                  </a:solidFill>
                  <a:effectLst/>
                  <a:uFillTx/>
                  <a:latin typeface="Georgia"/>
                  <a:ea typeface="Georgia"/>
                </a:rPr>
                <a:t>International Institute of Information Technology, Naya Raipur</a:t>
              </a:r>
              <a:endParaRPr lang="en-IN" sz="21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93" name="Group 15"/>
          <p:cNvGrpSpPr/>
          <p:nvPr/>
        </p:nvGrpSpPr>
        <p:grpSpPr>
          <a:xfrm>
            <a:off x="14444640" y="9711000"/>
            <a:ext cx="2969280" cy="575640"/>
            <a:chOff x="14444640" y="9711000"/>
            <a:chExt cx="2969280" cy="575640"/>
          </a:xfrm>
        </p:grpSpPr>
        <p:sp>
          <p:nvSpPr>
            <p:cNvPr id="94" name="Freeform 16"/>
            <p:cNvSpPr/>
            <p:nvPr/>
          </p:nvSpPr>
          <p:spPr>
            <a:xfrm>
              <a:off x="14444640" y="9739440"/>
              <a:ext cx="2969280" cy="547200"/>
            </a:xfrm>
            <a:custGeom>
              <a:avLst/>
              <a:gdLst>
                <a:gd name="textAreaLeft" fmla="*/ 0 w 2969280"/>
                <a:gd name="textAreaRight" fmla="*/ 2969640 w 2969280"/>
                <a:gd name="textAreaTop" fmla="*/ 0 h 547200"/>
                <a:gd name="textAreaBottom" fmla="*/ 547560 h 547200"/>
              </a:gdLst>
              <a:ahLst/>
              <a:cxnLst/>
              <a:rect l="textAreaLeft" t="textAreaTop" r="textAreaRight" b="textAreaBottom"/>
              <a:pathLst>
                <a:path w="3959280" h="730080">
                  <a:moveTo>
                    <a:pt x="0" y="0"/>
                  </a:moveTo>
                  <a:lnTo>
                    <a:pt x="3959280" y="0"/>
                  </a:lnTo>
                  <a:lnTo>
                    <a:pt x="3959280" y="730080"/>
                  </a:lnTo>
                  <a:lnTo>
                    <a:pt x="0" y="730080"/>
                  </a:lnTo>
                  <a:close/>
                </a:path>
              </a:pathLst>
            </a:custGeom>
            <a:blipFill rotWithShape="0">
              <a:blip r:embed="rId5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5" name="TextBox 17"/>
            <p:cNvSpPr/>
            <p:nvPr/>
          </p:nvSpPr>
          <p:spPr>
            <a:xfrm>
              <a:off x="14444640" y="9711000"/>
              <a:ext cx="2968920" cy="5756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algn="r" defTabSz="914400">
                <a:lnSpc>
                  <a:spcPts val="2160"/>
                </a:lnSpc>
              </a:pPr>
              <a:r>
                <a:rPr lang="en-US" sz="1800" b="0" u="none" strike="noStrike">
                  <a:solidFill>
                    <a:srgbClr val="FFFFFF"/>
                  </a:solidFill>
                  <a:effectLst/>
                  <a:uFillTx/>
                  <a:latin typeface="Calibri (MS)"/>
                  <a:ea typeface="Calibri (MS)"/>
                </a:rPr>
                <a:t>&lt;number&gt;</a:t>
              </a:r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96" name="TextBox 18"/>
          <p:cNvSpPr/>
          <p:nvPr/>
        </p:nvSpPr>
        <p:spPr>
          <a:xfrm>
            <a:off x="1352520" y="2602080"/>
            <a:ext cx="7505280" cy="47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3779"/>
              </a:lnSpc>
            </a:pPr>
            <a:r>
              <a:rPr lang="en-US" sz="2700" b="1" u="none" strike="noStrike">
                <a:solidFill>
                  <a:srgbClr val="0C2577"/>
                </a:solidFill>
                <a:effectLst/>
                <a:uFillTx/>
                <a:latin typeface="Arimo Bold"/>
                <a:ea typeface="Arimo Bold"/>
              </a:rPr>
              <a:t>Project focus</a:t>
            </a:r>
            <a:endParaRPr lang="en-IN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TextBox 19"/>
          <p:cNvSpPr/>
          <p:nvPr/>
        </p:nvSpPr>
        <p:spPr>
          <a:xfrm>
            <a:off x="1352520" y="3295800"/>
            <a:ext cx="110880" cy="43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3498"/>
              </a:lnSpc>
            </a:pPr>
            <a:r>
              <a:rPr lang="en-US" sz="2500" b="1" u="none" strike="noStrike">
                <a:solidFill>
                  <a:srgbClr val="0C2577"/>
                </a:solidFill>
                <a:effectLst/>
                <a:uFillTx/>
                <a:latin typeface="Arimo Bold"/>
                <a:ea typeface="Arimo Bold"/>
              </a:rPr>
              <a:t>•</a:t>
            </a:r>
            <a:endParaRPr lang="en-IN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TextBox 20"/>
          <p:cNvSpPr/>
          <p:nvPr/>
        </p:nvSpPr>
        <p:spPr>
          <a:xfrm>
            <a:off x="1790640" y="3305160"/>
            <a:ext cx="7067160" cy="83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3373"/>
              </a:lnSpc>
            </a:pPr>
            <a:r>
              <a:rPr lang="en-US" sz="2500" b="1" u="none" strike="noStrike">
                <a:solidFill>
                  <a:srgbClr val="002060"/>
                </a:solidFill>
                <a:effectLst/>
                <a:uFillTx/>
                <a:latin typeface="Arimo Bold"/>
                <a:ea typeface="Arimo Bold"/>
              </a:rPr>
              <a:t>Edge-native agent — </a:t>
            </a:r>
            <a:r>
              <a:rPr lang="en-US" sz="2500" b="0" u="none" strike="noStrike">
                <a:solidFill>
                  <a:srgbClr val="002060"/>
                </a:solidFill>
                <a:effectLst/>
                <a:uFillTx/>
                <a:latin typeface="Arimo"/>
                <a:ea typeface="Arimo"/>
              </a:rPr>
              <a:t>a zero-cloud Voice-to-Voice conversational agent</a:t>
            </a:r>
            <a:endParaRPr lang="en-IN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TextBox 21"/>
          <p:cNvSpPr/>
          <p:nvPr/>
        </p:nvSpPr>
        <p:spPr>
          <a:xfrm>
            <a:off x="1352520" y="4086360"/>
            <a:ext cx="110880" cy="43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3498"/>
              </a:lnSpc>
            </a:pPr>
            <a:r>
              <a:rPr lang="en-US" sz="2500" b="1" u="none" strike="noStrike">
                <a:solidFill>
                  <a:srgbClr val="0C2577"/>
                </a:solidFill>
                <a:effectLst/>
                <a:uFillTx/>
                <a:latin typeface="Arimo Bold"/>
                <a:ea typeface="Arimo Bold"/>
              </a:rPr>
              <a:t>•</a:t>
            </a:r>
            <a:endParaRPr lang="en-IN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Box 22"/>
          <p:cNvSpPr/>
          <p:nvPr/>
        </p:nvSpPr>
        <p:spPr>
          <a:xfrm>
            <a:off x="1790640" y="4095720"/>
            <a:ext cx="7067160" cy="83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3373"/>
              </a:lnSpc>
            </a:pPr>
            <a:r>
              <a:rPr lang="en-US" sz="2500" b="1" u="none" strike="noStrike">
                <a:solidFill>
                  <a:srgbClr val="002060"/>
                </a:solidFill>
                <a:effectLst/>
                <a:uFillTx/>
                <a:latin typeface="Arimo Bold"/>
                <a:ea typeface="Arimo Bold"/>
              </a:rPr>
              <a:t>Vernacular coverage — </a:t>
            </a:r>
            <a:r>
              <a:rPr lang="en-US" sz="2500" b="0" u="none" strike="noStrike">
                <a:solidFill>
                  <a:srgbClr val="002060"/>
                </a:solidFill>
                <a:effectLst/>
                <a:uFillTx/>
                <a:latin typeface="Arimo"/>
                <a:ea typeface="Arimo"/>
              </a:rPr>
              <a:t>Chhattisgarhi (hne), Hindi, Hinglish and English</a:t>
            </a:r>
            <a:endParaRPr lang="en-IN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Box 23"/>
          <p:cNvSpPr/>
          <p:nvPr/>
        </p:nvSpPr>
        <p:spPr>
          <a:xfrm>
            <a:off x="1352520" y="4876920"/>
            <a:ext cx="110880" cy="43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3498"/>
              </a:lnSpc>
            </a:pPr>
            <a:r>
              <a:rPr lang="en-US" sz="2500" b="1" u="none" strike="noStrike">
                <a:solidFill>
                  <a:srgbClr val="0C2577"/>
                </a:solidFill>
                <a:effectLst/>
                <a:uFillTx/>
                <a:latin typeface="Arimo Bold"/>
                <a:ea typeface="Arimo Bold"/>
              </a:rPr>
              <a:t>•</a:t>
            </a:r>
            <a:endParaRPr lang="en-IN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TextBox 24"/>
          <p:cNvSpPr/>
          <p:nvPr/>
        </p:nvSpPr>
        <p:spPr>
          <a:xfrm>
            <a:off x="1790640" y="4886280"/>
            <a:ext cx="7067160" cy="85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3373"/>
              </a:lnSpc>
            </a:pPr>
            <a:r>
              <a:rPr lang="en-US" sz="2500" b="1" u="none" strike="noStrike">
                <a:solidFill>
                  <a:srgbClr val="002060"/>
                </a:solidFill>
                <a:effectLst/>
                <a:uFillTx/>
                <a:latin typeface="Arimo Bold"/>
                <a:ea typeface="Arimo Bold"/>
              </a:rPr>
              <a:t>Consumer hardware — </a:t>
            </a:r>
            <a:r>
              <a:rPr lang="en-US" sz="2500" b="0" u="none" strike="noStrike">
                <a:solidFill>
                  <a:srgbClr val="002060"/>
                </a:solidFill>
                <a:effectLst/>
                <a:uFillTx/>
                <a:latin typeface="Arimo"/>
                <a:ea typeface="Arimo"/>
              </a:rPr>
              <a:t>Runs On a single machine</a:t>
            </a:r>
            <a:endParaRPr lang="en-IN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TextBox 25"/>
          <p:cNvSpPr/>
          <p:nvPr/>
        </p:nvSpPr>
        <p:spPr>
          <a:xfrm>
            <a:off x="9429840" y="2602080"/>
            <a:ext cx="7505280" cy="47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3779"/>
              </a:lnSpc>
            </a:pPr>
            <a:r>
              <a:rPr lang="en-US" sz="2700" b="1" u="none" strike="noStrike">
                <a:solidFill>
                  <a:srgbClr val="0C2577"/>
                </a:solidFill>
                <a:effectLst/>
                <a:uFillTx/>
                <a:latin typeface="Arimo Bold"/>
                <a:ea typeface="Arimo Bold"/>
              </a:rPr>
              <a:t>Application validation</a:t>
            </a:r>
            <a:endParaRPr lang="en-IN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TextBox 26"/>
          <p:cNvSpPr/>
          <p:nvPr/>
        </p:nvSpPr>
        <p:spPr>
          <a:xfrm>
            <a:off x="9429840" y="3295800"/>
            <a:ext cx="110880" cy="43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3498"/>
              </a:lnSpc>
            </a:pPr>
            <a:r>
              <a:rPr lang="en-US" sz="2500" b="1" u="none" strike="noStrike">
                <a:solidFill>
                  <a:srgbClr val="0C2577"/>
                </a:solidFill>
                <a:effectLst/>
                <a:uFillTx/>
                <a:latin typeface="Arimo Bold"/>
                <a:ea typeface="Arimo Bold"/>
              </a:rPr>
              <a:t>•</a:t>
            </a:r>
            <a:endParaRPr lang="en-IN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TextBox 27"/>
          <p:cNvSpPr/>
          <p:nvPr/>
        </p:nvSpPr>
        <p:spPr>
          <a:xfrm>
            <a:off x="9867960" y="3305160"/>
            <a:ext cx="7067160" cy="83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3373"/>
              </a:lnSpc>
            </a:pPr>
            <a:r>
              <a:rPr lang="en-US" sz="2500" b="1" u="none" strike="noStrike">
                <a:solidFill>
                  <a:srgbClr val="002060"/>
                </a:solidFill>
                <a:effectLst/>
                <a:uFillTx/>
                <a:latin typeface="Arimo Bold"/>
                <a:ea typeface="Arimo Bold"/>
              </a:rPr>
              <a:t>Kisan Saathi — </a:t>
            </a:r>
            <a:r>
              <a:rPr lang="en-US" sz="2500" b="0" u="none" strike="noStrike">
                <a:solidFill>
                  <a:srgbClr val="002060"/>
                </a:solidFill>
                <a:effectLst/>
                <a:uFillTx/>
                <a:latin typeface="Arimo"/>
                <a:ea typeface="Arimo"/>
              </a:rPr>
              <a:t>voice shopping and structured task execution for agricultural inputs</a:t>
            </a:r>
            <a:endParaRPr lang="en-IN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TextBox 28"/>
          <p:cNvSpPr/>
          <p:nvPr/>
        </p:nvSpPr>
        <p:spPr>
          <a:xfrm>
            <a:off x="9429840" y="4367160"/>
            <a:ext cx="110880" cy="43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3498"/>
              </a:lnSpc>
            </a:pPr>
            <a:r>
              <a:rPr lang="en-US" sz="2500" b="1" u="none" strike="noStrike">
                <a:solidFill>
                  <a:srgbClr val="0C2577"/>
                </a:solidFill>
                <a:effectLst/>
                <a:uFillTx/>
                <a:latin typeface="Arimo Bold"/>
                <a:ea typeface="Arimo Bold"/>
              </a:rPr>
              <a:t>•</a:t>
            </a:r>
            <a:endParaRPr lang="en-IN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TextBox 29"/>
          <p:cNvSpPr/>
          <p:nvPr/>
        </p:nvSpPr>
        <p:spPr>
          <a:xfrm>
            <a:off x="9867960" y="4376880"/>
            <a:ext cx="7067160" cy="1257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3373"/>
              </a:lnSpc>
            </a:pPr>
            <a:r>
              <a:rPr lang="en-US" sz="2500" b="1" u="none" strike="noStrike">
                <a:solidFill>
                  <a:srgbClr val="002060"/>
                </a:solidFill>
                <a:effectLst/>
                <a:uFillTx/>
                <a:latin typeface="Arimo Bold"/>
                <a:ea typeface="Arimo Bold"/>
              </a:rPr>
              <a:t>IIIT-NR Voice Helpdesk — </a:t>
            </a:r>
            <a:r>
              <a:rPr lang="en-US" sz="2500" b="0" u="none" strike="noStrike">
                <a:solidFill>
                  <a:srgbClr val="002060"/>
                </a:solidFill>
                <a:effectLst/>
                <a:uFillTx/>
                <a:latin typeface="Arimo"/>
                <a:ea typeface="Arimo"/>
              </a:rPr>
              <a:t>grounded institutional question answering for admissions and campus policies</a:t>
            </a:r>
            <a:endParaRPr lang="en-IN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08" name="Group 30"/>
          <p:cNvGrpSpPr/>
          <p:nvPr/>
        </p:nvGrpSpPr>
        <p:grpSpPr>
          <a:xfrm>
            <a:off x="1352520" y="5872320"/>
            <a:ext cx="15582600" cy="830160"/>
            <a:chOff x="1352520" y="5872320"/>
            <a:chExt cx="15582600" cy="830160"/>
          </a:xfrm>
        </p:grpSpPr>
        <p:sp>
          <p:nvSpPr>
            <p:cNvPr id="109" name="Freeform 31"/>
            <p:cNvSpPr/>
            <p:nvPr/>
          </p:nvSpPr>
          <p:spPr>
            <a:xfrm>
              <a:off x="1352520" y="5915160"/>
              <a:ext cx="15582600" cy="787320"/>
            </a:xfrm>
            <a:custGeom>
              <a:avLst/>
              <a:gdLst>
                <a:gd name="textAreaLeft" fmla="*/ 0 w 15582600"/>
                <a:gd name="textAreaRight" fmla="*/ 15582960 w 15582600"/>
                <a:gd name="textAreaTop" fmla="*/ 0 h 787320"/>
                <a:gd name="textAreaBottom" fmla="*/ 787680 h 787320"/>
              </a:gdLst>
              <a:ahLst/>
              <a:cxnLst/>
              <a:rect l="textAreaLeft" t="textAreaTop" r="textAreaRight" b="textAreaBottom"/>
              <a:pathLst>
                <a:path w="20777200" h="1050409">
                  <a:moveTo>
                    <a:pt x="127000" y="0"/>
                  </a:moveTo>
                  <a:lnTo>
                    <a:pt x="20650200" y="0"/>
                  </a:lnTo>
                  <a:cubicBezTo>
                    <a:pt x="20720340" y="0"/>
                    <a:pt x="20777200" y="61879"/>
                    <a:pt x="20777200" y="138212"/>
                  </a:cubicBezTo>
                  <a:lnTo>
                    <a:pt x="20777200" y="912197"/>
                  </a:lnTo>
                  <a:cubicBezTo>
                    <a:pt x="20777200" y="988530"/>
                    <a:pt x="20720340" y="1050409"/>
                    <a:pt x="20650200" y="1050409"/>
                  </a:cubicBezTo>
                  <a:lnTo>
                    <a:pt x="127000" y="1050409"/>
                  </a:lnTo>
                  <a:cubicBezTo>
                    <a:pt x="56860" y="1050409"/>
                    <a:pt x="0" y="988530"/>
                    <a:pt x="0" y="912197"/>
                  </a:cubicBezTo>
                  <a:lnTo>
                    <a:pt x="0" y="138212"/>
                  </a:lnTo>
                  <a:cubicBezTo>
                    <a:pt x="0" y="61879"/>
                    <a:pt x="56860" y="0"/>
                    <a:pt x="127000" y="0"/>
                  </a:cubicBezTo>
                  <a:close/>
                </a:path>
              </a:pathLst>
            </a:custGeom>
            <a:solidFill>
              <a:srgbClr val="E8EDF9"/>
            </a:solidFill>
            <a:ln cap="sq" w="19050">
              <a:solidFill>
                <a:srgbClr val="0C2577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0" name="TextBox 32"/>
            <p:cNvSpPr/>
            <p:nvPr/>
          </p:nvSpPr>
          <p:spPr>
            <a:xfrm>
              <a:off x="1352520" y="5872320"/>
              <a:ext cx="15582600" cy="830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7840" tIns="177840" rIns="177840" bIns="177840" anchor="ctr">
              <a:noAutofit/>
            </a:bodyPr>
            <a:p>
              <a:pPr algn="ctr" defTabSz="914400">
                <a:lnSpc>
                  <a:spcPts val="3359"/>
                </a:lnSpc>
              </a:pPr>
              <a:r>
                <a:rPr lang="en-US" sz="2400" b="1" u="none" strike="noStrike">
                  <a:solidFill>
                    <a:srgbClr val="0C2577"/>
                  </a:solidFill>
                  <a:effectLst/>
                  <a:uFillTx/>
                  <a:latin typeface="Arimo Bold"/>
                  <a:ea typeface="Arimo Bold"/>
                </a:rPr>
                <a:t>Key idea: local speech processing  +  verified reasoning  +  safe task execution</a:t>
              </a:r>
              <a:endParaRPr lang="en-IN" sz="2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11" name="Group 33"/>
          <p:cNvGrpSpPr/>
          <p:nvPr/>
        </p:nvGrpSpPr>
        <p:grpSpPr>
          <a:xfrm>
            <a:off x="2571840" y="7059240"/>
            <a:ext cx="3809520" cy="956880"/>
            <a:chOff x="2571840" y="7059240"/>
            <a:chExt cx="3809520" cy="956880"/>
          </a:xfrm>
        </p:grpSpPr>
        <p:sp>
          <p:nvSpPr>
            <p:cNvPr id="112" name="Freeform 34"/>
            <p:cNvSpPr/>
            <p:nvPr/>
          </p:nvSpPr>
          <p:spPr>
            <a:xfrm>
              <a:off x="2571840" y="7102080"/>
              <a:ext cx="3809520" cy="914040"/>
            </a:xfrm>
            <a:custGeom>
              <a:avLst/>
              <a:gdLst>
                <a:gd name="textAreaLeft" fmla="*/ 0 w 3809520"/>
                <a:gd name="textAreaRight" fmla="*/ 3809880 w 3809520"/>
                <a:gd name="textAreaTop" fmla="*/ 0 h 914040"/>
                <a:gd name="textAreaBottom" fmla="*/ 914400 h 914040"/>
              </a:gdLst>
              <a:ahLst/>
              <a:cxnLst/>
              <a:rect l="textAreaLeft" t="textAreaTop" r="textAreaRight" b="textAreaBottom"/>
              <a:pathLst>
                <a:path w="5080000" h="1219200">
                  <a:moveTo>
                    <a:pt x="127000" y="0"/>
                  </a:moveTo>
                  <a:lnTo>
                    <a:pt x="4953000" y="0"/>
                  </a:lnTo>
                  <a:cubicBezTo>
                    <a:pt x="5023140" y="0"/>
                    <a:pt x="5080000" y="56860"/>
                    <a:pt x="5080000" y="127000"/>
                  </a:cubicBezTo>
                  <a:lnTo>
                    <a:pt x="5080000" y="1092200"/>
                  </a:lnTo>
                  <a:cubicBezTo>
                    <a:pt x="5080000" y="1162340"/>
                    <a:pt x="5023140" y="1219200"/>
                    <a:pt x="4953000" y="1219200"/>
                  </a:cubicBezTo>
                  <a:lnTo>
                    <a:pt x="127000" y="1219200"/>
                  </a:lnTo>
                  <a:cubicBezTo>
                    <a:pt x="56860" y="1219200"/>
                    <a:pt x="0" y="1162340"/>
                    <a:pt x="0" y="1092200"/>
                  </a:cubicBezTo>
                  <a:lnTo>
                    <a:pt x="0" y="127000"/>
                  </a:lnTo>
                  <a:cubicBezTo>
                    <a:pt x="0" y="56860"/>
                    <a:pt x="56860" y="0"/>
                    <a:pt x="127000" y="0"/>
                  </a:cubicBezTo>
                  <a:close/>
                </a:path>
              </a:pathLst>
            </a:custGeom>
            <a:solidFill>
              <a:srgbClr val="FFFFFF"/>
            </a:solidFill>
            <a:ln cap="sq" w="19050">
              <a:solidFill>
                <a:srgbClr val="0C2577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3" name="TextBox 35"/>
            <p:cNvSpPr/>
            <p:nvPr/>
          </p:nvSpPr>
          <p:spPr>
            <a:xfrm>
              <a:off x="2571840" y="7059240"/>
              <a:ext cx="3809520" cy="956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tIns="50760" rIns="50760" bIns="50760" anchor="ctr">
              <a:noAutofit/>
            </a:bodyPr>
            <a:p>
              <a:pPr algn="ctr" defTabSz="914400">
                <a:lnSpc>
                  <a:spcPts val="3359"/>
                </a:lnSpc>
              </a:pPr>
              <a:r>
                <a:rPr lang="en-US" sz="2400" b="0" u="none" strike="noStrike">
                  <a:solidFill>
                    <a:srgbClr val="002060"/>
                  </a:solidFill>
                  <a:effectLst/>
                  <a:uFillTx/>
                  <a:latin typeface="Arimo"/>
                  <a:ea typeface="Arimo"/>
                </a:rPr>
                <a:t>Input</a:t>
              </a:r>
              <a:endParaRPr lang="en-IN" sz="2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14" name="AutoShape 36"/>
          <p:cNvSpPr/>
          <p:nvPr/>
        </p:nvSpPr>
        <p:spPr>
          <a:xfrm>
            <a:off x="6476760" y="7559280"/>
            <a:ext cx="666720" cy="360"/>
          </a:xfrm>
          <a:prstGeom prst="line">
            <a:avLst/>
          </a:prstGeom>
          <a:ln w="28575">
            <a:solidFill>
              <a:srgbClr val="0C2577"/>
            </a:solidFill>
            <a:round/>
            <a:tailEnd len="med" type="triangle" w="lg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pPr/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15" name="Group 37"/>
          <p:cNvGrpSpPr/>
          <p:nvPr/>
        </p:nvGrpSpPr>
        <p:grpSpPr>
          <a:xfrm>
            <a:off x="7238880" y="7059240"/>
            <a:ext cx="3809520" cy="956880"/>
            <a:chOff x="7238880" y="7059240"/>
            <a:chExt cx="3809520" cy="956880"/>
          </a:xfrm>
        </p:grpSpPr>
        <p:sp>
          <p:nvSpPr>
            <p:cNvPr id="116" name="Freeform 38"/>
            <p:cNvSpPr/>
            <p:nvPr/>
          </p:nvSpPr>
          <p:spPr>
            <a:xfrm>
              <a:off x="7238880" y="7102080"/>
              <a:ext cx="3809520" cy="914040"/>
            </a:xfrm>
            <a:custGeom>
              <a:avLst/>
              <a:gdLst>
                <a:gd name="textAreaLeft" fmla="*/ 0 w 3809520"/>
                <a:gd name="textAreaRight" fmla="*/ 3809880 w 3809520"/>
                <a:gd name="textAreaTop" fmla="*/ 0 h 914040"/>
                <a:gd name="textAreaBottom" fmla="*/ 914400 h 914040"/>
              </a:gdLst>
              <a:ahLst/>
              <a:cxnLst/>
              <a:rect l="textAreaLeft" t="textAreaTop" r="textAreaRight" b="textAreaBottom"/>
              <a:pathLst>
                <a:path w="5080000" h="1219200">
                  <a:moveTo>
                    <a:pt x="127000" y="0"/>
                  </a:moveTo>
                  <a:lnTo>
                    <a:pt x="4953000" y="0"/>
                  </a:lnTo>
                  <a:cubicBezTo>
                    <a:pt x="5023140" y="0"/>
                    <a:pt x="5080000" y="56860"/>
                    <a:pt x="5080000" y="127000"/>
                  </a:cubicBezTo>
                  <a:lnTo>
                    <a:pt x="5080000" y="1092200"/>
                  </a:lnTo>
                  <a:cubicBezTo>
                    <a:pt x="5080000" y="1162340"/>
                    <a:pt x="5023140" y="1219200"/>
                    <a:pt x="4953000" y="1219200"/>
                  </a:cubicBezTo>
                  <a:lnTo>
                    <a:pt x="127000" y="1219200"/>
                  </a:lnTo>
                  <a:cubicBezTo>
                    <a:pt x="56860" y="1219200"/>
                    <a:pt x="0" y="1162340"/>
                    <a:pt x="0" y="1092200"/>
                  </a:cubicBezTo>
                  <a:lnTo>
                    <a:pt x="0" y="127000"/>
                  </a:lnTo>
                  <a:cubicBezTo>
                    <a:pt x="0" y="56860"/>
                    <a:pt x="56860" y="0"/>
                    <a:pt x="127000" y="0"/>
                  </a:cubicBezTo>
                  <a:close/>
                </a:path>
              </a:pathLst>
            </a:custGeom>
            <a:solidFill>
              <a:srgbClr val="FFFFFF"/>
            </a:solidFill>
            <a:ln cap="sq" w="19050">
              <a:solidFill>
                <a:srgbClr val="0C2577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7" name="TextBox 39"/>
            <p:cNvSpPr/>
            <p:nvPr/>
          </p:nvSpPr>
          <p:spPr>
            <a:xfrm>
              <a:off x="7238880" y="7059240"/>
              <a:ext cx="3809520" cy="956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tIns="50760" rIns="50760" bIns="50760" anchor="ctr">
              <a:noAutofit/>
            </a:bodyPr>
            <a:p>
              <a:pPr algn="ctr" defTabSz="914400">
                <a:lnSpc>
                  <a:spcPts val="3359"/>
                </a:lnSpc>
              </a:pPr>
              <a:r>
                <a:rPr lang="en-US" sz="2400" b="0" u="none" strike="noStrike">
                  <a:solidFill>
                    <a:srgbClr val="002060"/>
                  </a:solidFill>
                  <a:effectLst/>
                  <a:uFillTx/>
                  <a:latin typeface="Arimo"/>
                  <a:ea typeface="Arimo"/>
                </a:rPr>
                <a:t>Edge Processing</a:t>
              </a:r>
              <a:endParaRPr lang="en-IN" sz="2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18" name="AutoShape 40"/>
          <p:cNvSpPr/>
          <p:nvPr/>
        </p:nvSpPr>
        <p:spPr>
          <a:xfrm>
            <a:off x="11144160" y="7559280"/>
            <a:ext cx="666720" cy="360"/>
          </a:xfrm>
          <a:prstGeom prst="line">
            <a:avLst/>
          </a:prstGeom>
          <a:ln w="28575">
            <a:solidFill>
              <a:srgbClr val="0C2577"/>
            </a:solidFill>
            <a:round/>
            <a:tailEnd len="med" type="triangle" w="lg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pPr/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19" name="Group 41"/>
          <p:cNvGrpSpPr/>
          <p:nvPr/>
        </p:nvGrpSpPr>
        <p:grpSpPr>
          <a:xfrm>
            <a:off x="11906280" y="7059240"/>
            <a:ext cx="3809520" cy="956880"/>
            <a:chOff x="11906280" y="7059240"/>
            <a:chExt cx="3809520" cy="956880"/>
          </a:xfrm>
        </p:grpSpPr>
        <p:sp>
          <p:nvSpPr>
            <p:cNvPr id="120" name="Freeform 42"/>
            <p:cNvSpPr/>
            <p:nvPr/>
          </p:nvSpPr>
          <p:spPr>
            <a:xfrm>
              <a:off x="11906280" y="7102080"/>
              <a:ext cx="3809520" cy="914040"/>
            </a:xfrm>
            <a:custGeom>
              <a:avLst/>
              <a:gdLst>
                <a:gd name="textAreaLeft" fmla="*/ 0 w 3809520"/>
                <a:gd name="textAreaRight" fmla="*/ 3809880 w 3809520"/>
                <a:gd name="textAreaTop" fmla="*/ 0 h 914040"/>
                <a:gd name="textAreaBottom" fmla="*/ 914400 h 914040"/>
              </a:gdLst>
              <a:ahLst/>
              <a:cxnLst/>
              <a:rect l="textAreaLeft" t="textAreaTop" r="textAreaRight" b="textAreaBottom"/>
              <a:pathLst>
                <a:path w="5080000" h="1219200">
                  <a:moveTo>
                    <a:pt x="127000" y="0"/>
                  </a:moveTo>
                  <a:lnTo>
                    <a:pt x="4953000" y="0"/>
                  </a:lnTo>
                  <a:cubicBezTo>
                    <a:pt x="5023140" y="0"/>
                    <a:pt x="5080000" y="56860"/>
                    <a:pt x="5080000" y="127000"/>
                  </a:cubicBezTo>
                  <a:lnTo>
                    <a:pt x="5080000" y="1092200"/>
                  </a:lnTo>
                  <a:cubicBezTo>
                    <a:pt x="5080000" y="1162340"/>
                    <a:pt x="5023140" y="1219200"/>
                    <a:pt x="4953000" y="1219200"/>
                  </a:cubicBezTo>
                  <a:lnTo>
                    <a:pt x="127000" y="1219200"/>
                  </a:lnTo>
                  <a:cubicBezTo>
                    <a:pt x="56860" y="1219200"/>
                    <a:pt x="0" y="1162340"/>
                    <a:pt x="0" y="1092200"/>
                  </a:cubicBezTo>
                  <a:lnTo>
                    <a:pt x="0" y="127000"/>
                  </a:lnTo>
                  <a:cubicBezTo>
                    <a:pt x="0" y="56860"/>
                    <a:pt x="56860" y="0"/>
                    <a:pt x="127000" y="0"/>
                  </a:cubicBezTo>
                  <a:close/>
                </a:path>
              </a:pathLst>
            </a:custGeom>
            <a:solidFill>
              <a:srgbClr val="FFFFFF"/>
            </a:solidFill>
            <a:ln cap="sq" w="19050">
              <a:solidFill>
                <a:srgbClr val="0C2577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1" name="TextBox 43"/>
            <p:cNvSpPr/>
            <p:nvPr/>
          </p:nvSpPr>
          <p:spPr>
            <a:xfrm>
              <a:off x="11906280" y="7059240"/>
              <a:ext cx="3809520" cy="956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tIns="50760" rIns="50760" bIns="50760" anchor="ctr">
              <a:noAutofit/>
            </a:bodyPr>
            <a:p>
              <a:pPr algn="ctr" defTabSz="914400">
                <a:lnSpc>
                  <a:spcPts val="3359"/>
                </a:lnSpc>
              </a:pPr>
              <a:r>
                <a:rPr lang="en-US" sz="2400" b="0" u="none" strike="noStrike">
                  <a:solidFill>
                    <a:srgbClr val="002060"/>
                  </a:solidFill>
                  <a:effectLst/>
                  <a:uFillTx/>
                  <a:latin typeface="Arimo"/>
                  <a:ea typeface="Arimo"/>
                </a:rPr>
                <a:t>Verified Output</a:t>
              </a:r>
              <a:endParaRPr lang="en-IN" sz="2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</p:spTree>
  </p:cSld>
  <p:transition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2" name="Group 2"/>
          <p:cNvGrpSpPr/>
          <p:nvPr/>
        </p:nvGrpSpPr>
        <p:grpSpPr>
          <a:xfrm>
            <a:off x="0" y="9698760"/>
            <a:ext cx="18288000" cy="606600"/>
            <a:chOff x="0" y="9698760"/>
            <a:chExt cx="18288000" cy="606600"/>
          </a:xfrm>
        </p:grpSpPr>
        <p:sp>
          <p:nvSpPr>
            <p:cNvPr id="123" name="Freeform 3"/>
            <p:cNvSpPr/>
            <p:nvPr/>
          </p:nvSpPr>
          <p:spPr>
            <a:xfrm>
              <a:off x="0" y="9698760"/>
              <a:ext cx="18288000" cy="606600"/>
            </a:xfrm>
            <a:custGeom>
              <a:avLst/>
              <a:gdLst>
                <a:gd name="textAreaLeft" fmla="*/ 0 w 18288000"/>
                <a:gd name="textAreaRight" fmla="*/ 18288360 w 18288000"/>
                <a:gd name="textAreaTop" fmla="*/ 0 h 606600"/>
                <a:gd name="textAreaBottom" fmla="*/ 606960 h 606600"/>
              </a:gdLst>
              <a:ahLst/>
              <a:cxnLst/>
              <a:rect l="textAreaLeft" t="textAreaTop" r="textAreaRight" b="textAreaBottom"/>
              <a:pathLst>
                <a:path w="24384254" h="809244">
                  <a:moveTo>
                    <a:pt x="0" y="0"/>
                  </a:moveTo>
                  <a:lnTo>
                    <a:pt x="24384254" y="0"/>
                  </a:lnTo>
                  <a:lnTo>
                    <a:pt x="24384254" y="809244"/>
                  </a:lnTo>
                  <a:lnTo>
                    <a:pt x="0" y="809244"/>
                  </a:lnTo>
                  <a:close/>
                </a:path>
              </a:pathLst>
            </a:custGeom>
            <a:solidFill>
              <a:srgbClr val="0C2577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24" name="Group 4"/>
          <p:cNvGrpSpPr/>
          <p:nvPr/>
        </p:nvGrpSpPr>
        <p:grpSpPr>
          <a:xfrm>
            <a:off x="15935400" y="345240"/>
            <a:ext cx="2190240" cy="2190240"/>
            <a:chOff x="15935400" y="345240"/>
            <a:chExt cx="2190240" cy="2190240"/>
          </a:xfrm>
        </p:grpSpPr>
        <p:sp>
          <p:nvSpPr>
            <p:cNvPr id="125" name="Freeform 5"/>
            <p:cNvSpPr/>
            <p:nvPr/>
          </p:nvSpPr>
          <p:spPr>
            <a:xfrm>
              <a:off x="15935400" y="345240"/>
              <a:ext cx="2190240" cy="2190240"/>
            </a:xfrm>
            <a:custGeom>
              <a:avLst/>
              <a:gdLst>
                <a:gd name="textAreaLeft" fmla="*/ 0 w 2190240"/>
                <a:gd name="textAreaRight" fmla="*/ 2190600 w 2190240"/>
                <a:gd name="textAreaTop" fmla="*/ 0 h 2190240"/>
                <a:gd name="textAreaBottom" fmla="*/ 2190600 h 2190240"/>
              </a:gdLst>
              <a:ahLst/>
              <a:cxnLst/>
              <a:rect l="textAreaLeft" t="textAreaTop" r="textAreaRight" b="textAreaBottom"/>
              <a:pathLst>
                <a:path w="2921000" h="2921000">
                  <a:moveTo>
                    <a:pt x="0" y="0"/>
                  </a:moveTo>
                  <a:lnTo>
                    <a:pt x="2921000" y="0"/>
                  </a:lnTo>
                  <a:lnTo>
                    <a:pt x="2921000" y="2921000"/>
                  </a:lnTo>
                  <a:lnTo>
                    <a:pt x="0" y="2921000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1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26" name="Group 6"/>
          <p:cNvGrpSpPr/>
          <p:nvPr/>
        </p:nvGrpSpPr>
        <p:grpSpPr>
          <a:xfrm>
            <a:off x="1257120" y="547560"/>
            <a:ext cx="14642280" cy="1987920"/>
            <a:chOff x="1257120" y="547560"/>
            <a:chExt cx="14642280" cy="1987920"/>
          </a:xfrm>
        </p:grpSpPr>
        <p:sp>
          <p:nvSpPr>
            <p:cNvPr id="127" name="Freeform 7"/>
            <p:cNvSpPr/>
            <p:nvPr/>
          </p:nvSpPr>
          <p:spPr>
            <a:xfrm>
              <a:off x="1257120" y="547560"/>
              <a:ext cx="14642280" cy="1987920"/>
            </a:xfrm>
            <a:custGeom>
              <a:avLst/>
              <a:gdLst>
                <a:gd name="textAreaLeft" fmla="*/ 0 w 14642280"/>
                <a:gd name="textAreaRight" fmla="*/ 14642640 w 14642280"/>
                <a:gd name="textAreaTop" fmla="*/ 0 h 1987920"/>
                <a:gd name="textAreaBottom" fmla="*/ 1988280 h 1987920"/>
              </a:gdLst>
              <a:ahLst/>
              <a:cxnLst/>
              <a:rect l="textAreaLeft" t="textAreaTop" r="textAreaRight" b="textAreaBottom"/>
              <a:pathLst>
                <a:path w="19523520" h="2651044">
                  <a:moveTo>
                    <a:pt x="0" y="0"/>
                  </a:moveTo>
                  <a:lnTo>
                    <a:pt x="19523520" y="0"/>
                  </a:lnTo>
                  <a:lnTo>
                    <a:pt x="19523520" y="2651044"/>
                  </a:lnTo>
                  <a:lnTo>
                    <a:pt x="0" y="2651044"/>
                  </a:lnTo>
                  <a:close/>
                </a:path>
              </a:pathLst>
            </a:custGeom>
            <a:blipFill rotWithShape="0">
              <a:blip r:embed="rId2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8" name="TextBox 8"/>
            <p:cNvSpPr/>
            <p:nvPr/>
          </p:nvSpPr>
          <p:spPr>
            <a:xfrm>
              <a:off x="1257120" y="597600"/>
              <a:ext cx="14642280" cy="1937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defTabSz="914400">
                <a:lnSpc>
                  <a:spcPts val="7129"/>
                </a:lnSpc>
                <a:tabLst>
                  <a:tab pos="0" algn="l"/>
                </a:tabLst>
              </a:pPr>
              <a:r>
                <a:rPr lang="en-US" sz="6600" b="1" u="none" spc="-40" strike="noStrike">
                  <a:solidFill>
                    <a:srgbClr val="002060"/>
                  </a:solidFill>
                  <a:effectLst/>
                  <a:uFillTx/>
                  <a:latin typeface="TT Rounds Condensed Bold"/>
                  <a:ea typeface="TT Rounds Condensed Bold"/>
                </a:rPr>
                <a:t>02  Motivation: Issues and Challenges</a:t>
              </a:r>
              <a:endParaRPr lang="en-IN" sz="6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29" name="Group 9"/>
          <p:cNvGrpSpPr/>
          <p:nvPr/>
        </p:nvGrpSpPr>
        <p:grpSpPr>
          <a:xfrm>
            <a:off x="399960" y="9748800"/>
            <a:ext cx="3314160" cy="478440"/>
            <a:chOff x="399960" y="9748800"/>
            <a:chExt cx="3314160" cy="478440"/>
          </a:xfrm>
        </p:grpSpPr>
        <p:sp>
          <p:nvSpPr>
            <p:cNvPr id="130" name="Freeform 10"/>
            <p:cNvSpPr/>
            <p:nvPr/>
          </p:nvSpPr>
          <p:spPr>
            <a:xfrm>
              <a:off x="399960" y="9777240"/>
              <a:ext cx="3314160" cy="450000"/>
            </a:xfrm>
            <a:custGeom>
              <a:avLst/>
              <a:gdLst>
                <a:gd name="textAreaLeft" fmla="*/ 0 w 3314160"/>
                <a:gd name="textAreaRight" fmla="*/ 3314520 w 3314160"/>
                <a:gd name="textAreaTop" fmla="*/ 0 h 450000"/>
                <a:gd name="textAreaBottom" fmla="*/ 450360 h 450000"/>
              </a:gdLst>
              <a:ahLst/>
              <a:cxnLst/>
              <a:rect l="textAreaLeft" t="textAreaTop" r="textAreaRight" b="textAreaBottom"/>
              <a:pathLst>
                <a:path w="4419360" h="600479">
                  <a:moveTo>
                    <a:pt x="0" y="0"/>
                  </a:moveTo>
                  <a:lnTo>
                    <a:pt x="4419360" y="0"/>
                  </a:lnTo>
                  <a:lnTo>
                    <a:pt x="4419360" y="600479"/>
                  </a:lnTo>
                  <a:lnTo>
                    <a:pt x="0" y="600479"/>
                  </a:lnTo>
                  <a:close/>
                </a:path>
              </a:pathLst>
            </a:custGeom>
            <a:blipFill rotWithShape="0">
              <a:blip r:embed="rId3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1" name="TextBox 11"/>
            <p:cNvSpPr/>
            <p:nvPr/>
          </p:nvSpPr>
          <p:spPr>
            <a:xfrm>
              <a:off x="399960" y="9748800"/>
              <a:ext cx="3314160" cy="478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defTabSz="914400">
                <a:lnSpc>
                  <a:spcPts val="2160"/>
                </a:lnSpc>
                <a:tabLst>
                  <a:tab pos="0" algn="l"/>
                </a:tabLst>
              </a:pPr>
              <a:r>
                <a:rPr lang="en-US" sz="1800" b="0" u="none" strike="noStrike">
                  <a:solidFill>
                    <a:srgbClr val="FFFFFF"/>
                  </a:solidFill>
                  <a:effectLst/>
                  <a:uFillTx/>
                  <a:latin typeface="Calibri (MS)"/>
                  <a:ea typeface="Calibri (MS)"/>
                </a:rPr>
                <a:t>05/10/26</a:t>
              </a:r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32" name="Group 12"/>
          <p:cNvGrpSpPr/>
          <p:nvPr/>
        </p:nvGrpSpPr>
        <p:grpSpPr>
          <a:xfrm>
            <a:off x="14411520" y="9651600"/>
            <a:ext cx="2969280" cy="575640"/>
            <a:chOff x="14411520" y="9651600"/>
            <a:chExt cx="2969280" cy="575640"/>
          </a:xfrm>
        </p:grpSpPr>
        <p:sp>
          <p:nvSpPr>
            <p:cNvPr id="133" name="Freeform 13"/>
            <p:cNvSpPr/>
            <p:nvPr/>
          </p:nvSpPr>
          <p:spPr>
            <a:xfrm>
              <a:off x="14411520" y="9680040"/>
              <a:ext cx="2969280" cy="547200"/>
            </a:xfrm>
            <a:custGeom>
              <a:avLst/>
              <a:gdLst>
                <a:gd name="textAreaLeft" fmla="*/ 0 w 2969280"/>
                <a:gd name="textAreaRight" fmla="*/ 2969640 w 2969280"/>
                <a:gd name="textAreaTop" fmla="*/ 0 h 547200"/>
                <a:gd name="textAreaBottom" fmla="*/ 547560 h 547200"/>
              </a:gdLst>
              <a:ahLst/>
              <a:cxnLst/>
              <a:rect l="textAreaLeft" t="textAreaTop" r="textAreaRight" b="textAreaBottom"/>
              <a:pathLst>
                <a:path w="3959280" h="730075">
                  <a:moveTo>
                    <a:pt x="0" y="0"/>
                  </a:moveTo>
                  <a:lnTo>
                    <a:pt x="3959280" y="0"/>
                  </a:lnTo>
                  <a:lnTo>
                    <a:pt x="3959280" y="730075"/>
                  </a:lnTo>
                  <a:lnTo>
                    <a:pt x="0" y="730075"/>
                  </a:lnTo>
                  <a:close/>
                </a:path>
              </a:pathLst>
            </a:custGeom>
            <a:blipFill rotWithShape="0">
              <a:blip r:embed="rId4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4" name="TextBox 14"/>
            <p:cNvSpPr/>
            <p:nvPr/>
          </p:nvSpPr>
          <p:spPr>
            <a:xfrm>
              <a:off x="14411520" y="9651600"/>
              <a:ext cx="2968920" cy="5756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algn="r" defTabSz="914400">
                <a:lnSpc>
                  <a:spcPts val="2160"/>
                </a:lnSpc>
                <a:tabLst>
                  <a:tab pos="0" algn="l"/>
                </a:tabLst>
              </a:pPr>
              <a:r>
                <a:rPr lang="en-US" sz="1800" b="0" u="none" strike="noStrike">
                  <a:solidFill>
                    <a:srgbClr val="FFFFFF"/>
                  </a:solidFill>
                  <a:effectLst/>
                  <a:uFillTx/>
                  <a:latin typeface="Calibri (MS)"/>
                  <a:ea typeface="Calibri (MS)"/>
                </a:rPr>
                <a:t>&lt;number&gt;</a:t>
              </a:r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35" name="Group 15"/>
          <p:cNvGrpSpPr/>
          <p:nvPr/>
        </p:nvGrpSpPr>
        <p:grpSpPr>
          <a:xfrm>
            <a:off x="4288680" y="9732240"/>
            <a:ext cx="9896400" cy="554400"/>
            <a:chOff x="4288680" y="9732240"/>
            <a:chExt cx="9896400" cy="554400"/>
          </a:xfrm>
        </p:grpSpPr>
        <p:sp>
          <p:nvSpPr>
            <p:cNvPr id="136" name="Freeform 16"/>
            <p:cNvSpPr/>
            <p:nvPr/>
          </p:nvSpPr>
          <p:spPr>
            <a:xfrm>
              <a:off x="4288680" y="9739440"/>
              <a:ext cx="9896400" cy="547200"/>
            </a:xfrm>
            <a:custGeom>
              <a:avLst/>
              <a:gdLst>
                <a:gd name="textAreaLeft" fmla="*/ 0 w 9896400"/>
                <a:gd name="textAreaRight" fmla="*/ 9896760 w 9896400"/>
                <a:gd name="textAreaTop" fmla="*/ 0 h 547200"/>
                <a:gd name="textAreaBottom" fmla="*/ 547560 h 547200"/>
              </a:gdLst>
              <a:ahLst/>
              <a:cxnLst/>
              <a:rect l="textAreaLeft" t="textAreaTop" r="textAreaRight" b="textAreaBottom"/>
              <a:pathLst>
                <a:path w="13195440" h="730075">
                  <a:moveTo>
                    <a:pt x="0" y="0"/>
                  </a:moveTo>
                  <a:lnTo>
                    <a:pt x="13195440" y="0"/>
                  </a:lnTo>
                  <a:lnTo>
                    <a:pt x="13195440" y="730075"/>
                  </a:lnTo>
                  <a:lnTo>
                    <a:pt x="0" y="730075"/>
                  </a:lnTo>
                  <a:close/>
                </a:path>
              </a:pathLst>
            </a:custGeom>
            <a:blipFill rotWithShape="0">
              <a:blip r:embed="rId5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7" name="TextBox 17"/>
            <p:cNvSpPr/>
            <p:nvPr/>
          </p:nvSpPr>
          <p:spPr>
            <a:xfrm>
              <a:off x="4288680" y="9732240"/>
              <a:ext cx="9896400" cy="554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algn="ctr" defTabSz="914400">
                <a:lnSpc>
                  <a:spcPts val="2520"/>
                </a:lnSpc>
                <a:tabLst>
                  <a:tab pos="0" algn="l"/>
                </a:tabLst>
              </a:pPr>
              <a:r>
                <a:rPr lang="en-US" sz="2100" b="0" u="none" strike="noStrike">
                  <a:solidFill>
                    <a:srgbClr val="FFFFFF"/>
                  </a:solidFill>
                  <a:effectLst/>
                  <a:uFillTx/>
                  <a:latin typeface="Georgia"/>
                  <a:ea typeface="Georgia"/>
                </a:rPr>
                <a:t>International Institute of Information Technology, Naya Raipur</a:t>
              </a:r>
              <a:endParaRPr lang="en-IN" sz="21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38" name="Group 18"/>
          <p:cNvGrpSpPr/>
          <p:nvPr/>
        </p:nvGrpSpPr>
        <p:grpSpPr>
          <a:xfrm>
            <a:off x="1352520" y="2828880"/>
            <a:ext cx="7600680" cy="1285920"/>
            <a:chOff x="1352520" y="2828880"/>
            <a:chExt cx="7600680" cy="1285920"/>
          </a:xfrm>
        </p:grpSpPr>
        <p:sp>
          <p:nvSpPr>
            <p:cNvPr id="139" name="Freeform 19"/>
            <p:cNvSpPr/>
            <p:nvPr/>
          </p:nvSpPr>
          <p:spPr>
            <a:xfrm>
              <a:off x="1352520" y="2857680"/>
              <a:ext cx="7600680" cy="1257120"/>
            </a:xfrm>
            <a:custGeom>
              <a:avLst/>
              <a:gdLst>
                <a:gd name="textAreaLeft" fmla="*/ 0 w 7600680"/>
                <a:gd name="textAreaRight" fmla="*/ 7601040 w 7600680"/>
                <a:gd name="textAreaTop" fmla="*/ 0 h 1257120"/>
                <a:gd name="textAreaBottom" fmla="*/ 1257480 h 1257120"/>
              </a:gdLst>
              <a:ahLst/>
              <a:cxnLst/>
              <a:rect l="textAreaLeft" t="textAreaTop" r="textAreaRight" b="textAreaBottom"/>
              <a:pathLst>
                <a:path w="10134600" h="1676400">
                  <a:moveTo>
                    <a:pt x="127000" y="0"/>
                  </a:moveTo>
                  <a:lnTo>
                    <a:pt x="10007600" y="0"/>
                  </a:lnTo>
                  <a:cubicBezTo>
                    <a:pt x="10077740" y="0"/>
                    <a:pt x="10134600" y="56860"/>
                    <a:pt x="10134600" y="127000"/>
                  </a:cubicBezTo>
                  <a:lnTo>
                    <a:pt x="10134600" y="1549400"/>
                  </a:lnTo>
                  <a:cubicBezTo>
                    <a:pt x="10134600" y="1619540"/>
                    <a:pt x="10077740" y="1676400"/>
                    <a:pt x="10007600" y="1676400"/>
                  </a:cubicBezTo>
                  <a:lnTo>
                    <a:pt x="127000" y="1676400"/>
                  </a:lnTo>
                  <a:cubicBezTo>
                    <a:pt x="56860" y="1676400"/>
                    <a:pt x="0" y="1619540"/>
                    <a:pt x="0" y="1549400"/>
                  </a:cubicBezTo>
                  <a:lnTo>
                    <a:pt x="0" y="127000"/>
                  </a:lnTo>
                  <a:cubicBezTo>
                    <a:pt x="0" y="56860"/>
                    <a:pt x="56860" y="0"/>
                    <a:pt x="127000" y="0"/>
                  </a:cubicBezTo>
                  <a:close/>
                </a:path>
              </a:pathLst>
            </a:custGeom>
            <a:solidFill>
              <a:srgbClr val="E8EDF9"/>
            </a:solidFill>
            <a:ln cap="sq" w="19050">
              <a:solidFill>
                <a:srgbClr val="0C2577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0" name="TextBox 20"/>
            <p:cNvSpPr/>
            <p:nvPr/>
          </p:nvSpPr>
          <p:spPr>
            <a:xfrm>
              <a:off x="1352520" y="2828880"/>
              <a:ext cx="7600680" cy="1285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tIns="50760" rIns="50760" bIns="50760" anchor="ctr">
              <a:noAutofit/>
            </a:bodyPr>
            <a:p>
              <a:pPr/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</p:grpSp>
      <p:sp>
        <p:nvSpPr>
          <p:cNvPr id="141" name="TextBox 21"/>
          <p:cNvSpPr/>
          <p:nvPr/>
        </p:nvSpPr>
        <p:spPr>
          <a:xfrm>
            <a:off x="1562040" y="2971800"/>
            <a:ext cx="7181640" cy="41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3359"/>
              </a:lnSpc>
            </a:pPr>
            <a:r>
              <a:rPr lang="en-US" sz="2400" b="1" u="none" strike="noStrike">
                <a:solidFill>
                  <a:srgbClr val="0C2577"/>
                </a:solidFill>
                <a:effectLst/>
                <a:uFillTx/>
                <a:latin typeface="Arimo Bold"/>
                <a:ea typeface="Arimo Bold"/>
              </a:rPr>
              <a:t>Vernacular coverage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TextBox 22"/>
          <p:cNvSpPr/>
          <p:nvPr/>
        </p:nvSpPr>
        <p:spPr>
          <a:xfrm>
            <a:off x="1562040" y="3390840"/>
            <a:ext cx="7181640" cy="68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2701"/>
              </a:lnSpc>
            </a:pPr>
            <a:r>
              <a:rPr lang="en-US" sz="2000" b="0" u="none" strike="noStrike">
                <a:solidFill>
                  <a:srgbClr val="002060"/>
                </a:solidFill>
                <a:effectLst/>
                <a:uFillTx/>
                <a:latin typeface="Arimo"/>
                <a:ea typeface="Arimo"/>
              </a:rPr>
              <a:t>standard speech systems are not reliable for low-resource Chhattisgarhi usage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43" name="Group 23"/>
          <p:cNvGrpSpPr/>
          <p:nvPr/>
        </p:nvGrpSpPr>
        <p:grpSpPr>
          <a:xfrm>
            <a:off x="9334440" y="2828880"/>
            <a:ext cx="7600680" cy="1285920"/>
            <a:chOff x="9334440" y="2828880"/>
            <a:chExt cx="7600680" cy="1285920"/>
          </a:xfrm>
        </p:grpSpPr>
        <p:sp>
          <p:nvSpPr>
            <p:cNvPr id="144" name="Freeform 24"/>
            <p:cNvSpPr/>
            <p:nvPr/>
          </p:nvSpPr>
          <p:spPr>
            <a:xfrm>
              <a:off x="9334440" y="2857680"/>
              <a:ext cx="7600680" cy="1257120"/>
            </a:xfrm>
            <a:custGeom>
              <a:avLst/>
              <a:gdLst>
                <a:gd name="textAreaLeft" fmla="*/ 0 w 7600680"/>
                <a:gd name="textAreaRight" fmla="*/ 7601040 w 7600680"/>
                <a:gd name="textAreaTop" fmla="*/ 0 h 1257120"/>
                <a:gd name="textAreaBottom" fmla="*/ 1257480 h 1257120"/>
              </a:gdLst>
              <a:ahLst/>
              <a:cxnLst/>
              <a:rect l="textAreaLeft" t="textAreaTop" r="textAreaRight" b="textAreaBottom"/>
              <a:pathLst>
                <a:path w="10134600" h="1676400">
                  <a:moveTo>
                    <a:pt x="127000" y="0"/>
                  </a:moveTo>
                  <a:lnTo>
                    <a:pt x="10007600" y="0"/>
                  </a:lnTo>
                  <a:cubicBezTo>
                    <a:pt x="10077740" y="0"/>
                    <a:pt x="10134600" y="56860"/>
                    <a:pt x="10134600" y="127000"/>
                  </a:cubicBezTo>
                  <a:lnTo>
                    <a:pt x="10134600" y="1549400"/>
                  </a:lnTo>
                  <a:cubicBezTo>
                    <a:pt x="10134600" y="1619540"/>
                    <a:pt x="10077740" y="1676400"/>
                    <a:pt x="10007600" y="1676400"/>
                  </a:cubicBezTo>
                  <a:lnTo>
                    <a:pt x="127000" y="1676400"/>
                  </a:lnTo>
                  <a:cubicBezTo>
                    <a:pt x="56860" y="1676400"/>
                    <a:pt x="0" y="1619540"/>
                    <a:pt x="0" y="1549400"/>
                  </a:cubicBezTo>
                  <a:lnTo>
                    <a:pt x="0" y="127000"/>
                  </a:lnTo>
                  <a:cubicBezTo>
                    <a:pt x="0" y="56860"/>
                    <a:pt x="56860" y="0"/>
                    <a:pt x="127000" y="0"/>
                  </a:cubicBezTo>
                  <a:close/>
                </a:path>
              </a:pathLst>
            </a:custGeom>
            <a:solidFill>
              <a:srgbClr val="E8EDF9"/>
            </a:solidFill>
            <a:ln cap="sq" w="19050">
              <a:solidFill>
                <a:srgbClr val="0C2577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5" name="TextBox 25"/>
            <p:cNvSpPr/>
            <p:nvPr/>
          </p:nvSpPr>
          <p:spPr>
            <a:xfrm>
              <a:off x="9334440" y="2828880"/>
              <a:ext cx="7600680" cy="1285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tIns="50760" rIns="50760" bIns="50760" anchor="ctr">
              <a:noAutofit/>
            </a:bodyPr>
            <a:p>
              <a:pPr/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</p:grpSp>
      <p:sp>
        <p:nvSpPr>
          <p:cNvPr id="146" name="TextBox 26"/>
          <p:cNvSpPr/>
          <p:nvPr/>
        </p:nvSpPr>
        <p:spPr>
          <a:xfrm>
            <a:off x="9543960" y="2971800"/>
            <a:ext cx="7181640" cy="41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3359"/>
              </a:lnSpc>
            </a:pPr>
            <a:r>
              <a:rPr lang="en-US" sz="2400" b="1" u="none" strike="noStrike">
                <a:solidFill>
                  <a:srgbClr val="0C2577"/>
                </a:solidFill>
                <a:effectLst/>
                <a:uFillTx/>
                <a:latin typeface="Arimo Bold"/>
                <a:ea typeface="Arimo Bold"/>
              </a:rPr>
              <a:t>Cloud dependence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TextBox 27"/>
          <p:cNvSpPr/>
          <p:nvPr/>
        </p:nvSpPr>
        <p:spPr>
          <a:xfrm>
            <a:off x="9543960" y="3349080"/>
            <a:ext cx="7181640" cy="68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2701"/>
              </a:lnSpc>
            </a:pPr>
            <a:r>
              <a:rPr lang="en-US" sz="2000" b="0" u="none" strike="noStrike">
                <a:solidFill>
                  <a:srgbClr val="002060"/>
                </a:solidFill>
                <a:effectLst/>
                <a:uFillTx/>
                <a:latin typeface="Arimo"/>
                <a:ea typeface="Arimo"/>
              </a:rPr>
              <a:t>off-device APIs create privacy, connectivity and recurring-cost concerns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48" name="Group 28"/>
          <p:cNvGrpSpPr/>
          <p:nvPr/>
        </p:nvGrpSpPr>
        <p:grpSpPr>
          <a:xfrm>
            <a:off x="1352520" y="4334040"/>
            <a:ext cx="7600680" cy="1285560"/>
            <a:chOff x="1352520" y="4334040"/>
            <a:chExt cx="7600680" cy="1285560"/>
          </a:xfrm>
        </p:grpSpPr>
        <p:sp>
          <p:nvSpPr>
            <p:cNvPr id="149" name="Freeform 29"/>
            <p:cNvSpPr/>
            <p:nvPr/>
          </p:nvSpPr>
          <p:spPr>
            <a:xfrm>
              <a:off x="1352520" y="4362480"/>
              <a:ext cx="7600680" cy="1257120"/>
            </a:xfrm>
            <a:custGeom>
              <a:avLst/>
              <a:gdLst>
                <a:gd name="textAreaLeft" fmla="*/ 0 w 7600680"/>
                <a:gd name="textAreaRight" fmla="*/ 7601040 w 7600680"/>
                <a:gd name="textAreaTop" fmla="*/ 0 h 1257120"/>
                <a:gd name="textAreaBottom" fmla="*/ 1257480 h 1257120"/>
              </a:gdLst>
              <a:ahLst/>
              <a:cxnLst/>
              <a:rect l="textAreaLeft" t="textAreaTop" r="textAreaRight" b="textAreaBottom"/>
              <a:pathLst>
                <a:path w="10134600" h="1676400">
                  <a:moveTo>
                    <a:pt x="127000" y="0"/>
                  </a:moveTo>
                  <a:lnTo>
                    <a:pt x="10007600" y="0"/>
                  </a:lnTo>
                  <a:cubicBezTo>
                    <a:pt x="10077740" y="0"/>
                    <a:pt x="10134600" y="56860"/>
                    <a:pt x="10134600" y="127000"/>
                  </a:cubicBezTo>
                  <a:lnTo>
                    <a:pt x="10134600" y="1549400"/>
                  </a:lnTo>
                  <a:cubicBezTo>
                    <a:pt x="10134600" y="1619540"/>
                    <a:pt x="10077740" y="1676400"/>
                    <a:pt x="10007600" y="1676400"/>
                  </a:cubicBezTo>
                  <a:lnTo>
                    <a:pt x="127000" y="1676400"/>
                  </a:lnTo>
                  <a:cubicBezTo>
                    <a:pt x="56860" y="1676400"/>
                    <a:pt x="0" y="1619540"/>
                    <a:pt x="0" y="1549400"/>
                  </a:cubicBezTo>
                  <a:lnTo>
                    <a:pt x="0" y="127000"/>
                  </a:lnTo>
                  <a:cubicBezTo>
                    <a:pt x="0" y="56860"/>
                    <a:pt x="56860" y="0"/>
                    <a:pt x="127000" y="0"/>
                  </a:cubicBezTo>
                  <a:close/>
                </a:path>
              </a:pathLst>
            </a:custGeom>
            <a:solidFill>
              <a:srgbClr val="E8EDF9"/>
            </a:solidFill>
            <a:ln cap="sq" w="19050">
              <a:solidFill>
                <a:srgbClr val="0C2577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0" name="TextBox 30"/>
            <p:cNvSpPr/>
            <p:nvPr/>
          </p:nvSpPr>
          <p:spPr>
            <a:xfrm>
              <a:off x="1352520" y="4334040"/>
              <a:ext cx="7600680" cy="1285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tIns="50760" rIns="50760" bIns="50760" anchor="ctr">
              <a:noAutofit/>
            </a:bodyPr>
            <a:p>
              <a:pPr/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</p:grpSp>
      <p:sp>
        <p:nvSpPr>
          <p:cNvPr id="151" name="TextBox 31"/>
          <p:cNvSpPr/>
          <p:nvPr/>
        </p:nvSpPr>
        <p:spPr>
          <a:xfrm>
            <a:off x="1562040" y="4476600"/>
            <a:ext cx="7181640" cy="41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3359"/>
              </a:lnSpc>
            </a:pPr>
            <a:r>
              <a:rPr lang="en-US" sz="2400" b="1" u="none" strike="noStrike">
                <a:solidFill>
                  <a:srgbClr val="0C2577"/>
                </a:solidFill>
                <a:effectLst/>
                <a:uFillTx/>
                <a:latin typeface="Arimo Bold"/>
                <a:ea typeface="Arimo Bold"/>
              </a:rPr>
              <a:t>Numerical factuality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TextBox 32"/>
          <p:cNvSpPr/>
          <p:nvPr/>
        </p:nvSpPr>
        <p:spPr>
          <a:xfrm>
            <a:off x="1562040" y="4918680"/>
            <a:ext cx="7181640" cy="68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2701"/>
              </a:lnSpc>
            </a:pPr>
            <a:r>
              <a:rPr lang="en-US" sz="2000" b="0" u="none" strike="noStrike">
                <a:solidFill>
                  <a:srgbClr val="002060"/>
                </a:solidFill>
                <a:effectLst/>
                <a:uFillTx/>
                <a:latin typeface="Arimo"/>
                <a:ea typeface="Arimo"/>
              </a:rPr>
              <a:t>dense vector retrieval can confuse ranks, rounds, branches and policy values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53" name="Group 33"/>
          <p:cNvGrpSpPr/>
          <p:nvPr/>
        </p:nvGrpSpPr>
        <p:grpSpPr>
          <a:xfrm>
            <a:off x="9334440" y="4334040"/>
            <a:ext cx="7600680" cy="1285560"/>
            <a:chOff x="9334440" y="4334040"/>
            <a:chExt cx="7600680" cy="1285560"/>
          </a:xfrm>
        </p:grpSpPr>
        <p:sp>
          <p:nvSpPr>
            <p:cNvPr id="154" name="Freeform 34"/>
            <p:cNvSpPr/>
            <p:nvPr/>
          </p:nvSpPr>
          <p:spPr>
            <a:xfrm>
              <a:off x="9334440" y="4362480"/>
              <a:ext cx="7600680" cy="1257120"/>
            </a:xfrm>
            <a:custGeom>
              <a:avLst/>
              <a:gdLst>
                <a:gd name="textAreaLeft" fmla="*/ 0 w 7600680"/>
                <a:gd name="textAreaRight" fmla="*/ 7601040 w 7600680"/>
                <a:gd name="textAreaTop" fmla="*/ 0 h 1257120"/>
                <a:gd name="textAreaBottom" fmla="*/ 1257480 h 1257120"/>
              </a:gdLst>
              <a:ahLst/>
              <a:cxnLst/>
              <a:rect l="textAreaLeft" t="textAreaTop" r="textAreaRight" b="textAreaBottom"/>
              <a:pathLst>
                <a:path w="10134600" h="1676400">
                  <a:moveTo>
                    <a:pt x="127000" y="0"/>
                  </a:moveTo>
                  <a:lnTo>
                    <a:pt x="10007600" y="0"/>
                  </a:lnTo>
                  <a:cubicBezTo>
                    <a:pt x="10077740" y="0"/>
                    <a:pt x="10134600" y="56860"/>
                    <a:pt x="10134600" y="127000"/>
                  </a:cubicBezTo>
                  <a:lnTo>
                    <a:pt x="10134600" y="1549400"/>
                  </a:lnTo>
                  <a:cubicBezTo>
                    <a:pt x="10134600" y="1619540"/>
                    <a:pt x="10077740" y="1676400"/>
                    <a:pt x="10007600" y="1676400"/>
                  </a:cubicBezTo>
                  <a:lnTo>
                    <a:pt x="127000" y="1676400"/>
                  </a:lnTo>
                  <a:cubicBezTo>
                    <a:pt x="56860" y="1676400"/>
                    <a:pt x="0" y="1619540"/>
                    <a:pt x="0" y="1549400"/>
                  </a:cubicBezTo>
                  <a:lnTo>
                    <a:pt x="0" y="127000"/>
                  </a:lnTo>
                  <a:cubicBezTo>
                    <a:pt x="0" y="56860"/>
                    <a:pt x="56860" y="0"/>
                    <a:pt x="127000" y="0"/>
                  </a:cubicBezTo>
                  <a:close/>
                </a:path>
              </a:pathLst>
            </a:custGeom>
            <a:solidFill>
              <a:srgbClr val="E8EDF9"/>
            </a:solidFill>
            <a:ln cap="sq" w="19050">
              <a:solidFill>
                <a:srgbClr val="0C2577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5" name="TextBox 35"/>
            <p:cNvSpPr/>
            <p:nvPr/>
          </p:nvSpPr>
          <p:spPr>
            <a:xfrm>
              <a:off x="9334440" y="4334040"/>
              <a:ext cx="7600680" cy="1285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tIns="50760" rIns="50760" bIns="50760" anchor="ctr">
              <a:noAutofit/>
            </a:bodyPr>
            <a:p>
              <a:pPr/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</p:grpSp>
      <p:sp>
        <p:nvSpPr>
          <p:cNvPr id="156" name="TextBox 36"/>
          <p:cNvSpPr/>
          <p:nvPr/>
        </p:nvSpPr>
        <p:spPr>
          <a:xfrm>
            <a:off x="9543960" y="4476600"/>
            <a:ext cx="7181640" cy="41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3359"/>
              </a:lnSpc>
            </a:pPr>
            <a:r>
              <a:rPr lang="en-US" sz="2400" b="1" u="none" strike="noStrike">
                <a:solidFill>
                  <a:srgbClr val="0C2577"/>
                </a:solidFill>
                <a:effectLst/>
                <a:uFillTx/>
                <a:latin typeface="Arimo Bold"/>
                <a:ea typeface="Arimo Bold"/>
              </a:rPr>
              <a:t>Edge constraints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TextBox 37"/>
          <p:cNvSpPr/>
          <p:nvPr/>
        </p:nvSpPr>
        <p:spPr>
          <a:xfrm>
            <a:off x="9543960" y="4918680"/>
            <a:ext cx="7181640" cy="68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2701"/>
              </a:lnSpc>
            </a:pPr>
            <a:r>
              <a:rPr lang="en-US" sz="2000" b="0" u="none" strike="noStrike">
                <a:solidFill>
                  <a:srgbClr val="002060"/>
                </a:solidFill>
                <a:effectLst/>
                <a:uFillTx/>
                <a:latin typeface="Arimo"/>
                <a:ea typeface="Arimo"/>
              </a:rPr>
              <a:t>the 9B model is partly CPU-offloaded — the desktop already uses about 2.7 GB of the 8 GB GPU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58" name="Group 38"/>
          <p:cNvGrpSpPr/>
          <p:nvPr/>
        </p:nvGrpSpPr>
        <p:grpSpPr>
          <a:xfrm>
            <a:off x="1352520" y="5838840"/>
            <a:ext cx="7600680" cy="1285560"/>
            <a:chOff x="1352520" y="5838840"/>
            <a:chExt cx="7600680" cy="1285560"/>
          </a:xfrm>
        </p:grpSpPr>
        <p:sp>
          <p:nvSpPr>
            <p:cNvPr id="159" name="Freeform 39"/>
            <p:cNvSpPr/>
            <p:nvPr/>
          </p:nvSpPr>
          <p:spPr>
            <a:xfrm>
              <a:off x="1352520" y="5867280"/>
              <a:ext cx="7600680" cy="1257120"/>
            </a:xfrm>
            <a:custGeom>
              <a:avLst/>
              <a:gdLst>
                <a:gd name="textAreaLeft" fmla="*/ 0 w 7600680"/>
                <a:gd name="textAreaRight" fmla="*/ 7601040 w 7600680"/>
                <a:gd name="textAreaTop" fmla="*/ 0 h 1257120"/>
                <a:gd name="textAreaBottom" fmla="*/ 1257480 h 1257120"/>
              </a:gdLst>
              <a:ahLst/>
              <a:cxnLst/>
              <a:rect l="textAreaLeft" t="textAreaTop" r="textAreaRight" b="textAreaBottom"/>
              <a:pathLst>
                <a:path w="10134600" h="1676400">
                  <a:moveTo>
                    <a:pt x="127000" y="0"/>
                  </a:moveTo>
                  <a:lnTo>
                    <a:pt x="10007600" y="0"/>
                  </a:lnTo>
                  <a:cubicBezTo>
                    <a:pt x="10077740" y="0"/>
                    <a:pt x="10134600" y="56860"/>
                    <a:pt x="10134600" y="127000"/>
                  </a:cubicBezTo>
                  <a:lnTo>
                    <a:pt x="10134600" y="1549400"/>
                  </a:lnTo>
                  <a:cubicBezTo>
                    <a:pt x="10134600" y="1619540"/>
                    <a:pt x="10077740" y="1676400"/>
                    <a:pt x="10007600" y="1676400"/>
                  </a:cubicBezTo>
                  <a:lnTo>
                    <a:pt x="127000" y="1676400"/>
                  </a:lnTo>
                  <a:cubicBezTo>
                    <a:pt x="56860" y="1676400"/>
                    <a:pt x="0" y="1619540"/>
                    <a:pt x="0" y="1549400"/>
                  </a:cubicBezTo>
                  <a:lnTo>
                    <a:pt x="0" y="127000"/>
                  </a:lnTo>
                  <a:cubicBezTo>
                    <a:pt x="0" y="56860"/>
                    <a:pt x="56860" y="0"/>
                    <a:pt x="127000" y="0"/>
                  </a:cubicBezTo>
                  <a:close/>
                </a:path>
              </a:pathLst>
            </a:custGeom>
            <a:solidFill>
              <a:srgbClr val="E8EDF9"/>
            </a:solidFill>
            <a:ln cap="sq" w="19050">
              <a:solidFill>
                <a:srgbClr val="0C2577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0" name="TextBox 40"/>
            <p:cNvSpPr/>
            <p:nvPr/>
          </p:nvSpPr>
          <p:spPr>
            <a:xfrm>
              <a:off x="1352520" y="5838840"/>
              <a:ext cx="7600680" cy="1285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tIns="50760" rIns="50760" bIns="50760" anchor="ctr">
              <a:noAutofit/>
            </a:bodyPr>
            <a:p>
              <a:pPr/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</p:grpSp>
      <p:sp>
        <p:nvSpPr>
          <p:cNvPr id="161" name="TextBox 41"/>
          <p:cNvSpPr/>
          <p:nvPr/>
        </p:nvSpPr>
        <p:spPr>
          <a:xfrm>
            <a:off x="1562040" y="5981760"/>
            <a:ext cx="7181640" cy="41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3359"/>
              </a:lnSpc>
            </a:pPr>
            <a:r>
              <a:rPr lang="en-US" sz="2400" b="1" u="none" strike="noStrike">
                <a:solidFill>
                  <a:srgbClr val="0C2577"/>
                </a:solidFill>
                <a:effectLst/>
                <a:uFillTx/>
                <a:latin typeface="Arimo Bold"/>
                <a:ea typeface="Arimo Bold"/>
              </a:rPr>
              <a:t>Sequential latency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TextBox 42"/>
          <p:cNvSpPr/>
          <p:nvPr/>
        </p:nvSpPr>
        <p:spPr>
          <a:xfrm>
            <a:off x="1562040" y="6425640"/>
            <a:ext cx="7181640" cy="68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2701"/>
              </a:lnSpc>
            </a:pPr>
            <a:r>
              <a:rPr lang="en-US" sz="2000" b="0" u="none" strike="noStrike">
                <a:solidFill>
                  <a:srgbClr val="002060"/>
                </a:solidFill>
                <a:effectLst/>
                <a:uFillTx/>
                <a:latin typeface="Arimo"/>
                <a:ea typeface="Arimo"/>
              </a:rPr>
              <a:t>turns run routing, generation and review in sequence; retrieval itself is only about 50 ms at the median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63" name="Group 43"/>
          <p:cNvGrpSpPr/>
          <p:nvPr/>
        </p:nvGrpSpPr>
        <p:grpSpPr>
          <a:xfrm>
            <a:off x="1352520" y="7417440"/>
            <a:ext cx="15582600" cy="777600"/>
            <a:chOff x="1352520" y="7417440"/>
            <a:chExt cx="15582600" cy="777600"/>
          </a:xfrm>
        </p:grpSpPr>
        <p:sp>
          <p:nvSpPr>
            <p:cNvPr id="164" name="Freeform 44"/>
            <p:cNvSpPr/>
            <p:nvPr/>
          </p:nvSpPr>
          <p:spPr>
            <a:xfrm>
              <a:off x="1352520" y="7467480"/>
              <a:ext cx="15582600" cy="727560"/>
            </a:xfrm>
            <a:custGeom>
              <a:avLst/>
              <a:gdLst>
                <a:gd name="textAreaLeft" fmla="*/ 0 w 15582600"/>
                <a:gd name="textAreaRight" fmla="*/ 15582960 w 15582600"/>
                <a:gd name="textAreaTop" fmla="*/ 0 h 727560"/>
                <a:gd name="textAreaBottom" fmla="*/ 727920 h 727560"/>
              </a:gdLst>
              <a:ahLst/>
              <a:cxnLst/>
              <a:rect l="textAreaLeft" t="textAreaTop" r="textAreaRight" b="textAreaBottom"/>
              <a:pathLst>
                <a:path w="20777200" h="970659">
                  <a:moveTo>
                    <a:pt x="127000" y="0"/>
                  </a:moveTo>
                  <a:lnTo>
                    <a:pt x="20650200" y="0"/>
                  </a:lnTo>
                  <a:cubicBezTo>
                    <a:pt x="20720340" y="0"/>
                    <a:pt x="20777200" y="60358"/>
                    <a:pt x="20777200" y="134814"/>
                  </a:cubicBezTo>
                  <a:lnTo>
                    <a:pt x="20777200" y="835845"/>
                  </a:lnTo>
                  <a:cubicBezTo>
                    <a:pt x="20777200" y="910301"/>
                    <a:pt x="20720340" y="970659"/>
                    <a:pt x="20650200" y="970659"/>
                  </a:cubicBezTo>
                  <a:lnTo>
                    <a:pt x="127000" y="970659"/>
                  </a:lnTo>
                  <a:cubicBezTo>
                    <a:pt x="56860" y="970659"/>
                    <a:pt x="0" y="910301"/>
                    <a:pt x="0" y="835845"/>
                  </a:cubicBezTo>
                  <a:lnTo>
                    <a:pt x="0" y="134814"/>
                  </a:lnTo>
                  <a:cubicBezTo>
                    <a:pt x="0" y="60358"/>
                    <a:pt x="56860" y="0"/>
                    <a:pt x="127000" y="0"/>
                  </a:cubicBezTo>
                  <a:close/>
                </a:path>
              </a:pathLst>
            </a:custGeom>
            <a:solidFill>
              <a:srgbClr val="0C2577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5" name="TextBox 45"/>
            <p:cNvSpPr/>
            <p:nvPr/>
          </p:nvSpPr>
          <p:spPr>
            <a:xfrm>
              <a:off x="1352520" y="7417440"/>
              <a:ext cx="15582600" cy="777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7840" tIns="177840" rIns="177840" bIns="177840" anchor="ctr">
              <a:noAutofit/>
            </a:bodyPr>
            <a:p>
              <a:pPr algn="ctr" defTabSz="914400">
                <a:lnSpc>
                  <a:spcPts val="3220"/>
                </a:lnSpc>
              </a:pPr>
              <a:r>
                <a:rPr lang="en-US" sz="2300" b="1" u="none" strike="noStrike">
                  <a:solidFill>
                    <a:srgbClr val="FFFFFF"/>
                  </a:solidFill>
                  <a:effectLst/>
                  <a:uFillTx/>
                  <a:latin typeface="Arimo Bold"/>
                  <a:ea typeface="Arimo Bold"/>
                </a:rPr>
                <a:t>The project targets reliable voice interaction under language, hardware, privacy and latency constraints.</a:t>
              </a:r>
              <a:endParaRPr lang="en-IN" sz="23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</p:spTree>
  </p:cSld>
  <p:transition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6" name="Group 2"/>
          <p:cNvGrpSpPr/>
          <p:nvPr/>
        </p:nvGrpSpPr>
        <p:grpSpPr>
          <a:xfrm>
            <a:off x="0" y="9698760"/>
            <a:ext cx="18288000" cy="606600"/>
            <a:chOff x="0" y="9698760"/>
            <a:chExt cx="18288000" cy="606600"/>
          </a:xfrm>
        </p:grpSpPr>
        <p:sp>
          <p:nvSpPr>
            <p:cNvPr id="167" name="Freeform 3"/>
            <p:cNvSpPr/>
            <p:nvPr/>
          </p:nvSpPr>
          <p:spPr>
            <a:xfrm>
              <a:off x="0" y="9698760"/>
              <a:ext cx="18288000" cy="606600"/>
            </a:xfrm>
            <a:custGeom>
              <a:avLst/>
              <a:gdLst>
                <a:gd name="textAreaLeft" fmla="*/ 0 w 18288000"/>
                <a:gd name="textAreaRight" fmla="*/ 18288360 w 18288000"/>
                <a:gd name="textAreaTop" fmla="*/ 0 h 606600"/>
                <a:gd name="textAreaBottom" fmla="*/ 606960 h 606600"/>
              </a:gdLst>
              <a:ahLst/>
              <a:cxnLst/>
              <a:rect l="textAreaLeft" t="textAreaTop" r="textAreaRight" b="textAreaBottom"/>
              <a:pathLst>
                <a:path w="24384254" h="809244">
                  <a:moveTo>
                    <a:pt x="0" y="0"/>
                  </a:moveTo>
                  <a:lnTo>
                    <a:pt x="24384254" y="0"/>
                  </a:lnTo>
                  <a:lnTo>
                    <a:pt x="24384254" y="809244"/>
                  </a:lnTo>
                  <a:lnTo>
                    <a:pt x="0" y="809244"/>
                  </a:lnTo>
                  <a:close/>
                </a:path>
              </a:pathLst>
            </a:custGeom>
            <a:solidFill>
              <a:srgbClr val="0C2577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68" name="Group 4"/>
          <p:cNvGrpSpPr/>
          <p:nvPr/>
        </p:nvGrpSpPr>
        <p:grpSpPr>
          <a:xfrm>
            <a:off x="15935400" y="345240"/>
            <a:ext cx="2190240" cy="2190240"/>
            <a:chOff x="15935400" y="345240"/>
            <a:chExt cx="2190240" cy="2190240"/>
          </a:xfrm>
        </p:grpSpPr>
        <p:sp>
          <p:nvSpPr>
            <p:cNvPr id="169" name="Freeform 5"/>
            <p:cNvSpPr/>
            <p:nvPr/>
          </p:nvSpPr>
          <p:spPr>
            <a:xfrm>
              <a:off x="15935400" y="345240"/>
              <a:ext cx="2190240" cy="2190240"/>
            </a:xfrm>
            <a:custGeom>
              <a:avLst/>
              <a:gdLst>
                <a:gd name="textAreaLeft" fmla="*/ 0 w 2190240"/>
                <a:gd name="textAreaRight" fmla="*/ 2190600 w 2190240"/>
                <a:gd name="textAreaTop" fmla="*/ 0 h 2190240"/>
                <a:gd name="textAreaBottom" fmla="*/ 2190600 h 2190240"/>
              </a:gdLst>
              <a:ahLst/>
              <a:cxnLst/>
              <a:rect l="textAreaLeft" t="textAreaTop" r="textAreaRight" b="textAreaBottom"/>
              <a:pathLst>
                <a:path w="2921000" h="2921000">
                  <a:moveTo>
                    <a:pt x="0" y="0"/>
                  </a:moveTo>
                  <a:lnTo>
                    <a:pt x="2921000" y="0"/>
                  </a:lnTo>
                  <a:lnTo>
                    <a:pt x="2921000" y="2921000"/>
                  </a:lnTo>
                  <a:lnTo>
                    <a:pt x="0" y="2921000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1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70" name="Group 6"/>
          <p:cNvGrpSpPr/>
          <p:nvPr/>
        </p:nvGrpSpPr>
        <p:grpSpPr>
          <a:xfrm>
            <a:off x="1257120" y="547560"/>
            <a:ext cx="14642280" cy="1987920"/>
            <a:chOff x="1257120" y="547560"/>
            <a:chExt cx="14642280" cy="1987920"/>
          </a:xfrm>
        </p:grpSpPr>
        <p:sp>
          <p:nvSpPr>
            <p:cNvPr id="171" name="Freeform 7"/>
            <p:cNvSpPr/>
            <p:nvPr/>
          </p:nvSpPr>
          <p:spPr>
            <a:xfrm>
              <a:off x="1257120" y="547560"/>
              <a:ext cx="14642280" cy="1987920"/>
            </a:xfrm>
            <a:custGeom>
              <a:avLst/>
              <a:gdLst>
                <a:gd name="textAreaLeft" fmla="*/ 0 w 14642280"/>
                <a:gd name="textAreaRight" fmla="*/ 14642640 w 14642280"/>
                <a:gd name="textAreaTop" fmla="*/ 0 h 1987920"/>
                <a:gd name="textAreaBottom" fmla="*/ 1988280 h 1987920"/>
              </a:gdLst>
              <a:ahLst/>
              <a:cxnLst/>
              <a:rect l="textAreaLeft" t="textAreaTop" r="textAreaRight" b="textAreaBottom"/>
              <a:pathLst>
                <a:path w="19523520" h="2651044">
                  <a:moveTo>
                    <a:pt x="0" y="0"/>
                  </a:moveTo>
                  <a:lnTo>
                    <a:pt x="19523520" y="0"/>
                  </a:lnTo>
                  <a:lnTo>
                    <a:pt x="19523520" y="2651044"/>
                  </a:lnTo>
                  <a:lnTo>
                    <a:pt x="0" y="2651044"/>
                  </a:lnTo>
                  <a:close/>
                </a:path>
              </a:pathLst>
            </a:custGeom>
            <a:blipFill rotWithShape="0">
              <a:blip r:embed="rId2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2" name="TextBox 8"/>
            <p:cNvSpPr/>
            <p:nvPr/>
          </p:nvSpPr>
          <p:spPr>
            <a:xfrm>
              <a:off x="1257120" y="561960"/>
              <a:ext cx="14642280" cy="1973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defTabSz="914400">
                <a:lnSpc>
                  <a:spcPts val="2047"/>
                </a:lnSpc>
                <a:tabLst>
                  <a:tab pos="0" algn="l"/>
                </a:tabLst>
              </a:pPr>
              <a:r>
                <a:rPr lang="en-US" sz="6600" b="1" u="none" spc="-11" strike="noStrike">
                  <a:solidFill>
                    <a:srgbClr val="002060"/>
                  </a:solidFill>
                  <a:effectLst/>
                  <a:uFillTx/>
                  <a:latin typeface="TT Rounds Condensed Bold"/>
                  <a:ea typeface="TT Rounds Condensed Bold"/>
                </a:rPr>
                <a:t>03  Literature Review</a:t>
              </a:r>
              <a:endParaRPr lang="en-IN" sz="6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73" name="Group 9"/>
          <p:cNvGrpSpPr/>
          <p:nvPr/>
        </p:nvGrpSpPr>
        <p:grpSpPr>
          <a:xfrm>
            <a:off x="399960" y="9762840"/>
            <a:ext cx="3314160" cy="464400"/>
            <a:chOff x="399960" y="9762840"/>
            <a:chExt cx="3314160" cy="464400"/>
          </a:xfrm>
        </p:grpSpPr>
        <p:sp>
          <p:nvSpPr>
            <p:cNvPr id="174" name="Freeform 10"/>
            <p:cNvSpPr/>
            <p:nvPr/>
          </p:nvSpPr>
          <p:spPr>
            <a:xfrm>
              <a:off x="399960" y="9777240"/>
              <a:ext cx="3314160" cy="450000"/>
            </a:xfrm>
            <a:custGeom>
              <a:avLst/>
              <a:gdLst>
                <a:gd name="textAreaLeft" fmla="*/ 0 w 3314160"/>
                <a:gd name="textAreaRight" fmla="*/ 3314520 w 3314160"/>
                <a:gd name="textAreaTop" fmla="*/ 0 h 450000"/>
                <a:gd name="textAreaBottom" fmla="*/ 450360 h 450000"/>
              </a:gdLst>
              <a:ahLst/>
              <a:cxnLst/>
              <a:rect l="textAreaLeft" t="textAreaTop" r="textAreaRight" b="textAreaBottom"/>
              <a:pathLst>
                <a:path w="4419360" h="600479">
                  <a:moveTo>
                    <a:pt x="0" y="0"/>
                  </a:moveTo>
                  <a:lnTo>
                    <a:pt x="4419360" y="0"/>
                  </a:lnTo>
                  <a:lnTo>
                    <a:pt x="4419360" y="600479"/>
                  </a:lnTo>
                  <a:lnTo>
                    <a:pt x="0" y="600479"/>
                  </a:lnTo>
                  <a:close/>
                </a:path>
              </a:pathLst>
            </a:custGeom>
            <a:blipFill rotWithShape="0">
              <a:blip r:embed="rId3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5" name="TextBox 11"/>
            <p:cNvSpPr/>
            <p:nvPr/>
          </p:nvSpPr>
          <p:spPr>
            <a:xfrm>
              <a:off x="399960" y="9762840"/>
              <a:ext cx="3314160" cy="464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defTabSz="914400">
                <a:lnSpc>
                  <a:spcPts val="1440"/>
                </a:lnSpc>
                <a:tabLst>
                  <a:tab pos="0" algn="l"/>
                </a:tabLst>
              </a:pPr>
              <a:r>
                <a:rPr lang="en-US" sz="1200" b="0" u="none" strike="noStrike">
                  <a:solidFill>
                    <a:srgbClr val="FFFFFF"/>
                  </a:solidFill>
                  <a:effectLst/>
                  <a:uFillTx/>
                  <a:latin typeface="Calibri (MS)"/>
                  <a:ea typeface="Calibri (MS)"/>
                </a:rPr>
                <a:t>05/10/26</a:t>
              </a:r>
              <a:endParaRPr lang="en-IN" sz="1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76" name="Group 12"/>
          <p:cNvGrpSpPr/>
          <p:nvPr/>
        </p:nvGrpSpPr>
        <p:grpSpPr>
          <a:xfrm>
            <a:off x="14411520" y="9665640"/>
            <a:ext cx="2969280" cy="561600"/>
            <a:chOff x="14411520" y="9665640"/>
            <a:chExt cx="2969280" cy="561600"/>
          </a:xfrm>
        </p:grpSpPr>
        <p:sp>
          <p:nvSpPr>
            <p:cNvPr id="177" name="Freeform 13"/>
            <p:cNvSpPr/>
            <p:nvPr/>
          </p:nvSpPr>
          <p:spPr>
            <a:xfrm>
              <a:off x="14411520" y="9680040"/>
              <a:ext cx="2969280" cy="547200"/>
            </a:xfrm>
            <a:custGeom>
              <a:avLst/>
              <a:gdLst>
                <a:gd name="textAreaLeft" fmla="*/ 0 w 2969280"/>
                <a:gd name="textAreaRight" fmla="*/ 2969640 w 2969280"/>
                <a:gd name="textAreaTop" fmla="*/ 0 h 547200"/>
                <a:gd name="textAreaBottom" fmla="*/ 547560 h 547200"/>
              </a:gdLst>
              <a:ahLst/>
              <a:cxnLst/>
              <a:rect l="textAreaLeft" t="textAreaTop" r="textAreaRight" b="textAreaBottom"/>
              <a:pathLst>
                <a:path w="3959280" h="730075">
                  <a:moveTo>
                    <a:pt x="0" y="0"/>
                  </a:moveTo>
                  <a:lnTo>
                    <a:pt x="3959280" y="0"/>
                  </a:lnTo>
                  <a:lnTo>
                    <a:pt x="3959280" y="730075"/>
                  </a:lnTo>
                  <a:lnTo>
                    <a:pt x="0" y="730075"/>
                  </a:lnTo>
                  <a:close/>
                </a:path>
              </a:pathLst>
            </a:custGeom>
            <a:blipFill rotWithShape="0">
              <a:blip r:embed="rId4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8" name="TextBox 14"/>
            <p:cNvSpPr/>
            <p:nvPr/>
          </p:nvSpPr>
          <p:spPr>
            <a:xfrm>
              <a:off x="14411520" y="9665640"/>
              <a:ext cx="2968920" cy="561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algn="r" defTabSz="914400">
                <a:lnSpc>
                  <a:spcPts val="1440"/>
                </a:lnSpc>
                <a:tabLst>
                  <a:tab pos="0" algn="l"/>
                </a:tabLst>
              </a:pPr>
              <a:r>
                <a:rPr lang="en-US" sz="1200" b="0" u="none" strike="noStrike">
                  <a:solidFill>
                    <a:srgbClr val="FFFFFF"/>
                  </a:solidFill>
                  <a:effectLst/>
                  <a:uFillTx/>
                  <a:latin typeface="Calibri (MS)"/>
                  <a:ea typeface="Calibri (MS)"/>
                </a:rPr>
                <a:t>5</a:t>
              </a:r>
              <a:endParaRPr lang="en-IN" sz="1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79" name="Group 15"/>
          <p:cNvGrpSpPr/>
          <p:nvPr/>
        </p:nvGrpSpPr>
        <p:grpSpPr>
          <a:xfrm>
            <a:off x="4288680" y="9732240"/>
            <a:ext cx="9896400" cy="554400"/>
            <a:chOff x="4288680" y="9732240"/>
            <a:chExt cx="9896400" cy="554400"/>
          </a:xfrm>
        </p:grpSpPr>
        <p:sp>
          <p:nvSpPr>
            <p:cNvPr id="180" name="Freeform 16"/>
            <p:cNvSpPr/>
            <p:nvPr/>
          </p:nvSpPr>
          <p:spPr>
            <a:xfrm>
              <a:off x="4288680" y="9739440"/>
              <a:ext cx="9896400" cy="547200"/>
            </a:xfrm>
            <a:custGeom>
              <a:avLst/>
              <a:gdLst>
                <a:gd name="textAreaLeft" fmla="*/ 0 w 9896400"/>
                <a:gd name="textAreaRight" fmla="*/ 9896760 w 9896400"/>
                <a:gd name="textAreaTop" fmla="*/ 0 h 547200"/>
                <a:gd name="textAreaBottom" fmla="*/ 547560 h 547200"/>
              </a:gdLst>
              <a:ahLst/>
              <a:cxnLst/>
              <a:rect l="textAreaLeft" t="textAreaTop" r="textAreaRight" b="textAreaBottom"/>
              <a:pathLst>
                <a:path w="13195440" h="730075">
                  <a:moveTo>
                    <a:pt x="0" y="0"/>
                  </a:moveTo>
                  <a:lnTo>
                    <a:pt x="13195440" y="0"/>
                  </a:lnTo>
                  <a:lnTo>
                    <a:pt x="13195440" y="730075"/>
                  </a:lnTo>
                  <a:lnTo>
                    <a:pt x="0" y="730075"/>
                  </a:lnTo>
                  <a:close/>
                </a:path>
              </a:pathLst>
            </a:custGeom>
            <a:blipFill rotWithShape="0">
              <a:blip r:embed="rId5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1" name="TextBox 17"/>
            <p:cNvSpPr/>
            <p:nvPr/>
          </p:nvSpPr>
          <p:spPr>
            <a:xfrm>
              <a:off x="4288680" y="9732240"/>
              <a:ext cx="9896400" cy="554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algn="ctr" defTabSz="914400">
                <a:lnSpc>
                  <a:spcPts val="1681"/>
                </a:lnSpc>
                <a:tabLst>
                  <a:tab pos="0" algn="l"/>
                </a:tabLst>
              </a:pPr>
              <a:r>
                <a:rPr lang="en-US" sz="1400" b="0" u="none" strike="noStrike">
                  <a:solidFill>
                    <a:srgbClr val="FFFFFF"/>
                  </a:solidFill>
                  <a:effectLst/>
                  <a:uFillTx/>
                  <a:latin typeface="Georgia"/>
                  <a:ea typeface="Georgia"/>
                </a:rPr>
                <a:t>International Institute of Information Technology, Naya Raipur</a:t>
              </a:r>
              <a:endPara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82" name="Group 18"/>
          <p:cNvGrpSpPr/>
          <p:nvPr/>
        </p:nvGrpSpPr>
        <p:grpSpPr>
          <a:xfrm>
            <a:off x="1352520" y="2821680"/>
            <a:ext cx="3142800" cy="593640"/>
            <a:chOff x="1352520" y="2821680"/>
            <a:chExt cx="3142800" cy="593640"/>
          </a:xfrm>
        </p:grpSpPr>
        <p:sp>
          <p:nvSpPr>
            <p:cNvPr id="183" name="Freeform 19"/>
            <p:cNvSpPr/>
            <p:nvPr/>
          </p:nvSpPr>
          <p:spPr>
            <a:xfrm>
              <a:off x="1352520" y="2857680"/>
              <a:ext cx="3142800" cy="557640"/>
            </a:xfrm>
            <a:custGeom>
              <a:avLst/>
              <a:gdLst>
                <a:gd name="textAreaLeft" fmla="*/ 0 w 3142800"/>
                <a:gd name="textAreaRight" fmla="*/ 3143160 w 3142800"/>
                <a:gd name="textAreaTop" fmla="*/ 0 h 557640"/>
                <a:gd name="textAreaBottom" fmla="*/ 558000 h 557640"/>
              </a:gdLst>
              <a:ahLst/>
              <a:cxnLst/>
              <a:rect l="textAreaLeft" t="textAreaTop" r="textAreaRight" b="textAreaBottom"/>
              <a:pathLst>
                <a:path w="4191000" h="744108">
                  <a:moveTo>
                    <a:pt x="0" y="0"/>
                  </a:moveTo>
                  <a:lnTo>
                    <a:pt x="4191000" y="0"/>
                  </a:lnTo>
                  <a:lnTo>
                    <a:pt x="4191000" y="744108"/>
                  </a:lnTo>
                  <a:lnTo>
                    <a:pt x="0" y="744108"/>
                  </a:lnTo>
                  <a:close/>
                </a:path>
              </a:pathLst>
            </a:custGeom>
            <a:solidFill>
              <a:srgbClr val="0C2577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4" name="TextBox 20"/>
            <p:cNvSpPr/>
            <p:nvPr/>
          </p:nvSpPr>
          <p:spPr>
            <a:xfrm>
              <a:off x="1352520" y="2821680"/>
              <a:ext cx="3142800" cy="593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01520" tIns="101520" rIns="101520" bIns="101520" anchor="ctr">
              <a:noAutofit/>
            </a:bodyPr>
            <a:p>
              <a:pPr algn="ctr" defTabSz="914400">
                <a:lnSpc>
                  <a:spcPts val="2801"/>
                </a:lnSpc>
              </a:pPr>
              <a:r>
                <a:rPr lang="en-US" sz="2000" b="1" u="none" strike="noStrike">
                  <a:solidFill>
                    <a:srgbClr val="FFFFFF"/>
                  </a:solidFill>
                  <a:effectLst/>
                  <a:uFillTx/>
                  <a:latin typeface="Arimo Bold"/>
                  <a:ea typeface="Arimo Bold"/>
                </a:rPr>
                <a:t>Work</a:t>
              </a:r>
              <a:endPara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85" name="Group 21"/>
          <p:cNvGrpSpPr/>
          <p:nvPr/>
        </p:nvGrpSpPr>
        <p:grpSpPr>
          <a:xfrm>
            <a:off x="4495680" y="2821680"/>
            <a:ext cx="3142800" cy="593640"/>
            <a:chOff x="4495680" y="2821680"/>
            <a:chExt cx="3142800" cy="593640"/>
          </a:xfrm>
        </p:grpSpPr>
        <p:sp>
          <p:nvSpPr>
            <p:cNvPr id="186" name="Freeform 22"/>
            <p:cNvSpPr/>
            <p:nvPr/>
          </p:nvSpPr>
          <p:spPr>
            <a:xfrm>
              <a:off x="4495680" y="2857680"/>
              <a:ext cx="3142800" cy="557640"/>
            </a:xfrm>
            <a:custGeom>
              <a:avLst/>
              <a:gdLst>
                <a:gd name="textAreaLeft" fmla="*/ 0 w 3142800"/>
                <a:gd name="textAreaRight" fmla="*/ 3143160 w 3142800"/>
                <a:gd name="textAreaTop" fmla="*/ 0 h 557640"/>
                <a:gd name="textAreaBottom" fmla="*/ 558000 h 557640"/>
              </a:gdLst>
              <a:ahLst/>
              <a:cxnLst/>
              <a:rect l="textAreaLeft" t="textAreaTop" r="textAreaRight" b="textAreaBottom"/>
              <a:pathLst>
                <a:path w="4191000" h="744108">
                  <a:moveTo>
                    <a:pt x="0" y="0"/>
                  </a:moveTo>
                  <a:lnTo>
                    <a:pt x="4191000" y="0"/>
                  </a:lnTo>
                  <a:lnTo>
                    <a:pt x="4191000" y="744108"/>
                  </a:lnTo>
                  <a:lnTo>
                    <a:pt x="0" y="744108"/>
                  </a:lnTo>
                  <a:close/>
                </a:path>
              </a:pathLst>
            </a:custGeom>
            <a:solidFill>
              <a:srgbClr val="0C2577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7" name="TextBox 23"/>
            <p:cNvSpPr/>
            <p:nvPr/>
          </p:nvSpPr>
          <p:spPr>
            <a:xfrm>
              <a:off x="4495680" y="2821680"/>
              <a:ext cx="3142800" cy="593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01520" tIns="101520" rIns="101520" bIns="101520" anchor="ctr">
              <a:noAutofit/>
            </a:bodyPr>
            <a:p>
              <a:pPr algn="ctr" defTabSz="914400">
                <a:lnSpc>
                  <a:spcPts val="2801"/>
                </a:lnSpc>
              </a:pPr>
              <a:r>
                <a:rPr lang="en-US" sz="2000" b="1" u="none" strike="noStrike">
                  <a:solidFill>
                    <a:srgbClr val="FFFFFF"/>
                  </a:solidFill>
                  <a:effectLst/>
                  <a:uFillTx/>
                  <a:latin typeface="Arimo Bold"/>
                  <a:ea typeface="Arimo Bold"/>
                </a:rPr>
                <a:t>Main technique</a:t>
              </a:r>
              <a:endPara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88" name="Group 24"/>
          <p:cNvGrpSpPr/>
          <p:nvPr/>
        </p:nvGrpSpPr>
        <p:grpSpPr>
          <a:xfrm>
            <a:off x="7639200" y="2821680"/>
            <a:ext cx="3809520" cy="593640"/>
            <a:chOff x="7639200" y="2821680"/>
            <a:chExt cx="3809520" cy="593640"/>
          </a:xfrm>
        </p:grpSpPr>
        <p:sp>
          <p:nvSpPr>
            <p:cNvPr id="189" name="Freeform 25"/>
            <p:cNvSpPr/>
            <p:nvPr/>
          </p:nvSpPr>
          <p:spPr>
            <a:xfrm>
              <a:off x="7639200" y="2857680"/>
              <a:ext cx="3809520" cy="557640"/>
            </a:xfrm>
            <a:custGeom>
              <a:avLst/>
              <a:gdLst>
                <a:gd name="textAreaLeft" fmla="*/ 0 w 3809520"/>
                <a:gd name="textAreaRight" fmla="*/ 3809880 w 3809520"/>
                <a:gd name="textAreaTop" fmla="*/ 0 h 557640"/>
                <a:gd name="textAreaBottom" fmla="*/ 558000 h 557640"/>
              </a:gdLst>
              <a:ahLst/>
              <a:cxnLst/>
              <a:rect l="textAreaLeft" t="textAreaTop" r="textAreaRight" b="textAreaBottom"/>
              <a:pathLst>
                <a:path w="5080000" h="744108">
                  <a:moveTo>
                    <a:pt x="0" y="0"/>
                  </a:moveTo>
                  <a:lnTo>
                    <a:pt x="5080000" y="0"/>
                  </a:lnTo>
                  <a:lnTo>
                    <a:pt x="5080000" y="744108"/>
                  </a:lnTo>
                  <a:lnTo>
                    <a:pt x="0" y="744108"/>
                  </a:lnTo>
                  <a:close/>
                </a:path>
              </a:pathLst>
            </a:custGeom>
            <a:solidFill>
              <a:srgbClr val="0C2577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0" name="TextBox 26"/>
            <p:cNvSpPr/>
            <p:nvPr/>
          </p:nvSpPr>
          <p:spPr>
            <a:xfrm>
              <a:off x="7639200" y="2821680"/>
              <a:ext cx="3809520" cy="593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01520" tIns="101520" rIns="101520" bIns="101520" anchor="ctr">
              <a:noAutofit/>
            </a:bodyPr>
            <a:p>
              <a:pPr algn="ctr" defTabSz="914400">
                <a:lnSpc>
                  <a:spcPts val="2801"/>
                </a:lnSpc>
              </a:pPr>
              <a:r>
                <a:rPr lang="en-US" sz="2000" b="1" u="none" strike="noStrike">
                  <a:solidFill>
                    <a:srgbClr val="FFFFFF"/>
                  </a:solidFill>
                  <a:effectLst/>
                  <a:uFillTx/>
                  <a:latin typeface="Arimo Bold"/>
                  <a:ea typeface="Arimo Bold"/>
                </a:rPr>
                <a:t>Relevance to this project</a:t>
              </a:r>
              <a:endPara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91" name="Group 27"/>
          <p:cNvGrpSpPr/>
          <p:nvPr/>
        </p:nvGrpSpPr>
        <p:grpSpPr>
          <a:xfrm>
            <a:off x="11449080" y="2821680"/>
            <a:ext cx="5486040" cy="593640"/>
            <a:chOff x="11449080" y="2821680"/>
            <a:chExt cx="5486040" cy="593640"/>
          </a:xfrm>
        </p:grpSpPr>
        <p:sp>
          <p:nvSpPr>
            <p:cNvPr id="192" name="Freeform 28"/>
            <p:cNvSpPr/>
            <p:nvPr/>
          </p:nvSpPr>
          <p:spPr>
            <a:xfrm>
              <a:off x="11449080" y="2857680"/>
              <a:ext cx="5486040" cy="557640"/>
            </a:xfrm>
            <a:custGeom>
              <a:avLst/>
              <a:gdLst>
                <a:gd name="textAreaLeft" fmla="*/ 0 w 5486040"/>
                <a:gd name="textAreaRight" fmla="*/ 5486400 w 5486040"/>
                <a:gd name="textAreaTop" fmla="*/ 0 h 557640"/>
                <a:gd name="textAreaBottom" fmla="*/ 558000 h 557640"/>
              </a:gdLst>
              <a:ahLst/>
              <a:cxnLst/>
              <a:rect l="textAreaLeft" t="textAreaTop" r="textAreaRight" b="textAreaBottom"/>
              <a:pathLst>
                <a:path w="7315200" h="744108">
                  <a:moveTo>
                    <a:pt x="0" y="0"/>
                  </a:moveTo>
                  <a:lnTo>
                    <a:pt x="7315200" y="0"/>
                  </a:lnTo>
                  <a:lnTo>
                    <a:pt x="7315200" y="744108"/>
                  </a:lnTo>
                  <a:lnTo>
                    <a:pt x="0" y="744108"/>
                  </a:lnTo>
                  <a:close/>
                </a:path>
              </a:pathLst>
            </a:custGeom>
            <a:solidFill>
              <a:srgbClr val="0C2577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3" name="TextBox 29"/>
            <p:cNvSpPr/>
            <p:nvPr/>
          </p:nvSpPr>
          <p:spPr>
            <a:xfrm>
              <a:off x="11449080" y="2821680"/>
              <a:ext cx="5486040" cy="593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01520" tIns="101520" rIns="101520" bIns="101520" anchor="ctr">
              <a:noAutofit/>
            </a:bodyPr>
            <a:p>
              <a:pPr algn="ctr" defTabSz="914400">
                <a:lnSpc>
                  <a:spcPts val="2801"/>
                </a:lnSpc>
              </a:pPr>
              <a:r>
                <a:rPr lang="en-US" sz="2000" b="1" u="none" strike="noStrike">
                  <a:solidFill>
                    <a:srgbClr val="FFFFFF"/>
                  </a:solidFill>
                  <a:effectLst/>
                  <a:uFillTx/>
                  <a:latin typeface="Arimo Bold"/>
                  <a:ea typeface="Arimo Bold"/>
                </a:rPr>
                <a:t>Limitation / adaptation</a:t>
              </a:r>
              <a:endPara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94" name="Group 30"/>
          <p:cNvGrpSpPr/>
          <p:nvPr/>
        </p:nvGrpSpPr>
        <p:grpSpPr>
          <a:xfrm>
            <a:off x="1352520" y="3309840"/>
            <a:ext cx="3142800" cy="747360"/>
            <a:chOff x="1352520" y="3309840"/>
            <a:chExt cx="3142800" cy="747360"/>
          </a:xfrm>
        </p:grpSpPr>
        <p:sp>
          <p:nvSpPr>
            <p:cNvPr id="195" name="Freeform 31"/>
            <p:cNvSpPr/>
            <p:nvPr/>
          </p:nvSpPr>
          <p:spPr>
            <a:xfrm>
              <a:off x="1352520" y="3352680"/>
              <a:ext cx="3142800" cy="704520"/>
            </a:xfrm>
            <a:custGeom>
              <a:avLst/>
              <a:gdLst>
                <a:gd name="textAreaLeft" fmla="*/ 0 w 3142800"/>
                <a:gd name="textAreaRight" fmla="*/ 3143160 w 3142800"/>
                <a:gd name="textAreaTop" fmla="*/ 0 h 704520"/>
                <a:gd name="textAreaBottom" fmla="*/ 704880 h 704520"/>
              </a:gdLst>
              <a:ahLst/>
              <a:cxnLst/>
              <a:rect l="textAreaLeft" t="textAreaTop" r="textAreaRight" b="textAreaBottom"/>
              <a:pathLst>
                <a:path w="4191000" h="939800">
                  <a:moveTo>
                    <a:pt x="0" y="0"/>
                  </a:moveTo>
                  <a:lnTo>
                    <a:pt x="4191000" y="0"/>
                  </a:lnTo>
                  <a:lnTo>
                    <a:pt x="4191000" y="939800"/>
                  </a:lnTo>
                  <a:lnTo>
                    <a:pt x="0" y="939800"/>
                  </a:lnTo>
                  <a:close/>
                </a:path>
              </a:pathLst>
            </a:custGeom>
            <a:solidFill>
              <a:srgbClr val="E8EDF9"/>
            </a:solidFill>
            <a:ln cap="sq" w="9525">
              <a:solidFill>
                <a:srgbClr val="C9D4EE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6" name="TextBox 32"/>
            <p:cNvSpPr/>
            <p:nvPr/>
          </p:nvSpPr>
          <p:spPr>
            <a:xfrm>
              <a:off x="1352520" y="3309840"/>
              <a:ext cx="3142800" cy="7473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7080" tIns="127080" rIns="127080" bIns="127080" anchor="ctr">
              <a:noAutofit/>
            </a:bodyPr>
            <a:p>
              <a:pPr algn="ctr" defTabSz="914400">
                <a:lnSpc>
                  <a:spcPts val="2520"/>
                </a:lnSpc>
              </a:pPr>
              <a:r>
                <a:rPr lang="en-US" sz="1800" b="0" u="none" strike="noStrike">
                  <a:solidFill>
                    <a:srgbClr val="002060"/>
                  </a:solidFill>
                  <a:effectLst/>
                  <a:uFillTx/>
                  <a:latin typeface="Arimo"/>
                  <a:ea typeface="Arimo"/>
                </a:rPr>
                <a:t>VITS (Kim et al., ICML 2021)</a:t>
              </a:r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97" name="Group 33"/>
          <p:cNvGrpSpPr/>
          <p:nvPr/>
        </p:nvGrpSpPr>
        <p:grpSpPr>
          <a:xfrm>
            <a:off x="4495680" y="3309840"/>
            <a:ext cx="3142800" cy="747360"/>
            <a:chOff x="4495680" y="3309840"/>
            <a:chExt cx="3142800" cy="747360"/>
          </a:xfrm>
        </p:grpSpPr>
        <p:sp>
          <p:nvSpPr>
            <p:cNvPr id="198" name="Freeform 34"/>
            <p:cNvSpPr/>
            <p:nvPr/>
          </p:nvSpPr>
          <p:spPr>
            <a:xfrm>
              <a:off x="4495680" y="3352680"/>
              <a:ext cx="3142800" cy="704520"/>
            </a:xfrm>
            <a:custGeom>
              <a:avLst/>
              <a:gdLst>
                <a:gd name="textAreaLeft" fmla="*/ 0 w 3142800"/>
                <a:gd name="textAreaRight" fmla="*/ 3143160 w 3142800"/>
                <a:gd name="textAreaTop" fmla="*/ 0 h 704520"/>
                <a:gd name="textAreaBottom" fmla="*/ 704880 h 704520"/>
              </a:gdLst>
              <a:ahLst/>
              <a:cxnLst/>
              <a:rect l="textAreaLeft" t="textAreaTop" r="textAreaRight" b="textAreaBottom"/>
              <a:pathLst>
                <a:path w="4191000" h="939800">
                  <a:moveTo>
                    <a:pt x="0" y="0"/>
                  </a:moveTo>
                  <a:lnTo>
                    <a:pt x="4191000" y="0"/>
                  </a:lnTo>
                  <a:lnTo>
                    <a:pt x="4191000" y="939800"/>
                  </a:lnTo>
                  <a:lnTo>
                    <a:pt x="0" y="939800"/>
                  </a:lnTo>
                  <a:close/>
                </a:path>
              </a:pathLst>
            </a:custGeom>
            <a:solidFill>
              <a:srgbClr val="E8EDF9"/>
            </a:solidFill>
            <a:ln cap="sq" w="9525">
              <a:solidFill>
                <a:srgbClr val="C9D4EE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9" name="TextBox 35"/>
            <p:cNvSpPr/>
            <p:nvPr/>
          </p:nvSpPr>
          <p:spPr>
            <a:xfrm>
              <a:off x="4495680" y="3309840"/>
              <a:ext cx="3142800" cy="7473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7080" tIns="127080" rIns="127080" bIns="127080" anchor="ctr">
              <a:noAutofit/>
            </a:bodyPr>
            <a:p>
              <a:pPr algn="ctr" defTabSz="914400">
                <a:lnSpc>
                  <a:spcPts val="2520"/>
                </a:lnSpc>
              </a:pPr>
              <a:r>
                <a:rPr lang="en-US" sz="1800" b="0" u="none" strike="noStrike">
                  <a:solidFill>
                    <a:srgbClr val="002060"/>
                  </a:solidFill>
                  <a:effectLst/>
                  <a:uFillTx/>
                  <a:latin typeface="Arimo"/>
                  <a:ea typeface="Arimo"/>
                </a:rPr>
                <a:t>End-to-end neural TTS</a:t>
              </a:r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200" name="Group 36"/>
          <p:cNvGrpSpPr/>
          <p:nvPr/>
        </p:nvGrpSpPr>
        <p:grpSpPr>
          <a:xfrm>
            <a:off x="7639200" y="3309840"/>
            <a:ext cx="3809520" cy="747360"/>
            <a:chOff x="7639200" y="3309840"/>
            <a:chExt cx="3809520" cy="747360"/>
          </a:xfrm>
        </p:grpSpPr>
        <p:sp>
          <p:nvSpPr>
            <p:cNvPr id="201" name="Freeform 37"/>
            <p:cNvSpPr/>
            <p:nvPr/>
          </p:nvSpPr>
          <p:spPr>
            <a:xfrm>
              <a:off x="7639200" y="3352680"/>
              <a:ext cx="3809520" cy="704520"/>
            </a:xfrm>
            <a:custGeom>
              <a:avLst/>
              <a:gdLst>
                <a:gd name="textAreaLeft" fmla="*/ 0 w 3809520"/>
                <a:gd name="textAreaRight" fmla="*/ 3809880 w 3809520"/>
                <a:gd name="textAreaTop" fmla="*/ 0 h 704520"/>
                <a:gd name="textAreaBottom" fmla="*/ 704880 h 704520"/>
              </a:gdLst>
              <a:ahLst/>
              <a:cxnLst/>
              <a:rect l="textAreaLeft" t="textAreaTop" r="textAreaRight" b="textAreaBottom"/>
              <a:pathLst>
                <a:path w="5080000" h="939800">
                  <a:moveTo>
                    <a:pt x="0" y="0"/>
                  </a:moveTo>
                  <a:lnTo>
                    <a:pt x="5080000" y="0"/>
                  </a:lnTo>
                  <a:lnTo>
                    <a:pt x="5080000" y="939800"/>
                  </a:lnTo>
                  <a:lnTo>
                    <a:pt x="0" y="939800"/>
                  </a:lnTo>
                  <a:close/>
                </a:path>
              </a:pathLst>
            </a:custGeom>
            <a:solidFill>
              <a:srgbClr val="E8EDF9"/>
            </a:solidFill>
            <a:ln cap="sq" w="9525">
              <a:solidFill>
                <a:srgbClr val="C9D4EE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2" name="TextBox 38"/>
            <p:cNvSpPr/>
            <p:nvPr/>
          </p:nvSpPr>
          <p:spPr>
            <a:xfrm>
              <a:off x="7639200" y="3309840"/>
              <a:ext cx="3809520" cy="7473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7080" tIns="127080" rIns="127080" bIns="127080" anchor="ctr">
              <a:noAutofit/>
            </a:bodyPr>
            <a:p>
              <a:pPr algn="ctr" defTabSz="914400">
                <a:lnSpc>
                  <a:spcPts val="2520"/>
                </a:lnSpc>
              </a:pPr>
              <a:r>
                <a:rPr lang="en-US" sz="1800" b="0" u="none" strike="noStrike">
                  <a:solidFill>
                    <a:srgbClr val="002060"/>
                  </a:solidFill>
                  <a:effectLst/>
                  <a:uFillTx/>
                  <a:latin typeface="Arimo"/>
                  <a:ea typeface="Arimo"/>
                </a:rPr>
                <a:t>Local speech synthesis</a:t>
              </a:r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203" name="Group 39"/>
          <p:cNvGrpSpPr/>
          <p:nvPr/>
        </p:nvGrpSpPr>
        <p:grpSpPr>
          <a:xfrm>
            <a:off x="11449080" y="3309840"/>
            <a:ext cx="5486040" cy="928800"/>
            <a:chOff x="11449080" y="3309840"/>
            <a:chExt cx="5486040" cy="928800"/>
          </a:xfrm>
        </p:grpSpPr>
        <p:sp>
          <p:nvSpPr>
            <p:cNvPr id="204" name="Freeform 40"/>
            <p:cNvSpPr/>
            <p:nvPr/>
          </p:nvSpPr>
          <p:spPr>
            <a:xfrm>
              <a:off x="11449080" y="3352680"/>
              <a:ext cx="5486040" cy="885600"/>
            </a:xfrm>
            <a:custGeom>
              <a:avLst/>
              <a:gdLst>
                <a:gd name="textAreaLeft" fmla="*/ 0 w 5486040"/>
                <a:gd name="textAreaRight" fmla="*/ 5486400 w 5486040"/>
                <a:gd name="textAreaTop" fmla="*/ 0 h 885600"/>
                <a:gd name="textAreaBottom" fmla="*/ 885960 h 885600"/>
              </a:gdLst>
              <a:ahLst/>
              <a:cxnLst/>
              <a:rect l="textAreaLeft" t="textAreaTop" r="textAreaRight" b="textAreaBottom"/>
              <a:pathLst>
                <a:path w="7315200" h="1181507">
                  <a:moveTo>
                    <a:pt x="0" y="0"/>
                  </a:moveTo>
                  <a:lnTo>
                    <a:pt x="7315200" y="0"/>
                  </a:lnTo>
                  <a:lnTo>
                    <a:pt x="7315200" y="1181507"/>
                  </a:lnTo>
                  <a:lnTo>
                    <a:pt x="0" y="1181507"/>
                  </a:lnTo>
                  <a:close/>
                </a:path>
              </a:pathLst>
            </a:custGeom>
            <a:solidFill>
              <a:srgbClr val="E8EDF9"/>
            </a:solidFill>
            <a:ln cap="sq" w="9525">
              <a:solidFill>
                <a:srgbClr val="C9D4EE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5" name="TextBox 41"/>
            <p:cNvSpPr/>
            <p:nvPr/>
          </p:nvSpPr>
          <p:spPr>
            <a:xfrm>
              <a:off x="11449080" y="3309840"/>
              <a:ext cx="5486040" cy="9288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7080" tIns="127080" rIns="127080" bIns="127080" anchor="ctr">
              <a:noAutofit/>
            </a:bodyPr>
            <a:p>
              <a:pPr algn="ctr" defTabSz="914400">
                <a:lnSpc>
                  <a:spcPts val="2520"/>
                </a:lnSpc>
              </a:pPr>
              <a:r>
                <a:rPr lang="en-US" sz="1800" b="0" u="none" strike="noStrike">
                  <a:solidFill>
                    <a:srgbClr val="002060"/>
                  </a:solidFill>
                  <a:effectLst/>
                  <a:uFillTx/>
                  <a:latin typeface="Arimo"/>
                  <a:ea typeface="Arimo"/>
                </a:rPr>
                <a:t>Numeric and Indian-language verbalization needs normalization</a:t>
              </a:r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206" name="Group 42"/>
          <p:cNvGrpSpPr/>
          <p:nvPr/>
        </p:nvGrpSpPr>
        <p:grpSpPr>
          <a:xfrm>
            <a:off x="1352520" y="4014720"/>
            <a:ext cx="3142800" cy="928800"/>
            <a:chOff x="1352520" y="4014720"/>
            <a:chExt cx="3142800" cy="928800"/>
          </a:xfrm>
        </p:grpSpPr>
        <p:sp>
          <p:nvSpPr>
            <p:cNvPr id="207" name="Freeform 43"/>
            <p:cNvSpPr/>
            <p:nvPr/>
          </p:nvSpPr>
          <p:spPr>
            <a:xfrm>
              <a:off x="1352520" y="4057560"/>
              <a:ext cx="3142800" cy="885600"/>
            </a:xfrm>
            <a:custGeom>
              <a:avLst/>
              <a:gdLst>
                <a:gd name="textAreaLeft" fmla="*/ 0 w 3142800"/>
                <a:gd name="textAreaRight" fmla="*/ 3143160 w 3142800"/>
                <a:gd name="textAreaTop" fmla="*/ 0 h 885600"/>
                <a:gd name="textAreaBottom" fmla="*/ 885960 h 885600"/>
              </a:gdLst>
              <a:ahLst/>
              <a:cxnLst/>
              <a:rect l="textAreaLeft" t="textAreaTop" r="textAreaRight" b="textAreaBottom"/>
              <a:pathLst>
                <a:path w="4191000" h="1181507">
                  <a:moveTo>
                    <a:pt x="0" y="0"/>
                  </a:moveTo>
                  <a:lnTo>
                    <a:pt x="4191000" y="0"/>
                  </a:lnTo>
                  <a:lnTo>
                    <a:pt x="4191000" y="1181507"/>
                  </a:lnTo>
                  <a:lnTo>
                    <a:pt x="0" y="1181507"/>
                  </a:lnTo>
                  <a:close/>
                </a:path>
              </a:pathLst>
            </a:custGeom>
            <a:solidFill>
              <a:srgbClr val="FFFFFF"/>
            </a:solidFill>
            <a:ln cap="sq" w="9525">
              <a:solidFill>
                <a:srgbClr val="C9D4EE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8" name="TextBox 44"/>
            <p:cNvSpPr/>
            <p:nvPr/>
          </p:nvSpPr>
          <p:spPr>
            <a:xfrm>
              <a:off x="1352520" y="4014720"/>
              <a:ext cx="3142800" cy="9288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7080" tIns="127080" rIns="127080" bIns="127080" anchor="ctr">
              <a:noAutofit/>
            </a:bodyPr>
            <a:p>
              <a:pPr algn="ctr" defTabSz="914400">
                <a:lnSpc>
                  <a:spcPts val="2520"/>
                </a:lnSpc>
              </a:pPr>
              <a:r>
                <a:rPr lang="en-US" sz="1800" b="0" u="none" strike="noStrike">
                  <a:solidFill>
                    <a:srgbClr val="002060"/>
                  </a:solidFill>
                  <a:effectLst/>
                  <a:uFillTx/>
                  <a:latin typeface="Arimo"/>
                  <a:ea typeface="Arimo"/>
                </a:rPr>
                <a:t>Whisper (Radford et al., 2022)</a:t>
              </a:r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209" name="Group 45"/>
          <p:cNvGrpSpPr/>
          <p:nvPr/>
        </p:nvGrpSpPr>
        <p:grpSpPr>
          <a:xfrm>
            <a:off x="4495680" y="4014720"/>
            <a:ext cx="3142800" cy="747360"/>
            <a:chOff x="4495680" y="4014720"/>
            <a:chExt cx="3142800" cy="747360"/>
          </a:xfrm>
        </p:grpSpPr>
        <p:sp>
          <p:nvSpPr>
            <p:cNvPr id="210" name="Freeform 46"/>
            <p:cNvSpPr/>
            <p:nvPr/>
          </p:nvSpPr>
          <p:spPr>
            <a:xfrm>
              <a:off x="4495680" y="4057560"/>
              <a:ext cx="3142800" cy="704520"/>
            </a:xfrm>
            <a:custGeom>
              <a:avLst/>
              <a:gdLst>
                <a:gd name="textAreaLeft" fmla="*/ 0 w 3142800"/>
                <a:gd name="textAreaRight" fmla="*/ 3143160 w 3142800"/>
                <a:gd name="textAreaTop" fmla="*/ 0 h 704520"/>
                <a:gd name="textAreaBottom" fmla="*/ 704880 h 704520"/>
              </a:gdLst>
              <a:ahLst/>
              <a:cxnLst/>
              <a:rect l="textAreaLeft" t="textAreaTop" r="textAreaRight" b="textAreaBottom"/>
              <a:pathLst>
                <a:path w="4191000" h="939800">
                  <a:moveTo>
                    <a:pt x="0" y="0"/>
                  </a:moveTo>
                  <a:lnTo>
                    <a:pt x="4191000" y="0"/>
                  </a:lnTo>
                  <a:lnTo>
                    <a:pt x="4191000" y="939800"/>
                  </a:lnTo>
                  <a:lnTo>
                    <a:pt x="0" y="939800"/>
                  </a:lnTo>
                  <a:close/>
                </a:path>
              </a:pathLst>
            </a:custGeom>
            <a:solidFill>
              <a:srgbClr val="FFFFFF"/>
            </a:solidFill>
            <a:ln cap="sq" w="9525">
              <a:solidFill>
                <a:srgbClr val="C9D4EE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1" name="TextBox 47"/>
            <p:cNvSpPr/>
            <p:nvPr/>
          </p:nvSpPr>
          <p:spPr>
            <a:xfrm>
              <a:off x="4495680" y="4014720"/>
              <a:ext cx="3142800" cy="7473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7080" tIns="127080" rIns="127080" bIns="127080" anchor="ctr">
              <a:noAutofit/>
            </a:bodyPr>
            <a:p>
              <a:pPr algn="ctr" defTabSz="914400">
                <a:lnSpc>
                  <a:spcPts val="2520"/>
                </a:lnSpc>
              </a:pPr>
              <a:r>
                <a:rPr lang="en-US" sz="1800" b="0" u="none" strike="noStrike">
                  <a:solidFill>
                    <a:srgbClr val="002060"/>
                  </a:solidFill>
                  <a:effectLst/>
                  <a:uFillTx/>
                  <a:latin typeface="Arimo"/>
                  <a:ea typeface="Arimo"/>
                </a:rPr>
                <a:t>Multilingual ASR</a:t>
              </a:r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212" name="Group 48"/>
          <p:cNvGrpSpPr/>
          <p:nvPr/>
        </p:nvGrpSpPr>
        <p:grpSpPr>
          <a:xfrm>
            <a:off x="7639200" y="4014720"/>
            <a:ext cx="3809520" cy="747360"/>
            <a:chOff x="7639200" y="4014720"/>
            <a:chExt cx="3809520" cy="747360"/>
          </a:xfrm>
        </p:grpSpPr>
        <p:sp>
          <p:nvSpPr>
            <p:cNvPr id="213" name="Freeform 49"/>
            <p:cNvSpPr/>
            <p:nvPr/>
          </p:nvSpPr>
          <p:spPr>
            <a:xfrm>
              <a:off x="7639200" y="4057560"/>
              <a:ext cx="3809520" cy="704520"/>
            </a:xfrm>
            <a:custGeom>
              <a:avLst/>
              <a:gdLst>
                <a:gd name="textAreaLeft" fmla="*/ 0 w 3809520"/>
                <a:gd name="textAreaRight" fmla="*/ 3809880 w 3809520"/>
                <a:gd name="textAreaTop" fmla="*/ 0 h 704520"/>
                <a:gd name="textAreaBottom" fmla="*/ 704880 h 704520"/>
              </a:gdLst>
              <a:ahLst/>
              <a:cxnLst/>
              <a:rect l="textAreaLeft" t="textAreaTop" r="textAreaRight" b="textAreaBottom"/>
              <a:pathLst>
                <a:path w="5080000" h="939800">
                  <a:moveTo>
                    <a:pt x="0" y="0"/>
                  </a:moveTo>
                  <a:lnTo>
                    <a:pt x="5080000" y="0"/>
                  </a:lnTo>
                  <a:lnTo>
                    <a:pt x="5080000" y="939800"/>
                  </a:lnTo>
                  <a:lnTo>
                    <a:pt x="0" y="939800"/>
                  </a:lnTo>
                  <a:close/>
                </a:path>
              </a:pathLst>
            </a:custGeom>
            <a:solidFill>
              <a:srgbClr val="FFFFFF"/>
            </a:solidFill>
            <a:ln cap="sq" w="9525">
              <a:solidFill>
                <a:srgbClr val="C9D4EE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4" name="TextBox 50"/>
            <p:cNvSpPr/>
            <p:nvPr/>
          </p:nvSpPr>
          <p:spPr>
            <a:xfrm>
              <a:off x="7639200" y="4014720"/>
              <a:ext cx="3809520" cy="7473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7080" tIns="127080" rIns="127080" bIns="127080" anchor="ctr">
              <a:noAutofit/>
            </a:bodyPr>
            <a:p>
              <a:pPr algn="ctr" defTabSz="914400">
                <a:lnSpc>
                  <a:spcPts val="2520"/>
                </a:lnSpc>
              </a:pPr>
              <a:r>
                <a:rPr lang="en-US" sz="1800" b="0" u="none" strike="noStrike">
                  <a:solidFill>
                    <a:srgbClr val="002060"/>
                  </a:solidFill>
                  <a:effectLst/>
                  <a:uFillTx/>
                  <a:latin typeface="Arimo"/>
                  <a:ea typeface="Arimo"/>
                </a:rPr>
                <a:t>Speech recognition baseline</a:t>
              </a:r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215" name="Group 51"/>
          <p:cNvGrpSpPr/>
          <p:nvPr/>
        </p:nvGrpSpPr>
        <p:grpSpPr>
          <a:xfrm>
            <a:off x="11449080" y="4014720"/>
            <a:ext cx="5486040" cy="747360"/>
            <a:chOff x="11449080" y="4014720"/>
            <a:chExt cx="5486040" cy="747360"/>
          </a:xfrm>
        </p:grpSpPr>
        <p:sp>
          <p:nvSpPr>
            <p:cNvPr id="216" name="Freeform 52"/>
            <p:cNvSpPr/>
            <p:nvPr/>
          </p:nvSpPr>
          <p:spPr>
            <a:xfrm>
              <a:off x="11449080" y="4057560"/>
              <a:ext cx="5486040" cy="704520"/>
            </a:xfrm>
            <a:custGeom>
              <a:avLst/>
              <a:gdLst>
                <a:gd name="textAreaLeft" fmla="*/ 0 w 5486040"/>
                <a:gd name="textAreaRight" fmla="*/ 5486400 w 5486040"/>
                <a:gd name="textAreaTop" fmla="*/ 0 h 704520"/>
                <a:gd name="textAreaBottom" fmla="*/ 704880 h 704520"/>
              </a:gdLst>
              <a:ahLst/>
              <a:cxnLst/>
              <a:rect l="textAreaLeft" t="textAreaTop" r="textAreaRight" b="textAreaBottom"/>
              <a:pathLst>
                <a:path w="7315200" h="939800">
                  <a:moveTo>
                    <a:pt x="0" y="0"/>
                  </a:moveTo>
                  <a:lnTo>
                    <a:pt x="7315200" y="0"/>
                  </a:lnTo>
                  <a:lnTo>
                    <a:pt x="7315200" y="939800"/>
                  </a:lnTo>
                  <a:lnTo>
                    <a:pt x="0" y="939800"/>
                  </a:lnTo>
                  <a:close/>
                </a:path>
              </a:pathLst>
            </a:custGeom>
            <a:solidFill>
              <a:srgbClr val="FFFFFF"/>
            </a:solidFill>
            <a:ln cap="sq" w="9525">
              <a:solidFill>
                <a:srgbClr val="C9D4EE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7" name="TextBox 53"/>
            <p:cNvSpPr/>
            <p:nvPr/>
          </p:nvSpPr>
          <p:spPr>
            <a:xfrm>
              <a:off x="11449080" y="4014720"/>
              <a:ext cx="5486040" cy="7473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7080" tIns="127080" rIns="127080" bIns="127080" anchor="ctr">
              <a:noAutofit/>
            </a:bodyPr>
            <a:p>
              <a:pPr algn="ctr" defTabSz="914400">
                <a:lnSpc>
                  <a:spcPts val="2520"/>
                </a:lnSpc>
              </a:pPr>
              <a:r>
                <a:rPr lang="en-US" sz="1800" b="0" u="none" strike="noStrike">
                  <a:solidFill>
                    <a:srgbClr val="002060"/>
                  </a:solidFill>
                  <a:effectLst/>
                  <a:uFillTx/>
                  <a:latin typeface="Arimo"/>
                  <a:ea typeface="Arimo"/>
                </a:rPr>
                <a:t>Low-resource dialect coverage; local compute limits</a:t>
              </a:r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218" name="Group 54"/>
          <p:cNvGrpSpPr/>
          <p:nvPr/>
        </p:nvGrpSpPr>
        <p:grpSpPr>
          <a:xfrm>
            <a:off x="1352520" y="4719600"/>
            <a:ext cx="3142800" cy="928800"/>
            <a:chOff x="1352520" y="4719600"/>
            <a:chExt cx="3142800" cy="928800"/>
          </a:xfrm>
        </p:grpSpPr>
        <p:sp>
          <p:nvSpPr>
            <p:cNvPr id="219" name="Freeform 55"/>
            <p:cNvSpPr/>
            <p:nvPr/>
          </p:nvSpPr>
          <p:spPr>
            <a:xfrm>
              <a:off x="1352520" y="4762440"/>
              <a:ext cx="3142800" cy="885600"/>
            </a:xfrm>
            <a:custGeom>
              <a:avLst/>
              <a:gdLst>
                <a:gd name="textAreaLeft" fmla="*/ 0 w 3142800"/>
                <a:gd name="textAreaRight" fmla="*/ 3143160 w 3142800"/>
                <a:gd name="textAreaTop" fmla="*/ 0 h 885600"/>
                <a:gd name="textAreaBottom" fmla="*/ 885960 h 885600"/>
              </a:gdLst>
              <a:ahLst/>
              <a:cxnLst/>
              <a:rect l="textAreaLeft" t="textAreaTop" r="textAreaRight" b="textAreaBottom"/>
              <a:pathLst>
                <a:path w="4191000" h="1181507">
                  <a:moveTo>
                    <a:pt x="0" y="0"/>
                  </a:moveTo>
                  <a:lnTo>
                    <a:pt x="4191000" y="0"/>
                  </a:lnTo>
                  <a:lnTo>
                    <a:pt x="4191000" y="1181507"/>
                  </a:lnTo>
                  <a:lnTo>
                    <a:pt x="0" y="1181507"/>
                  </a:lnTo>
                  <a:close/>
                </a:path>
              </a:pathLst>
            </a:custGeom>
            <a:solidFill>
              <a:srgbClr val="E8EDF9"/>
            </a:solidFill>
            <a:ln cap="sq" w="9525">
              <a:solidFill>
                <a:srgbClr val="C9D4EE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0" name="TextBox 56"/>
            <p:cNvSpPr/>
            <p:nvPr/>
          </p:nvSpPr>
          <p:spPr>
            <a:xfrm>
              <a:off x="1352520" y="4719600"/>
              <a:ext cx="3142800" cy="9288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7080" tIns="127080" rIns="127080" bIns="127080" anchor="ctr">
              <a:noAutofit/>
            </a:bodyPr>
            <a:p>
              <a:pPr algn="ctr" defTabSz="914400">
                <a:lnSpc>
                  <a:spcPts val="2520"/>
                </a:lnSpc>
              </a:pPr>
              <a:r>
                <a:rPr lang="en-US" sz="1800" b="0" u="none" strike="noStrike">
                  <a:solidFill>
                    <a:srgbClr val="002060"/>
                  </a:solidFill>
                  <a:effectLst/>
                  <a:uFillTx/>
                  <a:latin typeface="Arimo"/>
                  <a:ea typeface="Arimo"/>
                </a:rPr>
                <a:t>FrugalGPT (Chen et al., NeurIPS 2023)</a:t>
              </a:r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221" name="Group 57"/>
          <p:cNvGrpSpPr/>
          <p:nvPr/>
        </p:nvGrpSpPr>
        <p:grpSpPr>
          <a:xfrm>
            <a:off x="4495680" y="4719600"/>
            <a:ext cx="3142800" cy="928800"/>
            <a:chOff x="4495680" y="4719600"/>
            <a:chExt cx="3142800" cy="928800"/>
          </a:xfrm>
        </p:grpSpPr>
        <p:sp>
          <p:nvSpPr>
            <p:cNvPr id="222" name="Freeform 58"/>
            <p:cNvSpPr/>
            <p:nvPr/>
          </p:nvSpPr>
          <p:spPr>
            <a:xfrm>
              <a:off x="4495680" y="4762440"/>
              <a:ext cx="3142800" cy="885600"/>
            </a:xfrm>
            <a:custGeom>
              <a:avLst/>
              <a:gdLst>
                <a:gd name="textAreaLeft" fmla="*/ 0 w 3142800"/>
                <a:gd name="textAreaRight" fmla="*/ 3143160 w 3142800"/>
                <a:gd name="textAreaTop" fmla="*/ 0 h 885600"/>
                <a:gd name="textAreaBottom" fmla="*/ 885960 h 885600"/>
              </a:gdLst>
              <a:ahLst/>
              <a:cxnLst/>
              <a:rect l="textAreaLeft" t="textAreaTop" r="textAreaRight" b="textAreaBottom"/>
              <a:pathLst>
                <a:path w="4191000" h="1181507">
                  <a:moveTo>
                    <a:pt x="0" y="0"/>
                  </a:moveTo>
                  <a:lnTo>
                    <a:pt x="4191000" y="0"/>
                  </a:lnTo>
                  <a:lnTo>
                    <a:pt x="4191000" y="1181507"/>
                  </a:lnTo>
                  <a:lnTo>
                    <a:pt x="0" y="1181507"/>
                  </a:lnTo>
                  <a:close/>
                </a:path>
              </a:pathLst>
            </a:custGeom>
            <a:solidFill>
              <a:srgbClr val="E8EDF9"/>
            </a:solidFill>
            <a:ln cap="sq" w="9525">
              <a:solidFill>
                <a:srgbClr val="C9D4EE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3" name="TextBox 59"/>
            <p:cNvSpPr/>
            <p:nvPr/>
          </p:nvSpPr>
          <p:spPr>
            <a:xfrm>
              <a:off x="4495680" y="4719600"/>
              <a:ext cx="3142800" cy="9288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7080" tIns="127080" rIns="127080" bIns="127080" anchor="ctr">
              <a:noAutofit/>
            </a:bodyPr>
            <a:p>
              <a:pPr algn="ctr" defTabSz="914400">
                <a:lnSpc>
                  <a:spcPts val="2520"/>
                </a:lnSpc>
              </a:pPr>
              <a:r>
                <a:rPr lang="en-US" sz="1800" b="0" u="none" strike="noStrike">
                  <a:solidFill>
                    <a:srgbClr val="002060"/>
                  </a:solidFill>
                  <a:effectLst/>
                  <a:uFillTx/>
                  <a:latin typeface="Arimo"/>
                  <a:ea typeface="Arimo"/>
                </a:rPr>
                <a:t>LLM cascading, cost reduction</a:t>
              </a:r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224" name="Group 60"/>
          <p:cNvGrpSpPr/>
          <p:nvPr/>
        </p:nvGrpSpPr>
        <p:grpSpPr>
          <a:xfrm>
            <a:off x="7639200" y="4719600"/>
            <a:ext cx="3809520" cy="928800"/>
            <a:chOff x="7639200" y="4719600"/>
            <a:chExt cx="3809520" cy="928800"/>
          </a:xfrm>
        </p:grpSpPr>
        <p:sp>
          <p:nvSpPr>
            <p:cNvPr id="225" name="Freeform 61"/>
            <p:cNvSpPr/>
            <p:nvPr/>
          </p:nvSpPr>
          <p:spPr>
            <a:xfrm>
              <a:off x="7639200" y="4762440"/>
              <a:ext cx="3809520" cy="885600"/>
            </a:xfrm>
            <a:custGeom>
              <a:avLst/>
              <a:gdLst>
                <a:gd name="textAreaLeft" fmla="*/ 0 w 3809520"/>
                <a:gd name="textAreaRight" fmla="*/ 3809880 w 3809520"/>
                <a:gd name="textAreaTop" fmla="*/ 0 h 885600"/>
                <a:gd name="textAreaBottom" fmla="*/ 885960 h 885600"/>
              </a:gdLst>
              <a:ahLst/>
              <a:cxnLst/>
              <a:rect l="textAreaLeft" t="textAreaTop" r="textAreaRight" b="textAreaBottom"/>
              <a:pathLst>
                <a:path w="5080000" h="1181507">
                  <a:moveTo>
                    <a:pt x="0" y="0"/>
                  </a:moveTo>
                  <a:lnTo>
                    <a:pt x="5080000" y="0"/>
                  </a:lnTo>
                  <a:lnTo>
                    <a:pt x="5080000" y="1181507"/>
                  </a:lnTo>
                  <a:lnTo>
                    <a:pt x="0" y="1181507"/>
                  </a:lnTo>
                  <a:close/>
                </a:path>
              </a:pathLst>
            </a:custGeom>
            <a:solidFill>
              <a:srgbClr val="E8EDF9"/>
            </a:solidFill>
            <a:ln cap="sq" w="9525">
              <a:solidFill>
                <a:srgbClr val="C9D4EE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6" name="TextBox 62"/>
            <p:cNvSpPr/>
            <p:nvPr/>
          </p:nvSpPr>
          <p:spPr>
            <a:xfrm>
              <a:off x="7639200" y="4719600"/>
              <a:ext cx="3809520" cy="9288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7080" tIns="127080" rIns="127080" bIns="127080" anchor="ctr">
              <a:noAutofit/>
            </a:bodyPr>
            <a:p>
              <a:pPr algn="ctr" defTabSz="914400">
                <a:lnSpc>
                  <a:spcPts val="2520"/>
                </a:lnSpc>
              </a:pPr>
              <a:r>
                <a:rPr lang="en-US" sz="1800" b="0" u="none" strike="noStrike">
                  <a:solidFill>
                    <a:srgbClr val="002060"/>
                  </a:solidFill>
                  <a:effectLst/>
                  <a:uFillTx/>
                  <a:latin typeface="Arimo"/>
                  <a:ea typeface="Arimo"/>
                </a:rPr>
                <a:t>Deterministic shortcuts, selective model use</a:t>
              </a:r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227" name="Group 63"/>
          <p:cNvGrpSpPr/>
          <p:nvPr/>
        </p:nvGrpSpPr>
        <p:grpSpPr>
          <a:xfrm>
            <a:off x="11449080" y="4719600"/>
            <a:ext cx="5486040" cy="747360"/>
            <a:chOff x="11449080" y="4719600"/>
            <a:chExt cx="5486040" cy="747360"/>
          </a:xfrm>
        </p:grpSpPr>
        <p:sp>
          <p:nvSpPr>
            <p:cNvPr id="228" name="Freeform 64"/>
            <p:cNvSpPr/>
            <p:nvPr/>
          </p:nvSpPr>
          <p:spPr>
            <a:xfrm>
              <a:off x="11449080" y="4762440"/>
              <a:ext cx="5486040" cy="704520"/>
            </a:xfrm>
            <a:custGeom>
              <a:avLst/>
              <a:gdLst>
                <a:gd name="textAreaLeft" fmla="*/ 0 w 5486040"/>
                <a:gd name="textAreaRight" fmla="*/ 5486400 w 5486040"/>
                <a:gd name="textAreaTop" fmla="*/ 0 h 704520"/>
                <a:gd name="textAreaBottom" fmla="*/ 704880 h 704520"/>
              </a:gdLst>
              <a:ahLst/>
              <a:cxnLst/>
              <a:rect l="textAreaLeft" t="textAreaTop" r="textAreaRight" b="textAreaBottom"/>
              <a:pathLst>
                <a:path w="7315200" h="939800">
                  <a:moveTo>
                    <a:pt x="0" y="0"/>
                  </a:moveTo>
                  <a:lnTo>
                    <a:pt x="7315200" y="0"/>
                  </a:lnTo>
                  <a:lnTo>
                    <a:pt x="7315200" y="939800"/>
                  </a:lnTo>
                  <a:lnTo>
                    <a:pt x="0" y="939800"/>
                  </a:lnTo>
                  <a:close/>
                </a:path>
              </a:pathLst>
            </a:custGeom>
            <a:solidFill>
              <a:srgbClr val="E8EDF9"/>
            </a:solidFill>
            <a:ln cap="sq" w="9525">
              <a:solidFill>
                <a:srgbClr val="C9D4EE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9" name="TextBox 65"/>
            <p:cNvSpPr/>
            <p:nvPr/>
          </p:nvSpPr>
          <p:spPr>
            <a:xfrm>
              <a:off x="11449080" y="4719600"/>
              <a:ext cx="5486040" cy="7473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7080" tIns="127080" rIns="127080" bIns="127080" anchor="ctr">
              <a:noAutofit/>
            </a:bodyPr>
            <a:p>
              <a:pPr algn="ctr" defTabSz="914400">
                <a:lnSpc>
                  <a:spcPts val="2520"/>
                </a:lnSpc>
              </a:pPr>
              <a:r>
                <a:rPr lang="en-US" sz="1800" b="0" u="none" strike="noStrike">
                  <a:solidFill>
                    <a:srgbClr val="002060"/>
                  </a:solidFill>
                  <a:effectLst/>
                  <a:uFillTx/>
                  <a:latin typeface="Arimo"/>
                  <a:ea typeface="Arimo"/>
                </a:rPr>
                <a:t>Assumes cloud-centric deployment</a:t>
              </a:r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230" name="Group 66"/>
          <p:cNvGrpSpPr/>
          <p:nvPr/>
        </p:nvGrpSpPr>
        <p:grpSpPr>
          <a:xfrm>
            <a:off x="1352520" y="5424480"/>
            <a:ext cx="3142800" cy="928800"/>
            <a:chOff x="1352520" y="5424480"/>
            <a:chExt cx="3142800" cy="928800"/>
          </a:xfrm>
        </p:grpSpPr>
        <p:sp>
          <p:nvSpPr>
            <p:cNvPr id="231" name="Freeform 67"/>
            <p:cNvSpPr/>
            <p:nvPr/>
          </p:nvSpPr>
          <p:spPr>
            <a:xfrm>
              <a:off x="1352520" y="5467320"/>
              <a:ext cx="3142800" cy="885600"/>
            </a:xfrm>
            <a:custGeom>
              <a:avLst/>
              <a:gdLst>
                <a:gd name="textAreaLeft" fmla="*/ 0 w 3142800"/>
                <a:gd name="textAreaRight" fmla="*/ 3143160 w 3142800"/>
                <a:gd name="textAreaTop" fmla="*/ 0 h 885600"/>
                <a:gd name="textAreaBottom" fmla="*/ 885960 h 885600"/>
              </a:gdLst>
              <a:ahLst/>
              <a:cxnLst/>
              <a:rect l="textAreaLeft" t="textAreaTop" r="textAreaRight" b="textAreaBottom"/>
              <a:pathLst>
                <a:path w="4191000" h="1181507">
                  <a:moveTo>
                    <a:pt x="0" y="0"/>
                  </a:moveTo>
                  <a:lnTo>
                    <a:pt x="4191000" y="0"/>
                  </a:lnTo>
                  <a:lnTo>
                    <a:pt x="4191000" y="1181507"/>
                  </a:lnTo>
                  <a:lnTo>
                    <a:pt x="0" y="1181507"/>
                  </a:lnTo>
                  <a:close/>
                </a:path>
              </a:pathLst>
            </a:custGeom>
            <a:solidFill>
              <a:srgbClr val="FFFFFF"/>
            </a:solidFill>
            <a:ln cap="sq" w="9525">
              <a:solidFill>
                <a:srgbClr val="C9D4EE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2" name="TextBox 68"/>
            <p:cNvSpPr/>
            <p:nvPr/>
          </p:nvSpPr>
          <p:spPr>
            <a:xfrm>
              <a:off x="1352520" y="5424480"/>
              <a:ext cx="3142800" cy="9288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7080" tIns="127080" rIns="127080" bIns="127080" anchor="ctr">
              <a:noAutofit/>
            </a:bodyPr>
            <a:p>
              <a:pPr algn="ctr" defTabSz="914400">
                <a:lnSpc>
                  <a:spcPts val="2520"/>
                </a:lnSpc>
              </a:pPr>
              <a:r>
                <a:rPr lang="en-US" sz="1800" b="0" u="none" strike="noStrike">
                  <a:solidFill>
                    <a:srgbClr val="002060"/>
                  </a:solidFill>
                  <a:effectLst/>
                  <a:uFillTx/>
                  <a:latin typeface="Arimo"/>
                  <a:ea typeface="Arimo"/>
                </a:rPr>
                <a:t>Meta MMS (Pratap et al., 2023)</a:t>
              </a:r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233" name="Group 69"/>
          <p:cNvGrpSpPr/>
          <p:nvPr/>
        </p:nvGrpSpPr>
        <p:grpSpPr>
          <a:xfrm>
            <a:off x="4495680" y="5424480"/>
            <a:ext cx="3142800" cy="928800"/>
            <a:chOff x="4495680" y="5424480"/>
            <a:chExt cx="3142800" cy="928800"/>
          </a:xfrm>
        </p:grpSpPr>
        <p:sp>
          <p:nvSpPr>
            <p:cNvPr id="234" name="Freeform 70"/>
            <p:cNvSpPr/>
            <p:nvPr/>
          </p:nvSpPr>
          <p:spPr>
            <a:xfrm>
              <a:off x="4495680" y="5467320"/>
              <a:ext cx="3142800" cy="885600"/>
            </a:xfrm>
            <a:custGeom>
              <a:avLst/>
              <a:gdLst>
                <a:gd name="textAreaLeft" fmla="*/ 0 w 3142800"/>
                <a:gd name="textAreaRight" fmla="*/ 3143160 w 3142800"/>
                <a:gd name="textAreaTop" fmla="*/ 0 h 885600"/>
                <a:gd name="textAreaBottom" fmla="*/ 885960 h 885600"/>
              </a:gdLst>
              <a:ahLst/>
              <a:cxnLst/>
              <a:rect l="textAreaLeft" t="textAreaTop" r="textAreaRight" b="textAreaBottom"/>
              <a:pathLst>
                <a:path w="4191000" h="1181507">
                  <a:moveTo>
                    <a:pt x="0" y="0"/>
                  </a:moveTo>
                  <a:lnTo>
                    <a:pt x="4191000" y="0"/>
                  </a:lnTo>
                  <a:lnTo>
                    <a:pt x="4191000" y="1181507"/>
                  </a:lnTo>
                  <a:lnTo>
                    <a:pt x="0" y="1181507"/>
                  </a:lnTo>
                  <a:close/>
                </a:path>
              </a:pathLst>
            </a:custGeom>
            <a:solidFill>
              <a:srgbClr val="FFFFFF"/>
            </a:solidFill>
            <a:ln cap="sq" w="9525">
              <a:solidFill>
                <a:srgbClr val="C9D4EE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5" name="TextBox 71"/>
            <p:cNvSpPr/>
            <p:nvPr/>
          </p:nvSpPr>
          <p:spPr>
            <a:xfrm>
              <a:off x="4495680" y="5424480"/>
              <a:ext cx="3142800" cy="9288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7080" tIns="127080" rIns="127080" bIns="127080" anchor="ctr">
              <a:noAutofit/>
            </a:bodyPr>
            <a:p>
              <a:pPr algn="ctr" defTabSz="914400">
                <a:lnSpc>
                  <a:spcPts val="2520"/>
                </a:lnSpc>
              </a:pPr>
              <a:r>
                <a:rPr lang="en-US" sz="1800" b="0" u="none" strike="noStrike">
                  <a:solidFill>
                    <a:srgbClr val="002060"/>
                  </a:solidFill>
                  <a:effectLst/>
                  <a:uFillTx/>
                  <a:latin typeface="Arimo"/>
                  <a:ea typeface="Arimo"/>
                </a:rPr>
                <a:t>Multilingual Wav2Vec2 / CTC adapters</a:t>
              </a:r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236" name="Group 72"/>
          <p:cNvGrpSpPr/>
          <p:nvPr/>
        </p:nvGrpSpPr>
        <p:grpSpPr>
          <a:xfrm>
            <a:off x="7639200" y="5424480"/>
            <a:ext cx="3809520" cy="747360"/>
            <a:chOff x="7639200" y="5424480"/>
            <a:chExt cx="3809520" cy="747360"/>
          </a:xfrm>
        </p:grpSpPr>
        <p:sp>
          <p:nvSpPr>
            <p:cNvPr id="237" name="Freeform 73"/>
            <p:cNvSpPr/>
            <p:nvPr/>
          </p:nvSpPr>
          <p:spPr>
            <a:xfrm>
              <a:off x="7639200" y="5467320"/>
              <a:ext cx="3809520" cy="704520"/>
            </a:xfrm>
            <a:custGeom>
              <a:avLst/>
              <a:gdLst>
                <a:gd name="textAreaLeft" fmla="*/ 0 w 3809520"/>
                <a:gd name="textAreaRight" fmla="*/ 3809880 w 3809520"/>
                <a:gd name="textAreaTop" fmla="*/ 0 h 704520"/>
                <a:gd name="textAreaBottom" fmla="*/ 704880 h 704520"/>
              </a:gdLst>
              <a:ahLst/>
              <a:cxnLst/>
              <a:rect l="textAreaLeft" t="textAreaTop" r="textAreaRight" b="textAreaBottom"/>
              <a:pathLst>
                <a:path w="5080000" h="939800">
                  <a:moveTo>
                    <a:pt x="0" y="0"/>
                  </a:moveTo>
                  <a:lnTo>
                    <a:pt x="5080000" y="0"/>
                  </a:lnTo>
                  <a:lnTo>
                    <a:pt x="5080000" y="939800"/>
                  </a:lnTo>
                  <a:lnTo>
                    <a:pt x="0" y="939800"/>
                  </a:lnTo>
                  <a:close/>
                </a:path>
              </a:pathLst>
            </a:custGeom>
            <a:solidFill>
              <a:srgbClr val="FFFFFF"/>
            </a:solidFill>
            <a:ln cap="sq" w="9525">
              <a:solidFill>
                <a:srgbClr val="C9D4EE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8" name="TextBox 74"/>
            <p:cNvSpPr/>
            <p:nvPr/>
          </p:nvSpPr>
          <p:spPr>
            <a:xfrm>
              <a:off x="7639200" y="5424480"/>
              <a:ext cx="3809520" cy="7473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7080" tIns="127080" rIns="127080" bIns="127080" anchor="ctr">
              <a:noAutofit/>
            </a:bodyPr>
            <a:p>
              <a:pPr algn="ctr" defTabSz="914400">
                <a:lnSpc>
                  <a:spcPts val="2520"/>
                </a:lnSpc>
              </a:pPr>
              <a:r>
                <a:rPr lang="en-US" sz="1800" b="0" u="none" strike="noStrike">
                  <a:solidFill>
                    <a:srgbClr val="002060"/>
                  </a:solidFill>
                  <a:effectLst/>
                  <a:uFillTx/>
                  <a:latin typeface="Arimo"/>
                  <a:ea typeface="Arimo"/>
                </a:rPr>
                <a:t>Chhattisgarhi adapter (hne)</a:t>
              </a:r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239" name="Group 75"/>
          <p:cNvGrpSpPr/>
          <p:nvPr/>
        </p:nvGrpSpPr>
        <p:grpSpPr>
          <a:xfrm>
            <a:off x="11449080" y="5424480"/>
            <a:ext cx="5486040" cy="747360"/>
            <a:chOff x="11449080" y="5424480"/>
            <a:chExt cx="5486040" cy="747360"/>
          </a:xfrm>
        </p:grpSpPr>
        <p:sp>
          <p:nvSpPr>
            <p:cNvPr id="240" name="Freeform 76"/>
            <p:cNvSpPr/>
            <p:nvPr/>
          </p:nvSpPr>
          <p:spPr>
            <a:xfrm>
              <a:off x="11449080" y="5467320"/>
              <a:ext cx="5486040" cy="704520"/>
            </a:xfrm>
            <a:custGeom>
              <a:avLst/>
              <a:gdLst>
                <a:gd name="textAreaLeft" fmla="*/ 0 w 5486040"/>
                <a:gd name="textAreaRight" fmla="*/ 5486400 w 5486040"/>
                <a:gd name="textAreaTop" fmla="*/ 0 h 704520"/>
                <a:gd name="textAreaBottom" fmla="*/ 704880 h 704520"/>
              </a:gdLst>
              <a:ahLst/>
              <a:cxnLst/>
              <a:rect l="textAreaLeft" t="textAreaTop" r="textAreaRight" b="textAreaBottom"/>
              <a:pathLst>
                <a:path w="7315200" h="939800">
                  <a:moveTo>
                    <a:pt x="0" y="0"/>
                  </a:moveTo>
                  <a:lnTo>
                    <a:pt x="7315200" y="0"/>
                  </a:lnTo>
                  <a:lnTo>
                    <a:pt x="7315200" y="939800"/>
                  </a:lnTo>
                  <a:lnTo>
                    <a:pt x="0" y="939800"/>
                  </a:lnTo>
                  <a:close/>
                </a:path>
              </a:pathLst>
            </a:custGeom>
            <a:solidFill>
              <a:srgbClr val="FFFFFF"/>
            </a:solidFill>
            <a:ln cap="sq" w="9525">
              <a:solidFill>
                <a:srgbClr val="C9D4EE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1" name="TextBox 77"/>
            <p:cNvSpPr/>
            <p:nvPr/>
          </p:nvSpPr>
          <p:spPr>
            <a:xfrm>
              <a:off x="11449080" y="5424480"/>
              <a:ext cx="5486040" cy="7473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7080" tIns="127080" rIns="127080" bIns="127080" anchor="ctr">
              <a:noAutofit/>
            </a:bodyPr>
            <a:p>
              <a:pPr algn="ctr" defTabSz="914400">
                <a:lnSpc>
                  <a:spcPts val="2520"/>
                </a:lnSpc>
              </a:pPr>
              <a:r>
                <a:rPr lang="en-US" sz="1800" b="0" u="none" strike="noStrike">
                  <a:solidFill>
                    <a:srgbClr val="002060"/>
                  </a:solidFill>
                  <a:effectLst/>
                  <a:uFillTx/>
                  <a:latin typeface="Arimo"/>
                  <a:ea typeface="Arimo"/>
                </a:rPr>
                <a:t>Devanagari matra repair required</a:t>
              </a:r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242" name="Group 78"/>
          <p:cNvGrpSpPr/>
          <p:nvPr/>
        </p:nvGrpSpPr>
        <p:grpSpPr>
          <a:xfrm>
            <a:off x="1352520" y="6129360"/>
            <a:ext cx="3142800" cy="928800"/>
            <a:chOff x="1352520" y="6129360"/>
            <a:chExt cx="3142800" cy="928800"/>
          </a:xfrm>
        </p:grpSpPr>
        <p:sp>
          <p:nvSpPr>
            <p:cNvPr id="243" name="Freeform 79"/>
            <p:cNvSpPr/>
            <p:nvPr/>
          </p:nvSpPr>
          <p:spPr>
            <a:xfrm>
              <a:off x="1352520" y="6172200"/>
              <a:ext cx="3142800" cy="885600"/>
            </a:xfrm>
            <a:custGeom>
              <a:avLst/>
              <a:gdLst>
                <a:gd name="textAreaLeft" fmla="*/ 0 w 3142800"/>
                <a:gd name="textAreaRight" fmla="*/ 3143160 w 3142800"/>
                <a:gd name="textAreaTop" fmla="*/ 0 h 885600"/>
                <a:gd name="textAreaBottom" fmla="*/ 885960 h 885600"/>
              </a:gdLst>
              <a:ahLst/>
              <a:cxnLst/>
              <a:rect l="textAreaLeft" t="textAreaTop" r="textAreaRight" b="textAreaBottom"/>
              <a:pathLst>
                <a:path w="4191000" h="1181507">
                  <a:moveTo>
                    <a:pt x="0" y="0"/>
                  </a:moveTo>
                  <a:lnTo>
                    <a:pt x="4191000" y="0"/>
                  </a:lnTo>
                  <a:lnTo>
                    <a:pt x="4191000" y="1181507"/>
                  </a:lnTo>
                  <a:lnTo>
                    <a:pt x="0" y="1181507"/>
                  </a:lnTo>
                  <a:close/>
                </a:path>
              </a:pathLst>
            </a:custGeom>
            <a:solidFill>
              <a:srgbClr val="E8EDF9"/>
            </a:solidFill>
            <a:ln cap="sq" w="9525">
              <a:solidFill>
                <a:srgbClr val="C9D4EE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4" name="TextBox 80"/>
            <p:cNvSpPr/>
            <p:nvPr/>
          </p:nvSpPr>
          <p:spPr>
            <a:xfrm>
              <a:off x="1352520" y="6129360"/>
              <a:ext cx="3142800" cy="9288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7080" tIns="127080" rIns="127080" bIns="127080" anchor="ctr">
              <a:noAutofit/>
            </a:bodyPr>
            <a:p>
              <a:pPr algn="ctr" defTabSz="914400">
                <a:lnSpc>
                  <a:spcPts val="2520"/>
                </a:lnSpc>
              </a:pPr>
              <a:r>
                <a:rPr lang="en-US" sz="1800" b="0" u="none" strike="noStrike">
                  <a:solidFill>
                    <a:srgbClr val="002060"/>
                  </a:solidFill>
                  <a:effectLst/>
                  <a:uFillTx/>
                  <a:latin typeface="Arimo"/>
                  <a:ea typeface="Arimo"/>
                </a:rPr>
                <a:t>Adaptive-RAG (Jeong et al., NAACL 2024)</a:t>
              </a:r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245" name="Group 81"/>
          <p:cNvGrpSpPr/>
          <p:nvPr/>
        </p:nvGrpSpPr>
        <p:grpSpPr>
          <a:xfrm>
            <a:off x="4495680" y="6129360"/>
            <a:ext cx="3142800" cy="747360"/>
            <a:chOff x="4495680" y="6129360"/>
            <a:chExt cx="3142800" cy="747360"/>
          </a:xfrm>
        </p:grpSpPr>
        <p:sp>
          <p:nvSpPr>
            <p:cNvPr id="246" name="Freeform 82"/>
            <p:cNvSpPr/>
            <p:nvPr/>
          </p:nvSpPr>
          <p:spPr>
            <a:xfrm>
              <a:off x="4495680" y="6172200"/>
              <a:ext cx="3142800" cy="704520"/>
            </a:xfrm>
            <a:custGeom>
              <a:avLst/>
              <a:gdLst>
                <a:gd name="textAreaLeft" fmla="*/ 0 w 3142800"/>
                <a:gd name="textAreaRight" fmla="*/ 3143160 w 3142800"/>
                <a:gd name="textAreaTop" fmla="*/ 0 h 704520"/>
                <a:gd name="textAreaBottom" fmla="*/ 704880 h 704520"/>
              </a:gdLst>
              <a:ahLst/>
              <a:cxnLst/>
              <a:rect l="textAreaLeft" t="textAreaTop" r="textAreaRight" b="textAreaBottom"/>
              <a:pathLst>
                <a:path w="4191000" h="939800">
                  <a:moveTo>
                    <a:pt x="0" y="0"/>
                  </a:moveTo>
                  <a:lnTo>
                    <a:pt x="4191000" y="0"/>
                  </a:lnTo>
                  <a:lnTo>
                    <a:pt x="4191000" y="939800"/>
                  </a:lnTo>
                  <a:lnTo>
                    <a:pt x="0" y="939800"/>
                  </a:lnTo>
                  <a:close/>
                </a:path>
              </a:pathLst>
            </a:custGeom>
            <a:solidFill>
              <a:srgbClr val="E8EDF9"/>
            </a:solidFill>
            <a:ln cap="sq" w="9525">
              <a:solidFill>
                <a:srgbClr val="C9D4EE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7" name="TextBox 83"/>
            <p:cNvSpPr/>
            <p:nvPr/>
          </p:nvSpPr>
          <p:spPr>
            <a:xfrm>
              <a:off x="4495680" y="6129360"/>
              <a:ext cx="3142800" cy="7473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7080" tIns="127080" rIns="127080" bIns="127080" anchor="ctr">
              <a:noAutofit/>
            </a:bodyPr>
            <a:p>
              <a:pPr algn="ctr" defTabSz="914400">
                <a:lnSpc>
                  <a:spcPts val="2520"/>
                </a:lnSpc>
              </a:pPr>
              <a:r>
                <a:rPr lang="en-US" sz="1800" b="0" u="none" strike="noStrike">
                  <a:solidFill>
                    <a:srgbClr val="002060"/>
                  </a:solidFill>
                  <a:effectLst/>
                  <a:uFillTx/>
                  <a:latin typeface="Arimo"/>
                  <a:ea typeface="Arimo"/>
                </a:rPr>
                <a:t>Query-complexity routing</a:t>
              </a:r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248" name="Group 84"/>
          <p:cNvGrpSpPr/>
          <p:nvPr/>
        </p:nvGrpSpPr>
        <p:grpSpPr>
          <a:xfrm>
            <a:off x="7639200" y="6129360"/>
            <a:ext cx="3809520" cy="747360"/>
            <a:chOff x="7639200" y="6129360"/>
            <a:chExt cx="3809520" cy="747360"/>
          </a:xfrm>
        </p:grpSpPr>
        <p:sp>
          <p:nvSpPr>
            <p:cNvPr id="249" name="Freeform 85"/>
            <p:cNvSpPr/>
            <p:nvPr/>
          </p:nvSpPr>
          <p:spPr>
            <a:xfrm>
              <a:off x="7639200" y="6172200"/>
              <a:ext cx="3809520" cy="704520"/>
            </a:xfrm>
            <a:custGeom>
              <a:avLst/>
              <a:gdLst>
                <a:gd name="textAreaLeft" fmla="*/ 0 w 3809520"/>
                <a:gd name="textAreaRight" fmla="*/ 3809880 w 3809520"/>
                <a:gd name="textAreaTop" fmla="*/ 0 h 704520"/>
                <a:gd name="textAreaBottom" fmla="*/ 704880 h 704520"/>
              </a:gdLst>
              <a:ahLst/>
              <a:cxnLst/>
              <a:rect l="textAreaLeft" t="textAreaTop" r="textAreaRight" b="textAreaBottom"/>
              <a:pathLst>
                <a:path w="5080000" h="939800">
                  <a:moveTo>
                    <a:pt x="0" y="0"/>
                  </a:moveTo>
                  <a:lnTo>
                    <a:pt x="5080000" y="0"/>
                  </a:lnTo>
                  <a:lnTo>
                    <a:pt x="5080000" y="939800"/>
                  </a:lnTo>
                  <a:lnTo>
                    <a:pt x="0" y="939800"/>
                  </a:lnTo>
                  <a:close/>
                </a:path>
              </a:pathLst>
            </a:custGeom>
            <a:solidFill>
              <a:srgbClr val="E8EDF9"/>
            </a:solidFill>
            <a:ln cap="sq" w="9525">
              <a:solidFill>
                <a:srgbClr val="C9D4EE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0" name="TextBox 86"/>
            <p:cNvSpPr/>
            <p:nvPr/>
          </p:nvSpPr>
          <p:spPr>
            <a:xfrm>
              <a:off x="7639200" y="6129360"/>
              <a:ext cx="3809520" cy="7473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7080" tIns="127080" rIns="127080" bIns="127080" anchor="ctr">
              <a:noAutofit/>
            </a:bodyPr>
            <a:p>
              <a:pPr algn="ctr" defTabSz="914400">
                <a:lnSpc>
                  <a:spcPts val="2520"/>
                </a:lnSpc>
              </a:pPr>
              <a:r>
                <a:rPr lang="en-US" sz="1800" b="0" u="none" strike="noStrike">
                  <a:solidFill>
                    <a:srgbClr val="002060"/>
                  </a:solidFill>
                  <a:effectLst/>
                  <a:uFillTx/>
                  <a:latin typeface="Arimo"/>
                  <a:ea typeface="Arimo"/>
                </a:rPr>
                <a:t>Supports retrieval-path decisions</a:t>
              </a:r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251" name="Group 87"/>
          <p:cNvGrpSpPr/>
          <p:nvPr/>
        </p:nvGrpSpPr>
        <p:grpSpPr>
          <a:xfrm>
            <a:off x="11449080" y="6129360"/>
            <a:ext cx="5486040" cy="747360"/>
            <a:chOff x="11449080" y="6129360"/>
            <a:chExt cx="5486040" cy="747360"/>
          </a:xfrm>
        </p:grpSpPr>
        <p:sp>
          <p:nvSpPr>
            <p:cNvPr id="252" name="Freeform 88"/>
            <p:cNvSpPr/>
            <p:nvPr/>
          </p:nvSpPr>
          <p:spPr>
            <a:xfrm>
              <a:off x="11449080" y="6172200"/>
              <a:ext cx="5486040" cy="704520"/>
            </a:xfrm>
            <a:custGeom>
              <a:avLst/>
              <a:gdLst>
                <a:gd name="textAreaLeft" fmla="*/ 0 w 5486040"/>
                <a:gd name="textAreaRight" fmla="*/ 5486400 w 5486040"/>
                <a:gd name="textAreaTop" fmla="*/ 0 h 704520"/>
                <a:gd name="textAreaBottom" fmla="*/ 704880 h 704520"/>
              </a:gdLst>
              <a:ahLst/>
              <a:cxnLst/>
              <a:rect l="textAreaLeft" t="textAreaTop" r="textAreaRight" b="textAreaBottom"/>
              <a:pathLst>
                <a:path w="7315200" h="939800">
                  <a:moveTo>
                    <a:pt x="0" y="0"/>
                  </a:moveTo>
                  <a:lnTo>
                    <a:pt x="7315200" y="0"/>
                  </a:lnTo>
                  <a:lnTo>
                    <a:pt x="7315200" y="939800"/>
                  </a:lnTo>
                  <a:lnTo>
                    <a:pt x="0" y="939800"/>
                  </a:lnTo>
                  <a:close/>
                </a:path>
              </a:pathLst>
            </a:custGeom>
            <a:solidFill>
              <a:srgbClr val="E8EDF9"/>
            </a:solidFill>
            <a:ln cap="sq" w="9525">
              <a:solidFill>
                <a:srgbClr val="C9D4EE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3" name="TextBox 89"/>
            <p:cNvSpPr/>
            <p:nvPr/>
          </p:nvSpPr>
          <p:spPr>
            <a:xfrm>
              <a:off x="11449080" y="6129360"/>
              <a:ext cx="5486040" cy="7473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7080" tIns="127080" rIns="127080" bIns="127080" anchor="ctr">
              <a:noAutofit/>
            </a:bodyPr>
            <a:p>
              <a:pPr algn="ctr" defTabSz="914400">
                <a:lnSpc>
                  <a:spcPts val="2520"/>
                </a:lnSpc>
              </a:pPr>
              <a:r>
                <a:rPr lang="en-US" sz="1800" b="0" u="none" strike="noStrike">
                  <a:solidFill>
                    <a:srgbClr val="002060"/>
                  </a:solidFill>
                  <a:effectLst/>
                  <a:uFillTx/>
                  <a:latin typeface="Arimo"/>
                  <a:ea typeface="Arimo"/>
                </a:rPr>
                <a:t>Institutional facts still need strict grounding</a:t>
              </a:r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254" name="Group 90"/>
          <p:cNvGrpSpPr/>
          <p:nvPr/>
        </p:nvGrpSpPr>
        <p:grpSpPr>
          <a:xfrm>
            <a:off x="1352520" y="6834240"/>
            <a:ext cx="3142800" cy="747360"/>
            <a:chOff x="1352520" y="6834240"/>
            <a:chExt cx="3142800" cy="747360"/>
          </a:xfrm>
        </p:grpSpPr>
        <p:sp>
          <p:nvSpPr>
            <p:cNvPr id="255" name="Freeform 91"/>
            <p:cNvSpPr/>
            <p:nvPr/>
          </p:nvSpPr>
          <p:spPr>
            <a:xfrm>
              <a:off x="1352520" y="6877080"/>
              <a:ext cx="3142800" cy="704520"/>
            </a:xfrm>
            <a:custGeom>
              <a:avLst/>
              <a:gdLst>
                <a:gd name="textAreaLeft" fmla="*/ 0 w 3142800"/>
                <a:gd name="textAreaRight" fmla="*/ 3143160 w 3142800"/>
                <a:gd name="textAreaTop" fmla="*/ 0 h 704520"/>
                <a:gd name="textAreaBottom" fmla="*/ 704880 h 704520"/>
              </a:gdLst>
              <a:ahLst/>
              <a:cxnLst/>
              <a:rect l="textAreaLeft" t="textAreaTop" r="textAreaRight" b="textAreaBottom"/>
              <a:pathLst>
                <a:path w="4191000" h="939800">
                  <a:moveTo>
                    <a:pt x="0" y="0"/>
                  </a:moveTo>
                  <a:lnTo>
                    <a:pt x="4191000" y="0"/>
                  </a:lnTo>
                  <a:lnTo>
                    <a:pt x="4191000" y="939800"/>
                  </a:lnTo>
                  <a:lnTo>
                    <a:pt x="0" y="939800"/>
                  </a:lnTo>
                  <a:close/>
                </a:path>
              </a:pathLst>
            </a:custGeom>
            <a:solidFill>
              <a:srgbClr val="FFFFFF"/>
            </a:solidFill>
            <a:ln cap="sq" w="9525">
              <a:solidFill>
                <a:srgbClr val="C9D4EE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6" name="TextBox 92"/>
            <p:cNvSpPr/>
            <p:nvPr/>
          </p:nvSpPr>
          <p:spPr>
            <a:xfrm>
              <a:off x="1352520" y="6834240"/>
              <a:ext cx="3142800" cy="7473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7080" tIns="127080" rIns="127080" bIns="127080" anchor="ctr">
              <a:noAutofit/>
            </a:bodyPr>
            <a:p>
              <a:pPr algn="ctr" defTabSz="914400">
                <a:lnSpc>
                  <a:spcPts val="2520"/>
                </a:lnSpc>
              </a:pPr>
              <a:r>
                <a:rPr lang="en-US" sz="1800" b="0" u="none" strike="noStrike">
                  <a:solidFill>
                    <a:srgbClr val="002060"/>
                  </a:solidFill>
                  <a:effectLst/>
                  <a:uFillTx/>
                  <a:latin typeface="Arimo"/>
                  <a:ea typeface="Arimo"/>
                </a:rPr>
                <a:t>RouteLLM (Ong et al., 2024)</a:t>
              </a:r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257" name="Group 93"/>
          <p:cNvGrpSpPr/>
          <p:nvPr/>
        </p:nvGrpSpPr>
        <p:grpSpPr>
          <a:xfrm>
            <a:off x="4495680" y="6834240"/>
            <a:ext cx="3142800" cy="747360"/>
            <a:chOff x="4495680" y="6834240"/>
            <a:chExt cx="3142800" cy="747360"/>
          </a:xfrm>
        </p:grpSpPr>
        <p:sp>
          <p:nvSpPr>
            <p:cNvPr id="258" name="Freeform 94"/>
            <p:cNvSpPr/>
            <p:nvPr/>
          </p:nvSpPr>
          <p:spPr>
            <a:xfrm>
              <a:off x="4495680" y="6877080"/>
              <a:ext cx="3142800" cy="704520"/>
            </a:xfrm>
            <a:custGeom>
              <a:avLst/>
              <a:gdLst>
                <a:gd name="textAreaLeft" fmla="*/ 0 w 3142800"/>
                <a:gd name="textAreaRight" fmla="*/ 3143160 w 3142800"/>
                <a:gd name="textAreaTop" fmla="*/ 0 h 704520"/>
                <a:gd name="textAreaBottom" fmla="*/ 704880 h 704520"/>
              </a:gdLst>
              <a:ahLst/>
              <a:cxnLst/>
              <a:rect l="textAreaLeft" t="textAreaTop" r="textAreaRight" b="textAreaBottom"/>
              <a:pathLst>
                <a:path w="4191000" h="939800">
                  <a:moveTo>
                    <a:pt x="0" y="0"/>
                  </a:moveTo>
                  <a:lnTo>
                    <a:pt x="4191000" y="0"/>
                  </a:lnTo>
                  <a:lnTo>
                    <a:pt x="4191000" y="939800"/>
                  </a:lnTo>
                  <a:lnTo>
                    <a:pt x="0" y="939800"/>
                  </a:lnTo>
                  <a:close/>
                </a:path>
              </a:pathLst>
            </a:custGeom>
            <a:solidFill>
              <a:srgbClr val="FFFFFF"/>
            </a:solidFill>
            <a:ln cap="sq" w="9525">
              <a:solidFill>
                <a:srgbClr val="C9D4EE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9" name="TextBox 95"/>
            <p:cNvSpPr/>
            <p:nvPr/>
          </p:nvSpPr>
          <p:spPr>
            <a:xfrm>
              <a:off x="4495680" y="6834240"/>
              <a:ext cx="3142800" cy="7473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7080" tIns="127080" rIns="127080" bIns="127080" anchor="ctr">
              <a:noAutofit/>
            </a:bodyPr>
            <a:p>
              <a:pPr algn="ctr" defTabSz="914400">
                <a:lnSpc>
                  <a:spcPts val="2520"/>
                </a:lnSpc>
              </a:pPr>
              <a:r>
                <a:rPr lang="en-US" sz="1800" b="0" u="none" strike="noStrike">
                  <a:solidFill>
                    <a:srgbClr val="002060"/>
                  </a:solidFill>
                  <a:effectLst/>
                  <a:uFillTx/>
                  <a:latin typeface="Arimo"/>
                  <a:ea typeface="Arimo"/>
                </a:rPr>
                <a:t>Lightweight routing</a:t>
              </a:r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260" name="Group 96"/>
          <p:cNvGrpSpPr/>
          <p:nvPr/>
        </p:nvGrpSpPr>
        <p:grpSpPr>
          <a:xfrm>
            <a:off x="7639200" y="6834240"/>
            <a:ext cx="3809520" cy="747360"/>
            <a:chOff x="7639200" y="6834240"/>
            <a:chExt cx="3809520" cy="747360"/>
          </a:xfrm>
        </p:grpSpPr>
        <p:sp>
          <p:nvSpPr>
            <p:cNvPr id="261" name="Freeform 97"/>
            <p:cNvSpPr/>
            <p:nvPr/>
          </p:nvSpPr>
          <p:spPr>
            <a:xfrm>
              <a:off x="7639200" y="6877080"/>
              <a:ext cx="3809520" cy="704520"/>
            </a:xfrm>
            <a:custGeom>
              <a:avLst/>
              <a:gdLst>
                <a:gd name="textAreaLeft" fmla="*/ 0 w 3809520"/>
                <a:gd name="textAreaRight" fmla="*/ 3809880 w 3809520"/>
                <a:gd name="textAreaTop" fmla="*/ 0 h 704520"/>
                <a:gd name="textAreaBottom" fmla="*/ 704880 h 704520"/>
              </a:gdLst>
              <a:ahLst/>
              <a:cxnLst/>
              <a:rect l="textAreaLeft" t="textAreaTop" r="textAreaRight" b="textAreaBottom"/>
              <a:pathLst>
                <a:path w="5080000" h="939800">
                  <a:moveTo>
                    <a:pt x="0" y="0"/>
                  </a:moveTo>
                  <a:lnTo>
                    <a:pt x="5080000" y="0"/>
                  </a:lnTo>
                  <a:lnTo>
                    <a:pt x="5080000" y="939800"/>
                  </a:lnTo>
                  <a:lnTo>
                    <a:pt x="0" y="939800"/>
                  </a:lnTo>
                  <a:close/>
                </a:path>
              </a:pathLst>
            </a:custGeom>
            <a:solidFill>
              <a:srgbClr val="FFFFFF"/>
            </a:solidFill>
            <a:ln cap="sq" w="9525">
              <a:solidFill>
                <a:srgbClr val="C9D4EE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62" name="TextBox 98"/>
            <p:cNvSpPr/>
            <p:nvPr/>
          </p:nvSpPr>
          <p:spPr>
            <a:xfrm>
              <a:off x="7639200" y="6834240"/>
              <a:ext cx="3809520" cy="7473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7080" tIns="127080" rIns="127080" bIns="127080" anchor="ctr">
              <a:noAutofit/>
            </a:bodyPr>
            <a:p>
              <a:pPr algn="ctr" defTabSz="914400">
                <a:lnSpc>
                  <a:spcPts val="2520"/>
                </a:lnSpc>
              </a:pPr>
              <a:r>
                <a:rPr lang="en-US" sz="1800" b="0" u="none" strike="noStrike">
                  <a:solidFill>
                    <a:srgbClr val="002060"/>
                  </a:solidFill>
                  <a:effectLst/>
                  <a:uFillTx/>
                  <a:latin typeface="Arimo"/>
                  <a:ea typeface="Arimo"/>
                </a:rPr>
                <a:t>Motivates learned routing</a:t>
              </a:r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263" name="Group 99"/>
          <p:cNvGrpSpPr/>
          <p:nvPr/>
        </p:nvGrpSpPr>
        <p:grpSpPr>
          <a:xfrm>
            <a:off x="11449080" y="6834240"/>
            <a:ext cx="5486040" cy="747360"/>
            <a:chOff x="11449080" y="6834240"/>
            <a:chExt cx="5486040" cy="747360"/>
          </a:xfrm>
        </p:grpSpPr>
        <p:sp>
          <p:nvSpPr>
            <p:cNvPr id="264" name="Freeform 100"/>
            <p:cNvSpPr/>
            <p:nvPr/>
          </p:nvSpPr>
          <p:spPr>
            <a:xfrm>
              <a:off x="11449080" y="6877080"/>
              <a:ext cx="5486040" cy="704520"/>
            </a:xfrm>
            <a:custGeom>
              <a:avLst/>
              <a:gdLst>
                <a:gd name="textAreaLeft" fmla="*/ 0 w 5486040"/>
                <a:gd name="textAreaRight" fmla="*/ 5486400 w 5486040"/>
                <a:gd name="textAreaTop" fmla="*/ 0 h 704520"/>
                <a:gd name="textAreaBottom" fmla="*/ 704880 h 704520"/>
              </a:gdLst>
              <a:ahLst/>
              <a:cxnLst/>
              <a:rect l="textAreaLeft" t="textAreaTop" r="textAreaRight" b="textAreaBottom"/>
              <a:pathLst>
                <a:path w="7315200" h="939800">
                  <a:moveTo>
                    <a:pt x="0" y="0"/>
                  </a:moveTo>
                  <a:lnTo>
                    <a:pt x="7315200" y="0"/>
                  </a:lnTo>
                  <a:lnTo>
                    <a:pt x="7315200" y="939800"/>
                  </a:lnTo>
                  <a:lnTo>
                    <a:pt x="0" y="939800"/>
                  </a:lnTo>
                  <a:close/>
                </a:path>
              </a:pathLst>
            </a:custGeom>
            <a:solidFill>
              <a:srgbClr val="FFFFFF"/>
            </a:solidFill>
            <a:ln cap="sq" w="9525">
              <a:solidFill>
                <a:srgbClr val="C9D4EE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65" name="TextBox 101"/>
            <p:cNvSpPr/>
            <p:nvPr/>
          </p:nvSpPr>
          <p:spPr>
            <a:xfrm>
              <a:off x="11449080" y="6834240"/>
              <a:ext cx="5486040" cy="7473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7080" tIns="127080" rIns="127080" bIns="127080" anchor="ctr">
              <a:noAutofit/>
            </a:bodyPr>
            <a:p>
              <a:pPr algn="ctr" defTabSz="914400">
                <a:lnSpc>
                  <a:spcPts val="2520"/>
                </a:lnSpc>
              </a:pPr>
              <a:r>
                <a:rPr lang="en-US" sz="1800" b="0" u="none" strike="noStrike">
                  <a:solidFill>
                    <a:srgbClr val="002060"/>
                  </a:solidFill>
                  <a:effectLst/>
                  <a:uFillTx/>
                  <a:latin typeface="Arimo"/>
                  <a:ea typeface="Arimo"/>
                </a:rPr>
                <a:t>Focuses on text-model selection</a:t>
              </a:r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266" name="Group 102"/>
          <p:cNvGrpSpPr/>
          <p:nvPr/>
        </p:nvGrpSpPr>
        <p:grpSpPr>
          <a:xfrm>
            <a:off x="1352520" y="7539120"/>
            <a:ext cx="3142800" cy="928800"/>
            <a:chOff x="1352520" y="7539120"/>
            <a:chExt cx="3142800" cy="928800"/>
          </a:xfrm>
        </p:grpSpPr>
        <p:sp>
          <p:nvSpPr>
            <p:cNvPr id="267" name="Freeform 103"/>
            <p:cNvSpPr/>
            <p:nvPr/>
          </p:nvSpPr>
          <p:spPr>
            <a:xfrm>
              <a:off x="1352520" y="7581960"/>
              <a:ext cx="3142800" cy="885600"/>
            </a:xfrm>
            <a:custGeom>
              <a:avLst/>
              <a:gdLst>
                <a:gd name="textAreaLeft" fmla="*/ 0 w 3142800"/>
                <a:gd name="textAreaRight" fmla="*/ 3143160 w 3142800"/>
                <a:gd name="textAreaTop" fmla="*/ 0 h 885600"/>
                <a:gd name="textAreaBottom" fmla="*/ 885960 h 885600"/>
              </a:gdLst>
              <a:ahLst/>
              <a:cxnLst/>
              <a:rect l="textAreaLeft" t="textAreaTop" r="textAreaRight" b="textAreaBottom"/>
              <a:pathLst>
                <a:path w="4191000" h="1181507">
                  <a:moveTo>
                    <a:pt x="0" y="0"/>
                  </a:moveTo>
                  <a:lnTo>
                    <a:pt x="4191000" y="0"/>
                  </a:lnTo>
                  <a:lnTo>
                    <a:pt x="4191000" y="1181507"/>
                  </a:lnTo>
                  <a:lnTo>
                    <a:pt x="0" y="1181507"/>
                  </a:lnTo>
                  <a:close/>
                </a:path>
              </a:pathLst>
            </a:custGeom>
            <a:solidFill>
              <a:srgbClr val="E8EDF9"/>
            </a:solidFill>
            <a:ln cap="sq" w="9525">
              <a:solidFill>
                <a:srgbClr val="C9D4EE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68" name="TextBox 104"/>
            <p:cNvSpPr/>
            <p:nvPr/>
          </p:nvSpPr>
          <p:spPr>
            <a:xfrm>
              <a:off x="1352520" y="7539120"/>
              <a:ext cx="3142800" cy="9288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7080" tIns="127080" rIns="127080" bIns="127080" anchor="ctr">
              <a:noAutofit/>
            </a:bodyPr>
            <a:p>
              <a:pPr algn="ctr" defTabSz="914400">
                <a:lnSpc>
                  <a:spcPts val="2520"/>
                </a:lnSpc>
              </a:pPr>
              <a:r>
                <a:rPr lang="en-US" sz="1800" b="0" u="none" strike="noStrike">
                  <a:solidFill>
                    <a:srgbClr val="002060"/>
                  </a:solidFill>
                  <a:effectLst/>
                  <a:uFillTx/>
                  <a:latin typeface="Arimo"/>
                  <a:ea typeface="Arimo"/>
                </a:rPr>
                <a:t>MCP / FastMCP (Anthropic, 2024)</a:t>
              </a:r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269" name="Group 105"/>
          <p:cNvGrpSpPr/>
          <p:nvPr/>
        </p:nvGrpSpPr>
        <p:grpSpPr>
          <a:xfrm>
            <a:off x="4495680" y="7539120"/>
            <a:ext cx="3142800" cy="747360"/>
            <a:chOff x="4495680" y="7539120"/>
            <a:chExt cx="3142800" cy="747360"/>
          </a:xfrm>
        </p:grpSpPr>
        <p:sp>
          <p:nvSpPr>
            <p:cNvPr id="270" name="Freeform 106"/>
            <p:cNvSpPr/>
            <p:nvPr/>
          </p:nvSpPr>
          <p:spPr>
            <a:xfrm>
              <a:off x="4495680" y="7581960"/>
              <a:ext cx="3142800" cy="704520"/>
            </a:xfrm>
            <a:custGeom>
              <a:avLst/>
              <a:gdLst>
                <a:gd name="textAreaLeft" fmla="*/ 0 w 3142800"/>
                <a:gd name="textAreaRight" fmla="*/ 3143160 w 3142800"/>
                <a:gd name="textAreaTop" fmla="*/ 0 h 704520"/>
                <a:gd name="textAreaBottom" fmla="*/ 704880 h 704520"/>
              </a:gdLst>
              <a:ahLst/>
              <a:cxnLst/>
              <a:rect l="textAreaLeft" t="textAreaTop" r="textAreaRight" b="textAreaBottom"/>
              <a:pathLst>
                <a:path w="4191000" h="939800">
                  <a:moveTo>
                    <a:pt x="0" y="0"/>
                  </a:moveTo>
                  <a:lnTo>
                    <a:pt x="4191000" y="0"/>
                  </a:lnTo>
                  <a:lnTo>
                    <a:pt x="4191000" y="939800"/>
                  </a:lnTo>
                  <a:lnTo>
                    <a:pt x="0" y="939800"/>
                  </a:lnTo>
                  <a:close/>
                </a:path>
              </a:pathLst>
            </a:custGeom>
            <a:solidFill>
              <a:srgbClr val="E8EDF9"/>
            </a:solidFill>
            <a:ln cap="sq" w="9525">
              <a:solidFill>
                <a:srgbClr val="C9D4EE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71" name="TextBox 107"/>
            <p:cNvSpPr/>
            <p:nvPr/>
          </p:nvSpPr>
          <p:spPr>
            <a:xfrm>
              <a:off x="4495680" y="7539120"/>
              <a:ext cx="3142800" cy="7473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7080" tIns="127080" rIns="127080" bIns="127080" anchor="ctr">
              <a:noAutofit/>
            </a:bodyPr>
            <a:p>
              <a:pPr algn="ctr" defTabSz="914400">
                <a:lnSpc>
                  <a:spcPts val="2520"/>
                </a:lnSpc>
              </a:pPr>
              <a:r>
                <a:rPr lang="en-US" sz="1800" b="0" u="none" strike="noStrike">
                  <a:solidFill>
                    <a:srgbClr val="002060"/>
                  </a:solidFill>
                  <a:effectLst/>
                  <a:uFillTx/>
                  <a:latin typeface="Arimo"/>
                  <a:ea typeface="Arimo"/>
                </a:rPr>
                <a:t>Process-isolated tool calling</a:t>
              </a:r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272" name="Group 108"/>
          <p:cNvGrpSpPr/>
          <p:nvPr/>
        </p:nvGrpSpPr>
        <p:grpSpPr>
          <a:xfrm>
            <a:off x="7639200" y="7539120"/>
            <a:ext cx="3809520" cy="747360"/>
            <a:chOff x="7639200" y="7539120"/>
            <a:chExt cx="3809520" cy="747360"/>
          </a:xfrm>
        </p:grpSpPr>
        <p:sp>
          <p:nvSpPr>
            <p:cNvPr id="273" name="Freeform 109"/>
            <p:cNvSpPr/>
            <p:nvPr/>
          </p:nvSpPr>
          <p:spPr>
            <a:xfrm>
              <a:off x="7639200" y="7581960"/>
              <a:ext cx="3809520" cy="704520"/>
            </a:xfrm>
            <a:custGeom>
              <a:avLst/>
              <a:gdLst>
                <a:gd name="textAreaLeft" fmla="*/ 0 w 3809520"/>
                <a:gd name="textAreaRight" fmla="*/ 3809880 w 3809520"/>
                <a:gd name="textAreaTop" fmla="*/ 0 h 704520"/>
                <a:gd name="textAreaBottom" fmla="*/ 704880 h 704520"/>
              </a:gdLst>
              <a:ahLst/>
              <a:cxnLst/>
              <a:rect l="textAreaLeft" t="textAreaTop" r="textAreaRight" b="textAreaBottom"/>
              <a:pathLst>
                <a:path w="5080000" h="939800">
                  <a:moveTo>
                    <a:pt x="0" y="0"/>
                  </a:moveTo>
                  <a:lnTo>
                    <a:pt x="5080000" y="0"/>
                  </a:lnTo>
                  <a:lnTo>
                    <a:pt x="5080000" y="939800"/>
                  </a:lnTo>
                  <a:lnTo>
                    <a:pt x="0" y="939800"/>
                  </a:lnTo>
                  <a:close/>
                </a:path>
              </a:pathLst>
            </a:custGeom>
            <a:solidFill>
              <a:srgbClr val="E8EDF9"/>
            </a:solidFill>
            <a:ln cap="sq" w="9525">
              <a:solidFill>
                <a:srgbClr val="C9D4EE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74" name="TextBox 110"/>
            <p:cNvSpPr/>
            <p:nvPr/>
          </p:nvSpPr>
          <p:spPr>
            <a:xfrm>
              <a:off x="7639200" y="7539120"/>
              <a:ext cx="3809520" cy="7473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7080" tIns="127080" rIns="127080" bIns="127080" anchor="ctr">
              <a:noAutofit/>
            </a:bodyPr>
            <a:p>
              <a:pPr algn="ctr" defTabSz="914400">
                <a:lnSpc>
                  <a:spcPts val="2520"/>
                </a:lnSpc>
              </a:pPr>
              <a:r>
                <a:rPr lang="en-US" sz="1800" b="0" u="none" strike="noStrike">
                  <a:solidFill>
                    <a:srgbClr val="002060"/>
                  </a:solidFill>
                  <a:effectLst/>
                  <a:uFillTx/>
                  <a:latin typeface="Arimo"/>
                  <a:ea typeface="Arimo"/>
                </a:rPr>
                <a:t>Safe task execution in Demo 1</a:t>
              </a:r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275" name="Group 111"/>
          <p:cNvGrpSpPr/>
          <p:nvPr/>
        </p:nvGrpSpPr>
        <p:grpSpPr>
          <a:xfrm>
            <a:off x="11449080" y="7539120"/>
            <a:ext cx="5486040" cy="747360"/>
            <a:chOff x="11449080" y="7539120"/>
            <a:chExt cx="5486040" cy="747360"/>
          </a:xfrm>
        </p:grpSpPr>
        <p:sp>
          <p:nvSpPr>
            <p:cNvPr id="276" name="Freeform 112"/>
            <p:cNvSpPr/>
            <p:nvPr/>
          </p:nvSpPr>
          <p:spPr>
            <a:xfrm>
              <a:off x="11449080" y="7581960"/>
              <a:ext cx="5486040" cy="704520"/>
            </a:xfrm>
            <a:custGeom>
              <a:avLst/>
              <a:gdLst>
                <a:gd name="textAreaLeft" fmla="*/ 0 w 5486040"/>
                <a:gd name="textAreaRight" fmla="*/ 5486400 w 5486040"/>
                <a:gd name="textAreaTop" fmla="*/ 0 h 704520"/>
                <a:gd name="textAreaBottom" fmla="*/ 704880 h 704520"/>
              </a:gdLst>
              <a:ahLst/>
              <a:cxnLst/>
              <a:rect l="textAreaLeft" t="textAreaTop" r="textAreaRight" b="textAreaBottom"/>
              <a:pathLst>
                <a:path w="7315200" h="939800">
                  <a:moveTo>
                    <a:pt x="0" y="0"/>
                  </a:moveTo>
                  <a:lnTo>
                    <a:pt x="7315200" y="0"/>
                  </a:lnTo>
                  <a:lnTo>
                    <a:pt x="7315200" y="939800"/>
                  </a:lnTo>
                  <a:lnTo>
                    <a:pt x="0" y="939800"/>
                  </a:lnTo>
                  <a:close/>
                </a:path>
              </a:pathLst>
            </a:custGeom>
            <a:solidFill>
              <a:srgbClr val="E8EDF9"/>
            </a:solidFill>
            <a:ln cap="sq" w="9525">
              <a:solidFill>
                <a:srgbClr val="C9D4EE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77" name="TextBox 113"/>
            <p:cNvSpPr/>
            <p:nvPr/>
          </p:nvSpPr>
          <p:spPr>
            <a:xfrm>
              <a:off x="11449080" y="7539120"/>
              <a:ext cx="5486040" cy="7473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7080" tIns="127080" rIns="127080" bIns="127080" anchor="ctr">
              <a:noAutofit/>
            </a:bodyPr>
            <a:p>
              <a:pPr algn="ctr" defTabSz="914400">
                <a:lnSpc>
                  <a:spcPts val="2520"/>
                </a:lnSpc>
              </a:pPr>
              <a:r>
                <a:rPr lang="en-US" sz="1800" b="0" u="none" strike="noStrike">
                  <a:solidFill>
                    <a:srgbClr val="002060"/>
                  </a:solidFill>
                  <a:effectLst/>
                  <a:uFillTx/>
                  <a:latin typeface="Arimo"/>
                  <a:ea typeface="Arimo"/>
                </a:rPr>
                <a:t>Must pair with transaction safeguards</a:t>
              </a:r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</p:spTree>
  </p:cSld>
  <p:transition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8" name="Group 2"/>
          <p:cNvGrpSpPr/>
          <p:nvPr/>
        </p:nvGrpSpPr>
        <p:grpSpPr>
          <a:xfrm>
            <a:off x="0" y="9698760"/>
            <a:ext cx="18288000" cy="606600"/>
            <a:chOff x="0" y="9698760"/>
            <a:chExt cx="18288000" cy="606600"/>
          </a:xfrm>
        </p:grpSpPr>
        <p:sp>
          <p:nvSpPr>
            <p:cNvPr id="279" name="Freeform 3"/>
            <p:cNvSpPr/>
            <p:nvPr/>
          </p:nvSpPr>
          <p:spPr>
            <a:xfrm>
              <a:off x="0" y="9698760"/>
              <a:ext cx="18288000" cy="606600"/>
            </a:xfrm>
            <a:custGeom>
              <a:avLst/>
              <a:gdLst>
                <a:gd name="textAreaLeft" fmla="*/ 0 w 18288000"/>
                <a:gd name="textAreaRight" fmla="*/ 18288360 w 18288000"/>
                <a:gd name="textAreaTop" fmla="*/ 0 h 606600"/>
                <a:gd name="textAreaBottom" fmla="*/ 606960 h 606600"/>
              </a:gdLst>
              <a:ahLst/>
              <a:cxnLst/>
              <a:rect l="textAreaLeft" t="textAreaTop" r="textAreaRight" b="textAreaBottom"/>
              <a:pathLst>
                <a:path w="24384254" h="809244">
                  <a:moveTo>
                    <a:pt x="0" y="0"/>
                  </a:moveTo>
                  <a:lnTo>
                    <a:pt x="24384254" y="0"/>
                  </a:lnTo>
                  <a:lnTo>
                    <a:pt x="24384254" y="809244"/>
                  </a:lnTo>
                  <a:lnTo>
                    <a:pt x="0" y="809244"/>
                  </a:lnTo>
                  <a:close/>
                </a:path>
              </a:pathLst>
            </a:custGeom>
            <a:solidFill>
              <a:srgbClr val="0C2577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280" name="Group 4"/>
          <p:cNvGrpSpPr/>
          <p:nvPr/>
        </p:nvGrpSpPr>
        <p:grpSpPr>
          <a:xfrm>
            <a:off x="15935400" y="345240"/>
            <a:ext cx="2190240" cy="2190240"/>
            <a:chOff x="15935400" y="345240"/>
            <a:chExt cx="2190240" cy="2190240"/>
          </a:xfrm>
        </p:grpSpPr>
        <p:sp>
          <p:nvSpPr>
            <p:cNvPr id="281" name="Freeform 5"/>
            <p:cNvSpPr/>
            <p:nvPr/>
          </p:nvSpPr>
          <p:spPr>
            <a:xfrm>
              <a:off x="15935400" y="345240"/>
              <a:ext cx="2190240" cy="2190240"/>
            </a:xfrm>
            <a:custGeom>
              <a:avLst/>
              <a:gdLst>
                <a:gd name="textAreaLeft" fmla="*/ 0 w 2190240"/>
                <a:gd name="textAreaRight" fmla="*/ 2190600 w 2190240"/>
                <a:gd name="textAreaTop" fmla="*/ 0 h 2190240"/>
                <a:gd name="textAreaBottom" fmla="*/ 2190600 h 2190240"/>
              </a:gdLst>
              <a:ahLst/>
              <a:cxnLst/>
              <a:rect l="textAreaLeft" t="textAreaTop" r="textAreaRight" b="textAreaBottom"/>
              <a:pathLst>
                <a:path w="2921000" h="2921000">
                  <a:moveTo>
                    <a:pt x="0" y="0"/>
                  </a:moveTo>
                  <a:lnTo>
                    <a:pt x="2921000" y="0"/>
                  </a:lnTo>
                  <a:lnTo>
                    <a:pt x="2921000" y="2921000"/>
                  </a:lnTo>
                  <a:lnTo>
                    <a:pt x="0" y="2921000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1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282" name="Group 6"/>
          <p:cNvGrpSpPr/>
          <p:nvPr/>
        </p:nvGrpSpPr>
        <p:grpSpPr>
          <a:xfrm>
            <a:off x="1257120" y="547560"/>
            <a:ext cx="15773040" cy="1987920"/>
            <a:chOff x="1257120" y="547560"/>
            <a:chExt cx="15773040" cy="1987920"/>
          </a:xfrm>
        </p:grpSpPr>
        <p:sp>
          <p:nvSpPr>
            <p:cNvPr id="283" name="Freeform 7"/>
            <p:cNvSpPr/>
            <p:nvPr/>
          </p:nvSpPr>
          <p:spPr>
            <a:xfrm>
              <a:off x="1257120" y="547560"/>
              <a:ext cx="15773040" cy="1987920"/>
            </a:xfrm>
            <a:custGeom>
              <a:avLst/>
              <a:gdLst>
                <a:gd name="textAreaLeft" fmla="*/ 0 w 15773040"/>
                <a:gd name="textAreaRight" fmla="*/ 15773400 w 15773040"/>
                <a:gd name="textAreaTop" fmla="*/ 0 h 1987920"/>
                <a:gd name="textAreaBottom" fmla="*/ 1988280 h 1987920"/>
              </a:gdLst>
              <a:ahLst/>
              <a:cxnLst/>
              <a:rect l="textAreaLeft" t="textAreaTop" r="textAreaRight" b="textAreaBottom"/>
              <a:pathLst>
                <a:path w="21031200" h="2651044">
                  <a:moveTo>
                    <a:pt x="0" y="0"/>
                  </a:moveTo>
                  <a:lnTo>
                    <a:pt x="21031200" y="0"/>
                  </a:lnTo>
                  <a:lnTo>
                    <a:pt x="21031200" y="2651044"/>
                  </a:lnTo>
                  <a:lnTo>
                    <a:pt x="0" y="2651044"/>
                  </a:lnTo>
                  <a:close/>
                </a:path>
              </a:pathLst>
            </a:custGeom>
            <a:blipFill rotWithShape="0">
              <a:blip r:embed="rId2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84" name="TextBox 8"/>
            <p:cNvSpPr/>
            <p:nvPr/>
          </p:nvSpPr>
          <p:spPr>
            <a:xfrm>
              <a:off x="1257120" y="597600"/>
              <a:ext cx="15773040" cy="1937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defTabSz="914400">
                <a:lnSpc>
                  <a:spcPts val="7129"/>
                </a:lnSpc>
                <a:tabLst>
                  <a:tab pos="0" algn="l"/>
                </a:tabLst>
              </a:pPr>
              <a:r>
                <a:rPr lang="en-US" sz="6600" b="1" u="none" spc="-40" strike="noStrike">
                  <a:solidFill>
                    <a:srgbClr val="002060"/>
                  </a:solidFill>
                  <a:effectLst/>
                  <a:uFillTx/>
                  <a:latin typeface="TT Rounds Condensed Bold"/>
                  <a:ea typeface="TT Rounds Condensed Bold"/>
                </a:rPr>
                <a:t>04  Problem Definition and Research Gap</a:t>
              </a:r>
              <a:endParaRPr lang="en-IN" sz="6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285" name="Group 9"/>
          <p:cNvGrpSpPr/>
          <p:nvPr/>
        </p:nvGrpSpPr>
        <p:grpSpPr>
          <a:xfrm>
            <a:off x="399960" y="9808560"/>
            <a:ext cx="3314160" cy="478440"/>
            <a:chOff x="399960" y="9808560"/>
            <a:chExt cx="3314160" cy="478440"/>
          </a:xfrm>
        </p:grpSpPr>
        <p:sp>
          <p:nvSpPr>
            <p:cNvPr id="286" name="Freeform 10"/>
            <p:cNvSpPr/>
            <p:nvPr/>
          </p:nvSpPr>
          <p:spPr>
            <a:xfrm>
              <a:off x="399960" y="9837360"/>
              <a:ext cx="3314160" cy="449640"/>
            </a:xfrm>
            <a:custGeom>
              <a:avLst/>
              <a:gdLst>
                <a:gd name="textAreaLeft" fmla="*/ 0 w 3314160"/>
                <a:gd name="textAreaRight" fmla="*/ 3314520 w 3314160"/>
                <a:gd name="textAreaTop" fmla="*/ 0 h 449640"/>
                <a:gd name="textAreaBottom" fmla="*/ 450000 h 449640"/>
              </a:gdLst>
              <a:ahLst/>
              <a:cxnLst/>
              <a:rect l="textAreaLeft" t="textAreaTop" r="textAreaRight" b="textAreaBottom"/>
              <a:pathLst>
                <a:path w="4419360" h="599763">
                  <a:moveTo>
                    <a:pt x="0" y="0"/>
                  </a:moveTo>
                  <a:lnTo>
                    <a:pt x="4419360" y="0"/>
                  </a:lnTo>
                  <a:lnTo>
                    <a:pt x="4419360" y="599763"/>
                  </a:lnTo>
                  <a:lnTo>
                    <a:pt x="0" y="599763"/>
                  </a:lnTo>
                  <a:close/>
                </a:path>
              </a:pathLst>
            </a:custGeom>
            <a:blipFill rotWithShape="0">
              <a:blip r:embed="rId3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87" name="TextBox 11"/>
            <p:cNvSpPr/>
            <p:nvPr/>
          </p:nvSpPr>
          <p:spPr>
            <a:xfrm>
              <a:off x="399960" y="9808560"/>
              <a:ext cx="3314160" cy="478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defTabSz="914400">
                <a:lnSpc>
                  <a:spcPts val="2160"/>
                </a:lnSpc>
                <a:tabLst>
                  <a:tab pos="0" algn="l"/>
                </a:tabLst>
              </a:pPr>
              <a:r>
                <a:rPr lang="en-US" sz="1800" b="0" u="none" strike="noStrike">
                  <a:solidFill>
                    <a:srgbClr val="FFFFFF"/>
                  </a:solidFill>
                  <a:effectLst/>
                  <a:uFillTx/>
                  <a:latin typeface="Calibri (MS)"/>
                  <a:ea typeface="Calibri (MS)"/>
                </a:rPr>
                <a:t>05/10/26</a:t>
              </a:r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288" name="Group 12"/>
          <p:cNvGrpSpPr/>
          <p:nvPr/>
        </p:nvGrpSpPr>
        <p:grpSpPr>
          <a:xfrm>
            <a:off x="4288680" y="9732240"/>
            <a:ext cx="9896400" cy="554400"/>
            <a:chOff x="4288680" y="9732240"/>
            <a:chExt cx="9896400" cy="554400"/>
          </a:xfrm>
        </p:grpSpPr>
        <p:sp>
          <p:nvSpPr>
            <p:cNvPr id="289" name="Freeform 13"/>
            <p:cNvSpPr/>
            <p:nvPr/>
          </p:nvSpPr>
          <p:spPr>
            <a:xfrm>
              <a:off x="4288680" y="9739440"/>
              <a:ext cx="9896400" cy="547200"/>
            </a:xfrm>
            <a:custGeom>
              <a:avLst/>
              <a:gdLst>
                <a:gd name="textAreaLeft" fmla="*/ 0 w 9896400"/>
                <a:gd name="textAreaRight" fmla="*/ 9896760 w 9896400"/>
                <a:gd name="textAreaTop" fmla="*/ 0 h 547200"/>
                <a:gd name="textAreaBottom" fmla="*/ 547560 h 547200"/>
              </a:gdLst>
              <a:ahLst/>
              <a:cxnLst/>
              <a:rect l="textAreaLeft" t="textAreaTop" r="textAreaRight" b="textAreaBottom"/>
              <a:pathLst>
                <a:path w="13195440" h="730075">
                  <a:moveTo>
                    <a:pt x="0" y="0"/>
                  </a:moveTo>
                  <a:lnTo>
                    <a:pt x="13195440" y="0"/>
                  </a:lnTo>
                  <a:lnTo>
                    <a:pt x="13195440" y="730075"/>
                  </a:lnTo>
                  <a:lnTo>
                    <a:pt x="0" y="730075"/>
                  </a:lnTo>
                  <a:close/>
                </a:path>
              </a:pathLst>
            </a:custGeom>
            <a:blipFill rotWithShape="0">
              <a:blip r:embed="rId4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90" name="TextBox 14"/>
            <p:cNvSpPr/>
            <p:nvPr/>
          </p:nvSpPr>
          <p:spPr>
            <a:xfrm>
              <a:off x="4288680" y="9732240"/>
              <a:ext cx="9896400" cy="554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algn="ctr" defTabSz="914400">
                <a:lnSpc>
                  <a:spcPts val="2520"/>
                </a:lnSpc>
                <a:tabLst>
                  <a:tab pos="0" algn="l"/>
                </a:tabLst>
              </a:pPr>
              <a:r>
                <a:rPr lang="en-US" sz="2100" b="0" u="none" strike="noStrike">
                  <a:solidFill>
                    <a:srgbClr val="FFFFFF"/>
                  </a:solidFill>
                  <a:effectLst/>
                  <a:uFillTx/>
                  <a:latin typeface="Georgia"/>
                  <a:ea typeface="Georgia"/>
                </a:rPr>
                <a:t>International Institute of Information Technology, Naya Raipur</a:t>
              </a:r>
              <a:endParaRPr lang="en-IN" sz="21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291" name="Group 15"/>
          <p:cNvGrpSpPr/>
          <p:nvPr/>
        </p:nvGrpSpPr>
        <p:grpSpPr>
          <a:xfrm>
            <a:off x="14444640" y="9711000"/>
            <a:ext cx="2969280" cy="575640"/>
            <a:chOff x="14444640" y="9711000"/>
            <a:chExt cx="2969280" cy="575640"/>
          </a:xfrm>
        </p:grpSpPr>
        <p:sp>
          <p:nvSpPr>
            <p:cNvPr id="292" name="Freeform 16"/>
            <p:cNvSpPr/>
            <p:nvPr/>
          </p:nvSpPr>
          <p:spPr>
            <a:xfrm>
              <a:off x="14444640" y="9739440"/>
              <a:ext cx="2969280" cy="547200"/>
            </a:xfrm>
            <a:custGeom>
              <a:avLst/>
              <a:gdLst>
                <a:gd name="textAreaLeft" fmla="*/ 0 w 2969280"/>
                <a:gd name="textAreaRight" fmla="*/ 2969640 w 2969280"/>
                <a:gd name="textAreaTop" fmla="*/ 0 h 547200"/>
                <a:gd name="textAreaBottom" fmla="*/ 547560 h 547200"/>
              </a:gdLst>
              <a:ahLst/>
              <a:cxnLst/>
              <a:rect l="textAreaLeft" t="textAreaTop" r="textAreaRight" b="textAreaBottom"/>
              <a:pathLst>
                <a:path w="3959280" h="730075">
                  <a:moveTo>
                    <a:pt x="0" y="0"/>
                  </a:moveTo>
                  <a:lnTo>
                    <a:pt x="3959280" y="0"/>
                  </a:lnTo>
                  <a:lnTo>
                    <a:pt x="3959280" y="730075"/>
                  </a:lnTo>
                  <a:lnTo>
                    <a:pt x="0" y="730075"/>
                  </a:lnTo>
                  <a:close/>
                </a:path>
              </a:pathLst>
            </a:custGeom>
            <a:blipFill rotWithShape="0">
              <a:blip r:embed="rId5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93" name="TextBox 17"/>
            <p:cNvSpPr/>
            <p:nvPr/>
          </p:nvSpPr>
          <p:spPr>
            <a:xfrm>
              <a:off x="14444640" y="9711000"/>
              <a:ext cx="2968920" cy="5756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algn="r" defTabSz="914400">
                <a:lnSpc>
                  <a:spcPts val="2160"/>
                </a:lnSpc>
                <a:tabLst>
                  <a:tab pos="0" algn="l"/>
                </a:tabLst>
              </a:pPr>
              <a:r>
                <a:rPr lang="en-US" sz="1800" b="0" u="none" strike="noStrike">
                  <a:solidFill>
                    <a:srgbClr val="FFFFFF"/>
                  </a:solidFill>
                  <a:effectLst/>
                  <a:uFillTx/>
                  <a:latin typeface="Calibri (MS)"/>
                  <a:ea typeface="Calibri (MS)"/>
                </a:rPr>
                <a:t>4</a:t>
              </a:r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294" name="Group 18"/>
          <p:cNvGrpSpPr/>
          <p:nvPr/>
        </p:nvGrpSpPr>
        <p:grpSpPr>
          <a:xfrm>
            <a:off x="1352520" y="2828880"/>
            <a:ext cx="7505280" cy="5362560"/>
            <a:chOff x="1352520" y="2828880"/>
            <a:chExt cx="7505280" cy="5362560"/>
          </a:xfrm>
        </p:grpSpPr>
        <p:sp>
          <p:nvSpPr>
            <p:cNvPr id="295" name="Freeform 19"/>
            <p:cNvSpPr/>
            <p:nvPr/>
          </p:nvSpPr>
          <p:spPr>
            <a:xfrm>
              <a:off x="1352520" y="2857680"/>
              <a:ext cx="7505280" cy="5333760"/>
            </a:xfrm>
            <a:custGeom>
              <a:avLst/>
              <a:gdLst>
                <a:gd name="textAreaLeft" fmla="*/ 0 w 7505280"/>
                <a:gd name="textAreaRight" fmla="*/ 7505640 w 7505280"/>
                <a:gd name="textAreaTop" fmla="*/ 0 h 5333760"/>
                <a:gd name="textAreaBottom" fmla="*/ 5334120 h 5333760"/>
              </a:gdLst>
              <a:ahLst/>
              <a:cxnLst/>
              <a:rect l="textAreaLeft" t="textAreaTop" r="textAreaRight" b="textAreaBottom"/>
              <a:pathLst>
                <a:path w="10007600" h="7112000">
                  <a:moveTo>
                    <a:pt x="152400" y="0"/>
                  </a:moveTo>
                  <a:lnTo>
                    <a:pt x="9855200" y="0"/>
                  </a:lnTo>
                  <a:cubicBezTo>
                    <a:pt x="9939369" y="0"/>
                    <a:pt x="10007600" y="68232"/>
                    <a:pt x="10007600" y="152400"/>
                  </a:cubicBezTo>
                  <a:lnTo>
                    <a:pt x="10007600" y="6959600"/>
                  </a:lnTo>
                  <a:cubicBezTo>
                    <a:pt x="10007600" y="7043769"/>
                    <a:pt x="9939369" y="7112000"/>
                    <a:pt x="9855200" y="7112000"/>
                  </a:cubicBezTo>
                  <a:lnTo>
                    <a:pt x="152400" y="7112000"/>
                  </a:lnTo>
                  <a:cubicBezTo>
                    <a:pt x="68232" y="7112000"/>
                    <a:pt x="0" y="7043769"/>
                    <a:pt x="0" y="6959600"/>
                  </a:cubicBez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E8EDF9"/>
            </a:solidFill>
            <a:ln cap="sq" w="19050">
              <a:solidFill>
                <a:srgbClr val="0C2577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96" name="TextBox 20"/>
            <p:cNvSpPr/>
            <p:nvPr/>
          </p:nvSpPr>
          <p:spPr>
            <a:xfrm>
              <a:off x="1352520" y="2828880"/>
              <a:ext cx="7505280" cy="5362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tIns="50760" rIns="50760" bIns="50760" anchor="ctr">
              <a:noAutofit/>
            </a:bodyPr>
            <a:p>
              <a:pPr/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</p:grpSp>
      <p:grpSp>
        <p:nvGrpSpPr>
          <p:cNvPr id="297" name="Group 21"/>
          <p:cNvGrpSpPr/>
          <p:nvPr/>
        </p:nvGrpSpPr>
        <p:grpSpPr>
          <a:xfrm>
            <a:off x="9429840" y="2828880"/>
            <a:ext cx="7505280" cy="5362560"/>
            <a:chOff x="9429840" y="2828880"/>
            <a:chExt cx="7505280" cy="5362560"/>
          </a:xfrm>
        </p:grpSpPr>
        <p:sp>
          <p:nvSpPr>
            <p:cNvPr id="298" name="Freeform 22"/>
            <p:cNvSpPr/>
            <p:nvPr/>
          </p:nvSpPr>
          <p:spPr>
            <a:xfrm>
              <a:off x="9429840" y="2857680"/>
              <a:ext cx="7505280" cy="5333760"/>
            </a:xfrm>
            <a:custGeom>
              <a:avLst/>
              <a:gdLst>
                <a:gd name="textAreaLeft" fmla="*/ 0 w 7505280"/>
                <a:gd name="textAreaRight" fmla="*/ 7505640 w 7505280"/>
                <a:gd name="textAreaTop" fmla="*/ 0 h 5333760"/>
                <a:gd name="textAreaBottom" fmla="*/ 5334120 h 5333760"/>
              </a:gdLst>
              <a:ahLst/>
              <a:cxnLst/>
              <a:rect l="textAreaLeft" t="textAreaTop" r="textAreaRight" b="textAreaBottom"/>
              <a:pathLst>
                <a:path w="10007600" h="7112000">
                  <a:moveTo>
                    <a:pt x="152400" y="0"/>
                  </a:moveTo>
                  <a:lnTo>
                    <a:pt x="9855200" y="0"/>
                  </a:lnTo>
                  <a:cubicBezTo>
                    <a:pt x="9939369" y="0"/>
                    <a:pt x="10007600" y="68232"/>
                    <a:pt x="10007600" y="152400"/>
                  </a:cubicBezTo>
                  <a:lnTo>
                    <a:pt x="10007600" y="6959600"/>
                  </a:lnTo>
                  <a:cubicBezTo>
                    <a:pt x="10007600" y="7043769"/>
                    <a:pt x="9939369" y="7112000"/>
                    <a:pt x="9855200" y="7112000"/>
                  </a:cubicBezTo>
                  <a:lnTo>
                    <a:pt x="152400" y="7112000"/>
                  </a:lnTo>
                  <a:cubicBezTo>
                    <a:pt x="68232" y="7112000"/>
                    <a:pt x="0" y="7043769"/>
                    <a:pt x="0" y="6959600"/>
                  </a:cubicBez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FFFFFF"/>
            </a:solidFill>
            <a:ln cap="sq" w="19050">
              <a:solidFill>
                <a:srgbClr val="0C2577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99" name="TextBox 23"/>
            <p:cNvSpPr/>
            <p:nvPr/>
          </p:nvSpPr>
          <p:spPr>
            <a:xfrm>
              <a:off x="9429840" y="2828880"/>
              <a:ext cx="7505280" cy="5362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tIns="50760" rIns="50760" bIns="50760" anchor="ctr">
              <a:noAutofit/>
            </a:bodyPr>
            <a:p>
              <a:pPr/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</p:grpSp>
      <p:sp>
        <p:nvSpPr>
          <p:cNvPr id="300" name="TextBox 24"/>
          <p:cNvSpPr/>
          <p:nvPr/>
        </p:nvSpPr>
        <p:spPr>
          <a:xfrm>
            <a:off x="1619280" y="2909520"/>
            <a:ext cx="6972120" cy="45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3640"/>
              </a:lnSpc>
            </a:pPr>
            <a:r>
              <a:rPr lang="en-US" sz="2600" b="1" u="none" strike="noStrike">
                <a:solidFill>
                  <a:srgbClr val="0C2577"/>
                </a:solidFill>
                <a:effectLst/>
                <a:uFillTx/>
                <a:latin typeface="Arimo Bold"/>
                <a:ea typeface="Arimo Bold"/>
              </a:rPr>
              <a:t>Problem Definition</a:t>
            </a:r>
            <a:endParaRPr lang="en-IN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1" name="TextBox 25"/>
          <p:cNvSpPr/>
          <p:nvPr/>
        </p:nvSpPr>
        <p:spPr>
          <a:xfrm>
            <a:off x="1619280" y="3405600"/>
            <a:ext cx="110880" cy="43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3498"/>
              </a:lnSpc>
            </a:pPr>
            <a:r>
              <a:rPr lang="en-US" sz="2500" b="1" u="none" strike="noStrike">
                <a:solidFill>
                  <a:srgbClr val="0C2577"/>
                </a:solidFill>
                <a:effectLst/>
                <a:uFillTx/>
                <a:latin typeface="Arimo Bold"/>
                <a:ea typeface="Arimo Bold"/>
              </a:rPr>
              <a:t>•</a:t>
            </a:r>
            <a:endParaRPr lang="en-IN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2" name="TextBox 26"/>
          <p:cNvSpPr/>
          <p:nvPr/>
        </p:nvSpPr>
        <p:spPr>
          <a:xfrm>
            <a:off x="2057400" y="3414960"/>
            <a:ext cx="6533640" cy="1257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3373"/>
              </a:lnSpc>
            </a:pPr>
            <a:r>
              <a:rPr lang="en-US" sz="2500" b="0" u="none" strike="noStrike">
                <a:solidFill>
                  <a:srgbClr val="002060"/>
                </a:solidFill>
                <a:effectLst/>
                <a:uFillTx/>
                <a:latin typeface="Arimo"/>
                <a:ea typeface="Arimo"/>
              </a:rPr>
              <a:t>Existing voice assistants assume cloud compute, stable connectivity and high-resource languages.</a:t>
            </a:r>
            <a:endParaRPr lang="en-IN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3" name="TextBox 27"/>
          <p:cNvSpPr/>
          <p:nvPr/>
        </p:nvSpPr>
        <p:spPr>
          <a:xfrm>
            <a:off x="1619280" y="4634280"/>
            <a:ext cx="110880" cy="43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3498"/>
              </a:lnSpc>
            </a:pPr>
            <a:r>
              <a:rPr lang="en-US" sz="2500" b="1" u="none" strike="noStrike">
                <a:solidFill>
                  <a:srgbClr val="0C2577"/>
                </a:solidFill>
                <a:effectLst/>
                <a:uFillTx/>
                <a:latin typeface="Arimo Bold"/>
                <a:ea typeface="Arimo Bold"/>
              </a:rPr>
              <a:t>•</a:t>
            </a:r>
            <a:endParaRPr lang="en-IN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4" name="TextBox 28"/>
          <p:cNvSpPr/>
          <p:nvPr/>
        </p:nvSpPr>
        <p:spPr>
          <a:xfrm>
            <a:off x="2057400" y="4643640"/>
            <a:ext cx="6533640" cy="1257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3373"/>
              </a:lnSpc>
            </a:pPr>
            <a:r>
              <a:rPr lang="en-US" sz="2500" b="0" u="none" strike="noStrike">
                <a:solidFill>
                  <a:srgbClr val="002060"/>
                </a:solidFill>
                <a:effectLst/>
                <a:uFillTx/>
                <a:latin typeface="Arimo"/>
                <a:ea typeface="Arimo"/>
              </a:rPr>
              <a:t>A local assistant must recognise vernacular speech, execute tasks safely and answer institutional questions with evidence.</a:t>
            </a:r>
            <a:endParaRPr lang="en-IN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5" name="TextBox 29"/>
          <p:cNvSpPr/>
          <p:nvPr/>
        </p:nvSpPr>
        <p:spPr>
          <a:xfrm>
            <a:off x="1619280" y="5843880"/>
            <a:ext cx="110880" cy="43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3498"/>
              </a:lnSpc>
            </a:pPr>
            <a:r>
              <a:rPr lang="en-US" sz="2500" b="1" u="none" strike="noStrike">
                <a:solidFill>
                  <a:srgbClr val="0C2577"/>
                </a:solidFill>
                <a:effectLst/>
                <a:uFillTx/>
                <a:latin typeface="Arimo Bold"/>
                <a:ea typeface="Arimo Bold"/>
              </a:rPr>
              <a:t>•</a:t>
            </a:r>
            <a:endParaRPr lang="en-IN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6" name="TextBox 30"/>
          <p:cNvSpPr/>
          <p:nvPr/>
        </p:nvSpPr>
        <p:spPr>
          <a:xfrm>
            <a:off x="2057400" y="5872680"/>
            <a:ext cx="6533640" cy="83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3373"/>
              </a:lnSpc>
            </a:pPr>
            <a:r>
              <a:rPr lang="en-US" sz="2500" b="0" u="none" strike="noStrike">
                <a:solidFill>
                  <a:srgbClr val="002060"/>
                </a:solidFill>
                <a:effectLst/>
                <a:uFillTx/>
                <a:latin typeface="Arimo"/>
                <a:ea typeface="Arimo"/>
              </a:rPr>
              <a:t>It must operate within consumer hardware limits without sacrificing factual verification.</a:t>
            </a:r>
            <a:endParaRPr lang="en-IN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7" name="TextBox 31"/>
          <p:cNvSpPr/>
          <p:nvPr/>
        </p:nvSpPr>
        <p:spPr>
          <a:xfrm>
            <a:off x="9696600" y="2909520"/>
            <a:ext cx="6972120" cy="45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3640"/>
              </a:lnSpc>
            </a:pPr>
            <a:r>
              <a:rPr lang="en-US" sz="2600" b="1" u="none" strike="noStrike">
                <a:solidFill>
                  <a:srgbClr val="0C2577"/>
                </a:solidFill>
                <a:effectLst/>
                <a:uFillTx/>
                <a:latin typeface="Arimo Bold"/>
                <a:ea typeface="Arimo Bold"/>
              </a:rPr>
              <a:t>Research Gap</a:t>
            </a:r>
            <a:endParaRPr lang="en-IN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8" name="TextBox 32"/>
          <p:cNvSpPr/>
          <p:nvPr/>
        </p:nvSpPr>
        <p:spPr>
          <a:xfrm>
            <a:off x="9696600" y="3405600"/>
            <a:ext cx="110880" cy="43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3498"/>
              </a:lnSpc>
            </a:pPr>
            <a:r>
              <a:rPr lang="en-US" sz="2500" b="1" u="none" strike="noStrike">
                <a:solidFill>
                  <a:srgbClr val="0C2577"/>
                </a:solidFill>
                <a:effectLst/>
                <a:uFillTx/>
                <a:latin typeface="Arimo Bold"/>
                <a:ea typeface="Arimo Bold"/>
              </a:rPr>
              <a:t>•</a:t>
            </a:r>
            <a:endParaRPr lang="en-IN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9" name="TextBox 33"/>
          <p:cNvSpPr/>
          <p:nvPr/>
        </p:nvSpPr>
        <p:spPr>
          <a:xfrm>
            <a:off x="10134720" y="3414960"/>
            <a:ext cx="6533640" cy="1257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3373"/>
              </a:lnSpc>
            </a:pPr>
            <a:r>
              <a:rPr lang="en-US" sz="2500" b="0" u="none" strike="noStrike">
                <a:solidFill>
                  <a:srgbClr val="002060"/>
                </a:solidFill>
                <a:effectLst/>
                <a:uFillTx/>
                <a:latin typeface="Arimo"/>
                <a:ea typeface="Arimo"/>
              </a:rPr>
              <a:t>Few reusable edge-native Voice-to-Voice platforms combine speech, retrieval, verification and task execution.</a:t>
            </a:r>
            <a:endParaRPr lang="en-IN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0" name="TextBox 34"/>
          <p:cNvSpPr/>
          <p:nvPr/>
        </p:nvSpPr>
        <p:spPr>
          <a:xfrm>
            <a:off x="9696600" y="4634280"/>
            <a:ext cx="110880" cy="43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3498"/>
              </a:lnSpc>
            </a:pPr>
            <a:r>
              <a:rPr lang="en-US" sz="2500" b="1" u="none" strike="noStrike">
                <a:solidFill>
                  <a:srgbClr val="0C2577"/>
                </a:solidFill>
                <a:effectLst/>
                <a:uFillTx/>
                <a:latin typeface="Arimo Bold"/>
                <a:ea typeface="Arimo Bold"/>
              </a:rPr>
              <a:t>•</a:t>
            </a:r>
            <a:endParaRPr lang="en-IN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1" name="TextBox 35"/>
          <p:cNvSpPr/>
          <p:nvPr/>
        </p:nvSpPr>
        <p:spPr>
          <a:xfrm>
            <a:off x="10134720" y="4643640"/>
            <a:ext cx="6533640" cy="1257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3373"/>
              </a:lnSpc>
            </a:pPr>
            <a:r>
              <a:rPr lang="en-US" sz="2500" b="0" u="none" strike="noStrike">
                <a:solidFill>
                  <a:srgbClr val="002060"/>
                </a:solidFill>
                <a:effectLst/>
                <a:uFillTx/>
                <a:latin typeface="Arimo"/>
                <a:ea typeface="Arimo"/>
              </a:rPr>
              <a:t>Numerical institutional questions need hybrid retrieval plus an exact structured-data path, not vector search alone.</a:t>
            </a:r>
            <a:endParaRPr lang="en-IN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2" name="TextBox 36"/>
          <p:cNvSpPr/>
          <p:nvPr/>
        </p:nvSpPr>
        <p:spPr>
          <a:xfrm>
            <a:off x="9696600" y="5863320"/>
            <a:ext cx="110880" cy="43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3498"/>
              </a:lnSpc>
            </a:pPr>
            <a:r>
              <a:rPr lang="en-US" sz="2500" b="1" u="none" strike="noStrike">
                <a:solidFill>
                  <a:srgbClr val="0C2577"/>
                </a:solidFill>
                <a:effectLst/>
                <a:uFillTx/>
                <a:latin typeface="Arimo Bold"/>
                <a:ea typeface="Arimo Bold"/>
              </a:rPr>
              <a:t>•</a:t>
            </a:r>
            <a:endParaRPr lang="en-IN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3" name="TextBox 37"/>
          <p:cNvSpPr/>
          <p:nvPr/>
        </p:nvSpPr>
        <p:spPr>
          <a:xfrm>
            <a:off x="10134720" y="5872680"/>
            <a:ext cx="6533640" cy="83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3373"/>
              </a:lnSpc>
            </a:pPr>
            <a:r>
              <a:rPr lang="en-US" sz="2500" b="0" u="none" strike="noStrike">
                <a:solidFill>
                  <a:srgbClr val="002060"/>
                </a:solidFill>
                <a:effectLst/>
                <a:uFillTx/>
                <a:latin typeface="Arimo"/>
                <a:ea typeface="Arimo"/>
              </a:rPr>
              <a:t>Grounding must be checked at claim / quote level before an answer is accepted.</a:t>
            </a:r>
            <a:endParaRPr lang="en-IN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4" name="TextBox 38"/>
          <p:cNvSpPr/>
          <p:nvPr/>
        </p:nvSpPr>
        <p:spPr>
          <a:xfrm>
            <a:off x="9696600" y="6728400"/>
            <a:ext cx="110880" cy="43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3498"/>
              </a:lnSpc>
            </a:pPr>
            <a:r>
              <a:rPr lang="en-US" sz="2500" b="1" u="none" strike="noStrike">
                <a:solidFill>
                  <a:srgbClr val="0C2577"/>
                </a:solidFill>
                <a:effectLst/>
                <a:uFillTx/>
                <a:latin typeface="Arimo Bold"/>
                <a:ea typeface="Arimo Bold"/>
              </a:rPr>
              <a:t>•</a:t>
            </a:r>
            <a:endParaRPr lang="en-IN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5" name="TextBox 39"/>
          <p:cNvSpPr/>
          <p:nvPr/>
        </p:nvSpPr>
        <p:spPr>
          <a:xfrm>
            <a:off x="10134720" y="6738120"/>
            <a:ext cx="6533640" cy="1257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3373"/>
              </a:lnSpc>
            </a:pPr>
            <a:r>
              <a:rPr lang="en-US" sz="2500" b="0" u="none" strike="noStrike">
                <a:solidFill>
                  <a:srgbClr val="002060"/>
                </a:solidFill>
                <a:effectLst/>
                <a:uFillTx/>
                <a:latin typeface="Arimo"/>
                <a:ea typeface="Arimo"/>
              </a:rPr>
              <a:t>Streaming input/output and speech benchmarks are still gaps in the current implementation.</a:t>
            </a:r>
            <a:endParaRPr lang="en-IN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6" name="AutoShape 40"/>
          <p:cNvSpPr/>
          <p:nvPr/>
        </p:nvSpPr>
        <p:spPr>
          <a:xfrm>
            <a:off x="8953200" y="5524200"/>
            <a:ext cx="381240" cy="360"/>
          </a:xfrm>
          <a:prstGeom prst="line">
            <a:avLst/>
          </a:prstGeom>
          <a:ln w="38100">
            <a:solidFill>
              <a:srgbClr val="0C2577"/>
            </a:solidFill>
            <a:round/>
            <a:tailEnd len="med" type="triangle" w="lg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pPr/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transition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7" name="Group 2"/>
          <p:cNvGrpSpPr/>
          <p:nvPr/>
        </p:nvGrpSpPr>
        <p:grpSpPr>
          <a:xfrm>
            <a:off x="0" y="9698760"/>
            <a:ext cx="18288000" cy="606600"/>
            <a:chOff x="0" y="9698760"/>
            <a:chExt cx="18288000" cy="606600"/>
          </a:xfrm>
        </p:grpSpPr>
        <p:sp>
          <p:nvSpPr>
            <p:cNvPr id="318" name="Freeform 3"/>
            <p:cNvSpPr/>
            <p:nvPr/>
          </p:nvSpPr>
          <p:spPr>
            <a:xfrm>
              <a:off x="0" y="9698760"/>
              <a:ext cx="18288000" cy="606600"/>
            </a:xfrm>
            <a:custGeom>
              <a:avLst/>
              <a:gdLst>
                <a:gd name="textAreaLeft" fmla="*/ 0 w 18288000"/>
                <a:gd name="textAreaRight" fmla="*/ 18288360 w 18288000"/>
                <a:gd name="textAreaTop" fmla="*/ 0 h 606600"/>
                <a:gd name="textAreaBottom" fmla="*/ 606960 h 606600"/>
              </a:gdLst>
              <a:ahLst/>
              <a:cxnLst/>
              <a:rect l="textAreaLeft" t="textAreaTop" r="textAreaRight" b="textAreaBottom"/>
              <a:pathLst>
                <a:path w="24384254" h="809244">
                  <a:moveTo>
                    <a:pt x="0" y="0"/>
                  </a:moveTo>
                  <a:lnTo>
                    <a:pt x="24384254" y="0"/>
                  </a:lnTo>
                  <a:lnTo>
                    <a:pt x="24384254" y="809244"/>
                  </a:lnTo>
                  <a:lnTo>
                    <a:pt x="0" y="809244"/>
                  </a:lnTo>
                  <a:close/>
                </a:path>
              </a:pathLst>
            </a:custGeom>
            <a:solidFill>
              <a:srgbClr val="0C2577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319" name="Group 4"/>
          <p:cNvGrpSpPr/>
          <p:nvPr/>
        </p:nvGrpSpPr>
        <p:grpSpPr>
          <a:xfrm>
            <a:off x="15935400" y="345240"/>
            <a:ext cx="2190240" cy="2190240"/>
            <a:chOff x="15935400" y="345240"/>
            <a:chExt cx="2190240" cy="2190240"/>
          </a:xfrm>
        </p:grpSpPr>
        <p:sp>
          <p:nvSpPr>
            <p:cNvPr id="320" name="Freeform 5"/>
            <p:cNvSpPr/>
            <p:nvPr/>
          </p:nvSpPr>
          <p:spPr>
            <a:xfrm>
              <a:off x="15935400" y="345240"/>
              <a:ext cx="2190240" cy="2190240"/>
            </a:xfrm>
            <a:custGeom>
              <a:avLst/>
              <a:gdLst>
                <a:gd name="textAreaLeft" fmla="*/ 0 w 2190240"/>
                <a:gd name="textAreaRight" fmla="*/ 2190600 w 2190240"/>
                <a:gd name="textAreaTop" fmla="*/ 0 h 2190240"/>
                <a:gd name="textAreaBottom" fmla="*/ 2190600 h 2190240"/>
              </a:gdLst>
              <a:ahLst/>
              <a:cxnLst/>
              <a:rect l="textAreaLeft" t="textAreaTop" r="textAreaRight" b="textAreaBottom"/>
              <a:pathLst>
                <a:path w="2921000" h="2921000">
                  <a:moveTo>
                    <a:pt x="0" y="0"/>
                  </a:moveTo>
                  <a:lnTo>
                    <a:pt x="2921000" y="0"/>
                  </a:lnTo>
                  <a:lnTo>
                    <a:pt x="2921000" y="2921000"/>
                  </a:lnTo>
                  <a:lnTo>
                    <a:pt x="0" y="2921000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1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321" name="Group 6"/>
          <p:cNvGrpSpPr/>
          <p:nvPr/>
        </p:nvGrpSpPr>
        <p:grpSpPr>
          <a:xfrm>
            <a:off x="1257120" y="547560"/>
            <a:ext cx="15773040" cy="1987920"/>
            <a:chOff x="1257120" y="547560"/>
            <a:chExt cx="15773040" cy="1987920"/>
          </a:xfrm>
        </p:grpSpPr>
        <p:sp>
          <p:nvSpPr>
            <p:cNvPr id="322" name="Freeform 7"/>
            <p:cNvSpPr/>
            <p:nvPr/>
          </p:nvSpPr>
          <p:spPr>
            <a:xfrm>
              <a:off x="1257120" y="547560"/>
              <a:ext cx="15773040" cy="1987920"/>
            </a:xfrm>
            <a:custGeom>
              <a:avLst/>
              <a:gdLst>
                <a:gd name="textAreaLeft" fmla="*/ 0 w 15773040"/>
                <a:gd name="textAreaRight" fmla="*/ 15773400 w 15773040"/>
                <a:gd name="textAreaTop" fmla="*/ 0 h 1987920"/>
                <a:gd name="textAreaBottom" fmla="*/ 1988280 h 1987920"/>
              </a:gdLst>
              <a:ahLst/>
              <a:cxnLst/>
              <a:rect l="textAreaLeft" t="textAreaTop" r="textAreaRight" b="textAreaBottom"/>
              <a:pathLst>
                <a:path w="21031200" h="2651044">
                  <a:moveTo>
                    <a:pt x="0" y="0"/>
                  </a:moveTo>
                  <a:lnTo>
                    <a:pt x="21031200" y="0"/>
                  </a:lnTo>
                  <a:lnTo>
                    <a:pt x="21031200" y="2651044"/>
                  </a:lnTo>
                  <a:lnTo>
                    <a:pt x="0" y="2651044"/>
                  </a:lnTo>
                  <a:close/>
                </a:path>
              </a:pathLst>
            </a:custGeom>
            <a:blipFill rotWithShape="0">
              <a:blip r:embed="rId2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23" name="TextBox 8"/>
            <p:cNvSpPr/>
            <p:nvPr/>
          </p:nvSpPr>
          <p:spPr>
            <a:xfrm>
              <a:off x="1257120" y="597600"/>
              <a:ext cx="15773040" cy="1937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defTabSz="914400">
                <a:lnSpc>
                  <a:spcPts val="7129"/>
                </a:lnSpc>
                <a:tabLst>
                  <a:tab pos="0" algn="l"/>
                </a:tabLst>
              </a:pPr>
              <a:r>
                <a:rPr lang="en-US" sz="6600" b="1" u="none" spc="-40" strike="noStrike">
                  <a:solidFill>
                    <a:srgbClr val="002060"/>
                  </a:solidFill>
                  <a:effectLst/>
                  <a:uFillTx/>
                  <a:latin typeface="TT Rounds Condensed Bold"/>
                  <a:ea typeface="TT Rounds Condensed Bold"/>
                </a:rPr>
                <a:t>05  Objectives</a:t>
              </a:r>
              <a:endParaRPr lang="en-IN" sz="6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324" name="Group 9"/>
          <p:cNvGrpSpPr/>
          <p:nvPr/>
        </p:nvGrpSpPr>
        <p:grpSpPr>
          <a:xfrm>
            <a:off x="399960" y="9808560"/>
            <a:ext cx="3314160" cy="478440"/>
            <a:chOff x="399960" y="9808560"/>
            <a:chExt cx="3314160" cy="478440"/>
          </a:xfrm>
        </p:grpSpPr>
        <p:sp>
          <p:nvSpPr>
            <p:cNvPr id="325" name="Freeform 10"/>
            <p:cNvSpPr/>
            <p:nvPr/>
          </p:nvSpPr>
          <p:spPr>
            <a:xfrm>
              <a:off x="399960" y="9837360"/>
              <a:ext cx="3314160" cy="449640"/>
            </a:xfrm>
            <a:custGeom>
              <a:avLst/>
              <a:gdLst>
                <a:gd name="textAreaLeft" fmla="*/ 0 w 3314160"/>
                <a:gd name="textAreaRight" fmla="*/ 3314520 w 3314160"/>
                <a:gd name="textAreaTop" fmla="*/ 0 h 449640"/>
                <a:gd name="textAreaBottom" fmla="*/ 450000 h 449640"/>
              </a:gdLst>
              <a:ahLst/>
              <a:cxnLst/>
              <a:rect l="textAreaLeft" t="textAreaTop" r="textAreaRight" b="textAreaBottom"/>
              <a:pathLst>
                <a:path w="4419360" h="599763">
                  <a:moveTo>
                    <a:pt x="0" y="0"/>
                  </a:moveTo>
                  <a:lnTo>
                    <a:pt x="4419360" y="0"/>
                  </a:lnTo>
                  <a:lnTo>
                    <a:pt x="4419360" y="599763"/>
                  </a:lnTo>
                  <a:lnTo>
                    <a:pt x="0" y="599763"/>
                  </a:lnTo>
                  <a:close/>
                </a:path>
              </a:pathLst>
            </a:custGeom>
            <a:blipFill rotWithShape="0">
              <a:blip r:embed="rId3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26" name="TextBox 11"/>
            <p:cNvSpPr/>
            <p:nvPr/>
          </p:nvSpPr>
          <p:spPr>
            <a:xfrm>
              <a:off x="399960" y="9808560"/>
              <a:ext cx="3314160" cy="478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defTabSz="914400">
                <a:lnSpc>
                  <a:spcPts val="2160"/>
                </a:lnSpc>
                <a:tabLst>
                  <a:tab pos="0" algn="l"/>
                </a:tabLst>
              </a:pPr>
              <a:r>
                <a:rPr lang="en-US" sz="1800" b="0" u="none" strike="noStrike">
                  <a:solidFill>
                    <a:srgbClr val="FFFFFF"/>
                  </a:solidFill>
                  <a:effectLst/>
                  <a:uFillTx/>
                  <a:latin typeface="Calibri (MS)"/>
                  <a:ea typeface="Calibri (MS)"/>
                </a:rPr>
                <a:t>05/10/26</a:t>
              </a:r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327" name="Group 12"/>
          <p:cNvGrpSpPr/>
          <p:nvPr/>
        </p:nvGrpSpPr>
        <p:grpSpPr>
          <a:xfrm>
            <a:off x="4288680" y="9732240"/>
            <a:ext cx="9896400" cy="554400"/>
            <a:chOff x="4288680" y="9732240"/>
            <a:chExt cx="9896400" cy="554400"/>
          </a:xfrm>
        </p:grpSpPr>
        <p:sp>
          <p:nvSpPr>
            <p:cNvPr id="328" name="Freeform 13"/>
            <p:cNvSpPr/>
            <p:nvPr/>
          </p:nvSpPr>
          <p:spPr>
            <a:xfrm>
              <a:off x="4288680" y="9739440"/>
              <a:ext cx="9896400" cy="547200"/>
            </a:xfrm>
            <a:custGeom>
              <a:avLst/>
              <a:gdLst>
                <a:gd name="textAreaLeft" fmla="*/ 0 w 9896400"/>
                <a:gd name="textAreaRight" fmla="*/ 9896760 w 9896400"/>
                <a:gd name="textAreaTop" fmla="*/ 0 h 547200"/>
                <a:gd name="textAreaBottom" fmla="*/ 547560 h 547200"/>
              </a:gdLst>
              <a:ahLst/>
              <a:cxnLst/>
              <a:rect l="textAreaLeft" t="textAreaTop" r="textAreaRight" b="textAreaBottom"/>
              <a:pathLst>
                <a:path w="13195440" h="730075">
                  <a:moveTo>
                    <a:pt x="0" y="0"/>
                  </a:moveTo>
                  <a:lnTo>
                    <a:pt x="13195440" y="0"/>
                  </a:lnTo>
                  <a:lnTo>
                    <a:pt x="13195440" y="730075"/>
                  </a:lnTo>
                  <a:lnTo>
                    <a:pt x="0" y="730075"/>
                  </a:lnTo>
                  <a:close/>
                </a:path>
              </a:pathLst>
            </a:custGeom>
            <a:blipFill rotWithShape="0">
              <a:blip r:embed="rId4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29" name="TextBox 14"/>
            <p:cNvSpPr/>
            <p:nvPr/>
          </p:nvSpPr>
          <p:spPr>
            <a:xfrm>
              <a:off x="4288680" y="9732240"/>
              <a:ext cx="9896400" cy="554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algn="ctr" defTabSz="914400">
                <a:lnSpc>
                  <a:spcPts val="2520"/>
                </a:lnSpc>
                <a:tabLst>
                  <a:tab pos="0" algn="l"/>
                </a:tabLst>
              </a:pPr>
              <a:r>
                <a:rPr lang="en-US" sz="2100" b="0" u="none" strike="noStrike">
                  <a:solidFill>
                    <a:srgbClr val="FFFFFF"/>
                  </a:solidFill>
                  <a:effectLst/>
                  <a:uFillTx/>
                  <a:latin typeface="Georgia"/>
                  <a:ea typeface="Georgia"/>
                </a:rPr>
                <a:t>International Institute of Information Technology, Naya Raipur</a:t>
              </a:r>
              <a:endParaRPr lang="en-IN" sz="21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330" name="Group 15"/>
          <p:cNvGrpSpPr/>
          <p:nvPr/>
        </p:nvGrpSpPr>
        <p:grpSpPr>
          <a:xfrm>
            <a:off x="14444640" y="9711000"/>
            <a:ext cx="2969280" cy="575640"/>
            <a:chOff x="14444640" y="9711000"/>
            <a:chExt cx="2969280" cy="575640"/>
          </a:xfrm>
        </p:grpSpPr>
        <p:sp>
          <p:nvSpPr>
            <p:cNvPr id="331" name="Freeform 16"/>
            <p:cNvSpPr/>
            <p:nvPr/>
          </p:nvSpPr>
          <p:spPr>
            <a:xfrm>
              <a:off x="14444640" y="9739440"/>
              <a:ext cx="2969280" cy="547200"/>
            </a:xfrm>
            <a:custGeom>
              <a:avLst/>
              <a:gdLst>
                <a:gd name="textAreaLeft" fmla="*/ 0 w 2969280"/>
                <a:gd name="textAreaRight" fmla="*/ 2969640 w 2969280"/>
                <a:gd name="textAreaTop" fmla="*/ 0 h 547200"/>
                <a:gd name="textAreaBottom" fmla="*/ 547560 h 547200"/>
              </a:gdLst>
              <a:ahLst/>
              <a:cxnLst/>
              <a:rect l="textAreaLeft" t="textAreaTop" r="textAreaRight" b="textAreaBottom"/>
              <a:pathLst>
                <a:path w="3959280" h="730075">
                  <a:moveTo>
                    <a:pt x="0" y="0"/>
                  </a:moveTo>
                  <a:lnTo>
                    <a:pt x="3959280" y="0"/>
                  </a:lnTo>
                  <a:lnTo>
                    <a:pt x="3959280" y="730075"/>
                  </a:lnTo>
                  <a:lnTo>
                    <a:pt x="0" y="730075"/>
                  </a:lnTo>
                  <a:close/>
                </a:path>
              </a:pathLst>
            </a:custGeom>
            <a:blipFill rotWithShape="0">
              <a:blip r:embed="rId5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32" name="TextBox 17"/>
            <p:cNvSpPr/>
            <p:nvPr/>
          </p:nvSpPr>
          <p:spPr>
            <a:xfrm>
              <a:off x="14444640" y="9711000"/>
              <a:ext cx="2968920" cy="5756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algn="r" defTabSz="914400">
                <a:lnSpc>
                  <a:spcPts val="2160"/>
                </a:lnSpc>
                <a:tabLst>
                  <a:tab pos="0" algn="l"/>
                </a:tabLst>
              </a:pPr>
              <a:r>
                <a:rPr lang="en-US" sz="1800" b="0" u="none" strike="noStrike">
                  <a:solidFill>
                    <a:srgbClr val="FFFFFF"/>
                  </a:solidFill>
                  <a:effectLst/>
                  <a:uFillTx/>
                  <a:latin typeface="Calibri (MS)"/>
                  <a:ea typeface="Calibri (MS)"/>
                </a:rPr>
                <a:t>&lt;number&gt;</a:t>
              </a:r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333" name="TextBox 18"/>
          <p:cNvSpPr/>
          <p:nvPr/>
        </p:nvSpPr>
        <p:spPr>
          <a:xfrm>
            <a:off x="1352520" y="2800440"/>
            <a:ext cx="110880" cy="43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3498"/>
              </a:lnSpc>
            </a:pPr>
            <a:r>
              <a:rPr lang="en-US" sz="2500" b="1" u="none" strike="noStrike">
                <a:solidFill>
                  <a:srgbClr val="0C2577"/>
                </a:solidFill>
                <a:effectLst/>
                <a:uFillTx/>
                <a:latin typeface="Arimo Bold"/>
                <a:ea typeface="Arimo Bold"/>
              </a:rPr>
              <a:t>•</a:t>
            </a:r>
            <a:endParaRPr lang="en-IN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4" name="TextBox 19"/>
          <p:cNvSpPr/>
          <p:nvPr/>
        </p:nvSpPr>
        <p:spPr>
          <a:xfrm>
            <a:off x="1790640" y="2809800"/>
            <a:ext cx="15144480" cy="41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3373"/>
              </a:lnSpc>
            </a:pPr>
            <a:r>
              <a:rPr lang="en-US" sz="2500" b="1" u="none" strike="noStrike">
                <a:solidFill>
                  <a:srgbClr val="002060"/>
                </a:solidFill>
                <a:effectLst/>
                <a:uFillTx/>
                <a:latin typeface="Arimo Bold"/>
                <a:ea typeface="Arimo Bold"/>
              </a:rPr>
              <a:t>Develop — </a:t>
            </a:r>
            <a:r>
              <a:rPr lang="en-US" sz="2500" b="0" u="none" strike="noStrike">
                <a:solidFill>
                  <a:srgbClr val="002060"/>
                </a:solidFill>
                <a:effectLst/>
                <a:uFillTx/>
                <a:latin typeface="Arimo"/>
                <a:ea typeface="Arimo"/>
              </a:rPr>
              <a:t>an edge-native Voice-to-Voice platform for Chhattisgarhi, Hindi, Hinglish and English</a:t>
            </a:r>
            <a:endParaRPr lang="en-IN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5" name="TextBox 20"/>
          <p:cNvSpPr/>
          <p:nvPr/>
        </p:nvSpPr>
        <p:spPr>
          <a:xfrm>
            <a:off x="1352520" y="3514680"/>
            <a:ext cx="110880" cy="43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3498"/>
              </a:lnSpc>
            </a:pPr>
            <a:r>
              <a:rPr lang="en-US" sz="2500" b="1" u="none" strike="noStrike">
                <a:solidFill>
                  <a:srgbClr val="0C2577"/>
                </a:solidFill>
                <a:effectLst/>
                <a:uFillTx/>
                <a:latin typeface="Arimo Bold"/>
                <a:ea typeface="Arimo Bold"/>
              </a:rPr>
              <a:t>•</a:t>
            </a:r>
            <a:endParaRPr lang="en-IN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6" name="TextBox 21"/>
          <p:cNvSpPr/>
          <p:nvPr/>
        </p:nvSpPr>
        <p:spPr>
          <a:xfrm>
            <a:off x="1790640" y="3524400"/>
            <a:ext cx="15144480" cy="41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3373"/>
              </a:lnSpc>
            </a:pPr>
            <a:r>
              <a:rPr lang="en-US" sz="2500" b="1" u="none" strike="noStrike">
                <a:solidFill>
                  <a:srgbClr val="002060"/>
                </a:solidFill>
                <a:effectLst/>
                <a:uFillTx/>
                <a:latin typeface="Arimo Bold"/>
                <a:ea typeface="Arimo Bold"/>
              </a:rPr>
              <a:t>Integrate — </a:t>
            </a:r>
            <a:r>
              <a:rPr lang="en-US" sz="2500" b="0" u="none" strike="noStrike">
                <a:solidFill>
                  <a:srgbClr val="002060"/>
                </a:solidFill>
                <a:effectLst/>
                <a:uFillTx/>
                <a:latin typeface="Arimo"/>
                <a:ea typeface="Arimo"/>
              </a:rPr>
              <a:t>Silero VAD, Faster-Whisper / MMS ASR, Devanagari repair, verbalization and TTS</a:t>
            </a:r>
            <a:endParaRPr lang="en-IN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7" name="TextBox 22"/>
          <p:cNvSpPr/>
          <p:nvPr/>
        </p:nvSpPr>
        <p:spPr>
          <a:xfrm>
            <a:off x="1352520" y="4229280"/>
            <a:ext cx="110880" cy="43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3498"/>
              </a:lnSpc>
            </a:pPr>
            <a:r>
              <a:rPr lang="en-US" sz="2500" b="1" u="none" strike="noStrike">
                <a:solidFill>
                  <a:srgbClr val="0C2577"/>
                </a:solidFill>
                <a:effectLst/>
                <a:uFillTx/>
                <a:latin typeface="Arimo Bold"/>
                <a:ea typeface="Arimo Bold"/>
              </a:rPr>
              <a:t>•</a:t>
            </a:r>
            <a:endParaRPr lang="en-IN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8" name="TextBox 23"/>
          <p:cNvSpPr/>
          <p:nvPr/>
        </p:nvSpPr>
        <p:spPr>
          <a:xfrm>
            <a:off x="1790640" y="4238640"/>
            <a:ext cx="15144480" cy="41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3373"/>
              </a:lnSpc>
            </a:pPr>
            <a:r>
              <a:rPr lang="en-US" sz="2500" b="1" u="none" strike="noStrike">
                <a:solidFill>
                  <a:srgbClr val="002060"/>
                </a:solidFill>
                <a:effectLst/>
                <a:uFillTx/>
                <a:latin typeface="Arimo Bold"/>
                <a:ea typeface="Arimo Bold"/>
              </a:rPr>
              <a:t>Validate — </a:t>
            </a:r>
            <a:r>
              <a:rPr lang="en-US" sz="2500" b="0" u="none" strike="noStrike">
                <a:solidFill>
                  <a:srgbClr val="002060"/>
                </a:solidFill>
                <a:effectLst/>
                <a:uFillTx/>
                <a:latin typeface="Arimo"/>
                <a:ea typeface="Arimo"/>
              </a:rPr>
              <a:t>the reusable core through Kisan Saathi and the IIIT-NR Voice Helpdesk</a:t>
            </a:r>
            <a:endParaRPr lang="en-IN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9" name="TextBox 24"/>
          <p:cNvSpPr/>
          <p:nvPr/>
        </p:nvSpPr>
        <p:spPr>
          <a:xfrm>
            <a:off x="1352520" y="4943520"/>
            <a:ext cx="110880" cy="43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3498"/>
              </a:lnSpc>
            </a:pPr>
            <a:r>
              <a:rPr lang="en-US" sz="2500" b="1" u="none" strike="noStrike">
                <a:solidFill>
                  <a:srgbClr val="0C2577"/>
                </a:solidFill>
                <a:effectLst/>
                <a:uFillTx/>
                <a:latin typeface="Arimo Bold"/>
                <a:ea typeface="Arimo Bold"/>
              </a:rPr>
              <a:t>•</a:t>
            </a:r>
            <a:endParaRPr lang="en-IN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0" name="TextBox 25"/>
          <p:cNvSpPr/>
          <p:nvPr/>
        </p:nvSpPr>
        <p:spPr>
          <a:xfrm>
            <a:off x="1790640" y="4952880"/>
            <a:ext cx="15144480" cy="41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3373"/>
              </a:lnSpc>
            </a:pPr>
            <a:r>
              <a:rPr lang="en-US" sz="2500" b="1" u="none" strike="noStrike">
                <a:solidFill>
                  <a:srgbClr val="002060"/>
                </a:solidFill>
                <a:effectLst/>
                <a:uFillTx/>
                <a:latin typeface="Arimo Bold"/>
                <a:ea typeface="Arimo Bold"/>
              </a:rPr>
              <a:t>Protect — </a:t>
            </a:r>
            <a:r>
              <a:rPr lang="en-US" sz="2500" b="0" u="none" strike="noStrike">
                <a:solidFill>
                  <a:srgbClr val="002060"/>
                </a:solidFill>
                <a:effectLst/>
                <a:uFillTx/>
                <a:latin typeface="Arimo"/>
                <a:ea typeface="Arimo"/>
              </a:rPr>
              <a:t>agronomic task execution with a KVK safety boundary and atomic integer-paise transactions</a:t>
            </a:r>
            <a:endParaRPr lang="en-IN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1" name="TextBox 26"/>
          <p:cNvSpPr/>
          <p:nvPr/>
        </p:nvSpPr>
        <p:spPr>
          <a:xfrm>
            <a:off x="1352520" y="5657760"/>
            <a:ext cx="110880" cy="43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3498"/>
              </a:lnSpc>
            </a:pPr>
            <a:r>
              <a:rPr lang="en-US" sz="2500" b="1" u="none" strike="noStrike">
                <a:solidFill>
                  <a:srgbClr val="0C2577"/>
                </a:solidFill>
                <a:effectLst/>
                <a:uFillTx/>
                <a:latin typeface="Arimo Bold"/>
                <a:ea typeface="Arimo Bold"/>
              </a:rPr>
              <a:t>•</a:t>
            </a:r>
            <a:endParaRPr lang="en-IN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2" name="TextBox 27"/>
          <p:cNvSpPr/>
          <p:nvPr/>
        </p:nvSpPr>
        <p:spPr>
          <a:xfrm>
            <a:off x="1790640" y="5667480"/>
            <a:ext cx="15144480" cy="83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3373"/>
              </a:lnSpc>
            </a:pPr>
            <a:r>
              <a:rPr lang="en-US" sz="2500" b="1" u="none" strike="noStrike">
                <a:solidFill>
                  <a:srgbClr val="002060"/>
                </a:solidFill>
                <a:effectLst/>
                <a:uFillTx/>
                <a:latin typeface="Arimo Bold"/>
                <a:ea typeface="Arimo Bold"/>
              </a:rPr>
              <a:t>Ground — </a:t>
            </a:r>
            <a:r>
              <a:rPr lang="en-US" sz="2500" b="0" u="none" strike="noStrike">
                <a:solidFill>
                  <a:srgbClr val="002060"/>
                </a:solidFill>
                <a:effectLst/>
                <a:uFillTx/>
                <a:latin typeface="Arimo"/>
                <a:ea typeface="Arimo"/>
              </a:rPr>
              <a:t>institutional answers using hybrid retrieval, SQL facts, quote validation and release-bound caching</a:t>
            </a:r>
            <a:endParaRPr lang="en-IN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3" name="TextBox 28"/>
          <p:cNvSpPr/>
          <p:nvPr/>
        </p:nvSpPr>
        <p:spPr>
          <a:xfrm>
            <a:off x="1352520" y="6581160"/>
            <a:ext cx="110880" cy="43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3498"/>
              </a:lnSpc>
            </a:pPr>
            <a:r>
              <a:rPr lang="en-US" sz="2500" b="1" u="none" strike="noStrike">
                <a:solidFill>
                  <a:srgbClr val="0C2577"/>
                </a:solidFill>
                <a:effectLst/>
                <a:uFillTx/>
                <a:latin typeface="Arimo Bold"/>
                <a:ea typeface="Arimo Bold"/>
              </a:rPr>
              <a:t>•</a:t>
            </a:r>
            <a:endParaRPr lang="en-IN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4" name="TextBox 29"/>
          <p:cNvSpPr/>
          <p:nvPr/>
        </p:nvSpPr>
        <p:spPr>
          <a:xfrm>
            <a:off x="1790640" y="6616440"/>
            <a:ext cx="15144480" cy="41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3373"/>
              </a:lnSpc>
            </a:pPr>
            <a:r>
              <a:rPr lang="en-US" sz="2500" b="1" u="none" strike="noStrike">
                <a:solidFill>
                  <a:srgbClr val="002060"/>
                </a:solidFill>
                <a:effectLst/>
                <a:uFillTx/>
                <a:latin typeface="Arimo Bold"/>
                <a:ea typeface="Arimo Bold"/>
              </a:rPr>
              <a:t>Evaluate — </a:t>
            </a:r>
            <a:r>
              <a:rPr lang="en-US" sz="2500" b="0" u="none" strike="noStrike">
                <a:solidFill>
                  <a:srgbClr val="002060"/>
                </a:solidFill>
                <a:effectLst/>
                <a:uFillTx/>
                <a:latin typeface="Arimo"/>
                <a:ea typeface="Arimo"/>
              </a:rPr>
              <a:t>retrieval quality, latency, model-call behaviour, stability and safety with reproducible tests</a:t>
            </a:r>
            <a:endParaRPr lang="en-IN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transition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5" name="Group 2"/>
          <p:cNvGrpSpPr/>
          <p:nvPr/>
        </p:nvGrpSpPr>
        <p:grpSpPr>
          <a:xfrm>
            <a:off x="0" y="9698760"/>
            <a:ext cx="18288000" cy="606600"/>
            <a:chOff x="0" y="9698760"/>
            <a:chExt cx="18288000" cy="606600"/>
          </a:xfrm>
        </p:grpSpPr>
        <p:sp>
          <p:nvSpPr>
            <p:cNvPr id="346" name="Freeform 3"/>
            <p:cNvSpPr/>
            <p:nvPr/>
          </p:nvSpPr>
          <p:spPr>
            <a:xfrm>
              <a:off x="0" y="9698760"/>
              <a:ext cx="18288000" cy="606600"/>
            </a:xfrm>
            <a:custGeom>
              <a:avLst/>
              <a:gdLst>
                <a:gd name="textAreaLeft" fmla="*/ 0 w 18288000"/>
                <a:gd name="textAreaRight" fmla="*/ 18288360 w 18288000"/>
                <a:gd name="textAreaTop" fmla="*/ 0 h 606600"/>
                <a:gd name="textAreaBottom" fmla="*/ 606960 h 606600"/>
              </a:gdLst>
              <a:ahLst/>
              <a:cxnLst/>
              <a:rect l="textAreaLeft" t="textAreaTop" r="textAreaRight" b="textAreaBottom"/>
              <a:pathLst>
                <a:path w="24384254" h="809244">
                  <a:moveTo>
                    <a:pt x="0" y="0"/>
                  </a:moveTo>
                  <a:lnTo>
                    <a:pt x="24384254" y="0"/>
                  </a:lnTo>
                  <a:lnTo>
                    <a:pt x="24384254" y="809244"/>
                  </a:lnTo>
                  <a:lnTo>
                    <a:pt x="0" y="809244"/>
                  </a:lnTo>
                  <a:close/>
                </a:path>
              </a:pathLst>
            </a:custGeom>
            <a:solidFill>
              <a:srgbClr val="0C2577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347" name="Group 4"/>
          <p:cNvGrpSpPr/>
          <p:nvPr/>
        </p:nvGrpSpPr>
        <p:grpSpPr>
          <a:xfrm>
            <a:off x="15935400" y="345240"/>
            <a:ext cx="2190240" cy="2190240"/>
            <a:chOff x="15935400" y="345240"/>
            <a:chExt cx="2190240" cy="2190240"/>
          </a:xfrm>
        </p:grpSpPr>
        <p:sp>
          <p:nvSpPr>
            <p:cNvPr id="348" name="Freeform 5"/>
            <p:cNvSpPr/>
            <p:nvPr/>
          </p:nvSpPr>
          <p:spPr>
            <a:xfrm>
              <a:off x="15935400" y="345240"/>
              <a:ext cx="2190240" cy="2190240"/>
            </a:xfrm>
            <a:custGeom>
              <a:avLst/>
              <a:gdLst>
                <a:gd name="textAreaLeft" fmla="*/ 0 w 2190240"/>
                <a:gd name="textAreaRight" fmla="*/ 2190600 w 2190240"/>
                <a:gd name="textAreaTop" fmla="*/ 0 h 2190240"/>
                <a:gd name="textAreaBottom" fmla="*/ 2190600 h 2190240"/>
              </a:gdLst>
              <a:ahLst/>
              <a:cxnLst/>
              <a:rect l="textAreaLeft" t="textAreaTop" r="textAreaRight" b="textAreaBottom"/>
              <a:pathLst>
                <a:path w="2921000" h="2921000">
                  <a:moveTo>
                    <a:pt x="0" y="0"/>
                  </a:moveTo>
                  <a:lnTo>
                    <a:pt x="2921000" y="0"/>
                  </a:lnTo>
                  <a:lnTo>
                    <a:pt x="2921000" y="2921000"/>
                  </a:lnTo>
                  <a:lnTo>
                    <a:pt x="0" y="2921000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1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349" name="Group 6"/>
          <p:cNvGrpSpPr/>
          <p:nvPr/>
        </p:nvGrpSpPr>
        <p:grpSpPr>
          <a:xfrm>
            <a:off x="1257120" y="238320"/>
            <a:ext cx="15773040" cy="1416600"/>
            <a:chOff x="1257120" y="238320"/>
            <a:chExt cx="15773040" cy="1416600"/>
          </a:xfrm>
        </p:grpSpPr>
        <p:sp>
          <p:nvSpPr>
            <p:cNvPr id="350" name="Freeform 7"/>
            <p:cNvSpPr/>
            <p:nvPr/>
          </p:nvSpPr>
          <p:spPr>
            <a:xfrm>
              <a:off x="1257120" y="238320"/>
              <a:ext cx="15773040" cy="1416600"/>
            </a:xfrm>
            <a:custGeom>
              <a:avLst/>
              <a:gdLst>
                <a:gd name="textAreaLeft" fmla="*/ 0 w 15773040"/>
                <a:gd name="textAreaRight" fmla="*/ 15773400 w 15773040"/>
                <a:gd name="textAreaTop" fmla="*/ 0 h 1416600"/>
                <a:gd name="textAreaBottom" fmla="*/ 1416960 h 1416600"/>
              </a:gdLst>
              <a:ahLst/>
              <a:cxnLst/>
              <a:rect l="textAreaLeft" t="textAreaTop" r="textAreaRight" b="textAreaBottom"/>
              <a:pathLst>
                <a:path w="21031200" h="1889283">
                  <a:moveTo>
                    <a:pt x="0" y="0"/>
                  </a:moveTo>
                  <a:lnTo>
                    <a:pt x="21031200" y="0"/>
                  </a:lnTo>
                  <a:lnTo>
                    <a:pt x="21031200" y="1889283"/>
                  </a:lnTo>
                  <a:lnTo>
                    <a:pt x="0" y="1889283"/>
                  </a:lnTo>
                  <a:close/>
                </a:path>
              </a:pathLst>
            </a:custGeom>
            <a:blipFill rotWithShape="0">
              <a:blip r:embed="rId2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51" name="TextBox 8"/>
            <p:cNvSpPr/>
            <p:nvPr/>
          </p:nvSpPr>
          <p:spPr>
            <a:xfrm>
              <a:off x="1257120" y="288000"/>
              <a:ext cx="15773040" cy="1366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defTabSz="914400">
                <a:lnSpc>
                  <a:spcPts val="7129"/>
                </a:lnSpc>
                <a:tabLst>
                  <a:tab pos="0" algn="l"/>
                </a:tabLst>
              </a:pPr>
              <a:r>
                <a:rPr lang="en-US" sz="6600" b="1" u="none" spc="-40" strike="noStrike">
                  <a:solidFill>
                    <a:srgbClr val="002060"/>
                  </a:solidFill>
                  <a:effectLst/>
                  <a:uFillTx/>
                  <a:latin typeface="TT Rounds Condensed Bold"/>
                  <a:ea typeface="TT Rounds Condensed Bold"/>
                </a:rPr>
                <a:t>Proposed Framework / System Architecture</a:t>
              </a:r>
              <a:endParaRPr lang="en-IN" sz="6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352" name="Group 9"/>
          <p:cNvGrpSpPr/>
          <p:nvPr/>
        </p:nvGrpSpPr>
        <p:grpSpPr>
          <a:xfrm>
            <a:off x="399960" y="9808560"/>
            <a:ext cx="3314160" cy="478440"/>
            <a:chOff x="399960" y="9808560"/>
            <a:chExt cx="3314160" cy="478440"/>
          </a:xfrm>
        </p:grpSpPr>
        <p:sp>
          <p:nvSpPr>
            <p:cNvPr id="353" name="Freeform 10"/>
            <p:cNvSpPr/>
            <p:nvPr/>
          </p:nvSpPr>
          <p:spPr>
            <a:xfrm>
              <a:off x="399960" y="9837360"/>
              <a:ext cx="3314160" cy="449640"/>
            </a:xfrm>
            <a:custGeom>
              <a:avLst/>
              <a:gdLst>
                <a:gd name="textAreaLeft" fmla="*/ 0 w 3314160"/>
                <a:gd name="textAreaRight" fmla="*/ 3314520 w 3314160"/>
                <a:gd name="textAreaTop" fmla="*/ 0 h 449640"/>
                <a:gd name="textAreaBottom" fmla="*/ 450000 h 449640"/>
              </a:gdLst>
              <a:ahLst/>
              <a:cxnLst/>
              <a:rect l="textAreaLeft" t="textAreaTop" r="textAreaRight" b="textAreaBottom"/>
              <a:pathLst>
                <a:path w="4419360" h="599763">
                  <a:moveTo>
                    <a:pt x="0" y="0"/>
                  </a:moveTo>
                  <a:lnTo>
                    <a:pt x="4419360" y="0"/>
                  </a:lnTo>
                  <a:lnTo>
                    <a:pt x="4419360" y="599763"/>
                  </a:lnTo>
                  <a:lnTo>
                    <a:pt x="0" y="599763"/>
                  </a:lnTo>
                  <a:close/>
                </a:path>
              </a:pathLst>
            </a:custGeom>
            <a:blipFill rotWithShape="0">
              <a:blip r:embed="rId3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54" name="TextBox 11"/>
            <p:cNvSpPr/>
            <p:nvPr/>
          </p:nvSpPr>
          <p:spPr>
            <a:xfrm>
              <a:off x="399960" y="9808560"/>
              <a:ext cx="3314160" cy="478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defTabSz="914400">
                <a:lnSpc>
                  <a:spcPts val="2160"/>
                </a:lnSpc>
                <a:tabLst>
                  <a:tab pos="0" algn="l"/>
                </a:tabLst>
              </a:pPr>
              <a:r>
                <a:rPr lang="en-US" sz="1800" b="0" u="none" strike="noStrike">
                  <a:solidFill>
                    <a:srgbClr val="FFFFFF"/>
                  </a:solidFill>
                  <a:effectLst/>
                  <a:uFillTx/>
                  <a:latin typeface="Calibri (MS)"/>
                  <a:ea typeface="Calibri (MS)"/>
                </a:rPr>
                <a:t>05/10/26</a:t>
              </a:r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355" name="Group 12"/>
          <p:cNvGrpSpPr/>
          <p:nvPr/>
        </p:nvGrpSpPr>
        <p:grpSpPr>
          <a:xfrm>
            <a:off x="4288680" y="9732240"/>
            <a:ext cx="9896400" cy="554400"/>
            <a:chOff x="4288680" y="9732240"/>
            <a:chExt cx="9896400" cy="554400"/>
          </a:xfrm>
        </p:grpSpPr>
        <p:sp>
          <p:nvSpPr>
            <p:cNvPr id="356" name="Freeform 13"/>
            <p:cNvSpPr/>
            <p:nvPr/>
          </p:nvSpPr>
          <p:spPr>
            <a:xfrm>
              <a:off x="4288680" y="9739440"/>
              <a:ext cx="9896400" cy="547200"/>
            </a:xfrm>
            <a:custGeom>
              <a:avLst/>
              <a:gdLst>
                <a:gd name="textAreaLeft" fmla="*/ 0 w 9896400"/>
                <a:gd name="textAreaRight" fmla="*/ 9896760 w 9896400"/>
                <a:gd name="textAreaTop" fmla="*/ 0 h 547200"/>
                <a:gd name="textAreaBottom" fmla="*/ 547560 h 547200"/>
              </a:gdLst>
              <a:ahLst/>
              <a:cxnLst/>
              <a:rect l="textAreaLeft" t="textAreaTop" r="textAreaRight" b="textAreaBottom"/>
              <a:pathLst>
                <a:path w="13195440" h="730075">
                  <a:moveTo>
                    <a:pt x="0" y="0"/>
                  </a:moveTo>
                  <a:lnTo>
                    <a:pt x="13195440" y="0"/>
                  </a:lnTo>
                  <a:lnTo>
                    <a:pt x="13195440" y="730075"/>
                  </a:lnTo>
                  <a:lnTo>
                    <a:pt x="0" y="730075"/>
                  </a:lnTo>
                  <a:close/>
                </a:path>
              </a:pathLst>
            </a:custGeom>
            <a:blipFill rotWithShape="0">
              <a:blip r:embed="rId4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57" name="TextBox 14"/>
            <p:cNvSpPr/>
            <p:nvPr/>
          </p:nvSpPr>
          <p:spPr>
            <a:xfrm>
              <a:off x="4288680" y="9732240"/>
              <a:ext cx="9896400" cy="554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algn="ctr" defTabSz="914400">
                <a:lnSpc>
                  <a:spcPts val="2520"/>
                </a:lnSpc>
                <a:tabLst>
                  <a:tab pos="0" algn="l"/>
                </a:tabLst>
              </a:pPr>
              <a:r>
                <a:rPr lang="en-US" sz="2100" b="0" u="none" strike="noStrike">
                  <a:solidFill>
                    <a:srgbClr val="FFFFFF"/>
                  </a:solidFill>
                  <a:effectLst/>
                  <a:uFillTx/>
                  <a:latin typeface="Georgia"/>
                  <a:ea typeface="Georgia"/>
                </a:rPr>
                <a:t>International Institute of Information Technology, Naya Raipur</a:t>
              </a:r>
              <a:endParaRPr lang="en-IN" sz="21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358" name="Group 15"/>
          <p:cNvGrpSpPr/>
          <p:nvPr/>
        </p:nvGrpSpPr>
        <p:grpSpPr>
          <a:xfrm>
            <a:off x="14444640" y="9711000"/>
            <a:ext cx="2969280" cy="575640"/>
            <a:chOff x="14444640" y="9711000"/>
            <a:chExt cx="2969280" cy="575640"/>
          </a:xfrm>
        </p:grpSpPr>
        <p:sp>
          <p:nvSpPr>
            <p:cNvPr id="359" name="Freeform 16"/>
            <p:cNvSpPr/>
            <p:nvPr/>
          </p:nvSpPr>
          <p:spPr>
            <a:xfrm>
              <a:off x="14444640" y="9739440"/>
              <a:ext cx="2969280" cy="547200"/>
            </a:xfrm>
            <a:custGeom>
              <a:avLst/>
              <a:gdLst>
                <a:gd name="textAreaLeft" fmla="*/ 0 w 2969280"/>
                <a:gd name="textAreaRight" fmla="*/ 2969640 w 2969280"/>
                <a:gd name="textAreaTop" fmla="*/ 0 h 547200"/>
                <a:gd name="textAreaBottom" fmla="*/ 547560 h 547200"/>
              </a:gdLst>
              <a:ahLst/>
              <a:cxnLst/>
              <a:rect l="textAreaLeft" t="textAreaTop" r="textAreaRight" b="textAreaBottom"/>
              <a:pathLst>
                <a:path w="3959280" h="730075">
                  <a:moveTo>
                    <a:pt x="0" y="0"/>
                  </a:moveTo>
                  <a:lnTo>
                    <a:pt x="3959280" y="0"/>
                  </a:lnTo>
                  <a:lnTo>
                    <a:pt x="3959280" y="730075"/>
                  </a:lnTo>
                  <a:lnTo>
                    <a:pt x="0" y="730075"/>
                  </a:lnTo>
                  <a:close/>
                </a:path>
              </a:pathLst>
            </a:custGeom>
            <a:blipFill rotWithShape="0">
              <a:blip r:embed="rId5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60" name="TextBox 17"/>
            <p:cNvSpPr/>
            <p:nvPr/>
          </p:nvSpPr>
          <p:spPr>
            <a:xfrm>
              <a:off x="14444640" y="9711000"/>
              <a:ext cx="2968920" cy="5756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algn="r" defTabSz="914400">
                <a:lnSpc>
                  <a:spcPts val="2160"/>
                </a:lnSpc>
                <a:tabLst>
                  <a:tab pos="0" algn="l"/>
                </a:tabLst>
              </a:pPr>
              <a:r>
                <a:rPr lang="en-US" sz="1800" b="0" u="none" strike="noStrike">
                  <a:solidFill>
                    <a:srgbClr val="FFFFFF"/>
                  </a:solidFill>
                  <a:effectLst/>
                  <a:uFillTx/>
                  <a:latin typeface="Calibri (MS)"/>
                  <a:ea typeface="Calibri (MS)"/>
                </a:rPr>
                <a:t>8</a:t>
              </a:r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361" name="Group 18"/>
          <p:cNvGrpSpPr/>
          <p:nvPr/>
        </p:nvGrpSpPr>
        <p:grpSpPr>
          <a:xfrm>
            <a:off x="1438200" y="2416320"/>
            <a:ext cx="2761920" cy="1273680"/>
            <a:chOff x="1438200" y="2416320"/>
            <a:chExt cx="2761920" cy="1273680"/>
          </a:xfrm>
        </p:grpSpPr>
        <p:sp>
          <p:nvSpPr>
            <p:cNvPr id="362" name="Freeform 19"/>
            <p:cNvSpPr/>
            <p:nvPr/>
          </p:nvSpPr>
          <p:spPr>
            <a:xfrm>
              <a:off x="1438200" y="2451960"/>
              <a:ext cx="2761920" cy="1238040"/>
            </a:xfrm>
            <a:custGeom>
              <a:avLst/>
              <a:gdLst>
                <a:gd name="textAreaLeft" fmla="*/ 0 w 2761920"/>
                <a:gd name="textAreaRight" fmla="*/ 2762280 w 2761920"/>
                <a:gd name="textAreaTop" fmla="*/ 0 h 1238040"/>
                <a:gd name="textAreaBottom" fmla="*/ 1238400 h 1238040"/>
              </a:gdLst>
              <a:ahLst/>
              <a:cxnLst/>
              <a:rect l="textAreaLeft" t="textAreaTop" r="textAreaRight" b="textAreaBottom"/>
              <a:pathLst>
                <a:path w="3683000" h="1651000">
                  <a:moveTo>
                    <a:pt x="127000" y="0"/>
                  </a:moveTo>
                  <a:lnTo>
                    <a:pt x="3556000" y="0"/>
                  </a:lnTo>
                  <a:cubicBezTo>
                    <a:pt x="3626140" y="0"/>
                    <a:pt x="3683000" y="56860"/>
                    <a:pt x="3683000" y="127000"/>
                  </a:cubicBezTo>
                  <a:lnTo>
                    <a:pt x="3683000" y="1524000"/>
                  </a:lnTo>
                  <a:cubicBezTo>
                    <a:pt x="3683000" y="1594140"/>
                    <a:pt x="3626140" y="1651000"/>
                    <a:pt x="3556000" y="1651000"/>
                  </a:cubicBezTo>
                  <a:lnTo>
                    <a:pt x="127000" y="1651000"/>
                  </a:lnTo>
                  <a:cubicBezTo>
                    <a:pt x="56860" y="1651000"/>
                    <a:pt x="0" y="1594140"/>
                    <a:pt x="0" y="1524000"/>
                  </a:cubicBezTo>
                  <a:lnTo>
                    <a:pt x="0" y="127000"/>
                  </a:lnTo>
                  <a:cubicBezTo>
                    <a:pt x="0" y="56860"/>
                    <a:pt x="56860" y="0"/>
                    <a:pt x="127000" y="0"/>
                  </a:cubicBezTo>
                  <a:close/>
                </a:path>
              </a:pathLst>
            </a:custGeom>
            <a:solidFill>
              <a:srgbClr val="E8EDF9"/>
            </a:solidFill>
            <a:ln cap="sq" w="19050">
              <a:solidFill>
                <a:srgbClr val="0C2577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63" name="TextBox 20"/>
            <p:cNvSpPr/>
            <p:nvPr/>
          </p:nvSpPr>
          <p:spPr>
            <a:xfrm>
              <a:off x="1438200" y="2416320"/>
              <a:ext cx="2761920" cy="1273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7080" tIns="127080" rIns="127080" bIns="127080" anchor="ctr">
              <a:noAutofit/>
            </a:bodyPr>
            <a:p>
              <a:pPr algn="ctr" defTabSz="914400">
                <a:lnSpc>
                  <a:spcPts val="2659"/>
                </a:lnSpc>
              </a:pPr>
              <a:r>
                <a:rPr lang="en-US" sz="1900" b="0" u="none" strike="noStrike">
                  <a:solidFill>
                    <a:srgbClr val="002060"/>
                  </a:solidFill>
                  <a:effectLst/>
                  <a:uFillTx/>
                  <a:latin typeface="Arimo"/>
                  <a:ea typeface="Arimo"/>
                </a:rPr>
                <a:t>Voice Input</a:t>
              </a:r>
              <a:endParaRPr lang="en-IN" sz="19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algn="ctr" defTabSz="914400">
                <a:lnSpc>
                  <a:spcPts val="2659"/>
                </a:lnSpc>
              </a:pPr>
              <a:r>
                <a:rPr lang="en-US" sz="1900" b="0" u="none" strike="noStrike">
                  <a:solidFill>
                    <a:srgbClr val="002060"/>
                  </a:solidFill>
                  <a:effectLst/>
                  <a:uFillTx/>
                  <a:latin typeface="Arimo"/>
                  <a:ea typeface="Arimo"/>
                </a:rPr>
                <a:t>Silero VAD</a:t>
              </a:r>
              <a:endParaRPr lang="en-IN" sz="19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364" name="AutoShape 21"/>
          <p:cNvSpPr/>
          <p:nvPr/>
        </p:nvSpPr>
        <p:spPr>
          <a:xfrm>
            <a:off x="4257360" y="3476520"/>
            <a:ext cx="285840" cy="360"/>
          </a:xfrm>
          <a:prstGeom prst="line">
            <a:avLst/>
          </a:prstGeom>
          <a:ln w="28575">
            <a:solidFill>
              <a:srgbClr val="0C2577"/>
            </a:solidFill>
            <a:round/>
            <a:tailEnd len="med" type="triangle" w="lg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pPr/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365" name="Group 22"/>
          <p:cNvGrpSpPr/>
          <p:nvPr/>
        </p:nvGrpSpPr>
        <p:grpSpPr>
          <a:xfrm>
            <a:off x="4600440" y="2416320"/>
            <a:ext cx="2761920" cy="1314720"/>
            <a:chOff x="4600440" y="2416320"/>
            <a:chExt cx="2761920" cy="1314720"/>
          </a:xfrm>
        </p:grpSpPr>
        <p:sp>
          <p:nvSpPr>
            <p:cNvPr id="366" name="Freeform 23"/>
            <p:cNvSpPr/>
            <p:nvPr/>
          </p:nvSpPr>
          <p:spPr>
            <a:xfrm>
              <a:off x="4600440" y="2451960"/>
              <a:ext cx="2761920" cy="1279080"/>
            </a:xfrm>
            <a:custGeom>
              <a:avLst/>
              <a:gdLst>
                <a:gd name="textAreaLeft" fmla="*/ 0 w 2761920"/>
                <a:gd name="textAreaRight" fmla="*/ 2762280 w 2761920"/>
                <a:gd name="textAreaTop" fmla="*/ 0 h 1279080"/>
                <a:gd name="textAreaBottom" fmla="*/ 1279440 h 1279080"/>
              </a:gdLst>
              <a:ahLst/>
              <a:cxnLst/>
              <a:rect l="textAreaLeft" t="textAreaTop" r="textAreaRight" b="textAreaBottom"/>
              <a:pathLst>
                <a:path w="3683000" h="1705757">
                  <a:moveTo>
                    <a:pt x="127000" y="0"/>
                  </a:moveTo>
                  <a:lnTo>
                    <a:pt x="3556000" y="0"/>
                  </a:lnTo>
                  <a:cubicBezTo>
                    <a:pt x="3626140" y="0"/>
                    <a:pt x="3683000" y="58746"/>
                    <a:pt x="3683000" y="131212"/>
                  </a:cubicBezTo>
                  <a:lnTo>
                    <a:pt x="3683000" y="1574545"/>
                  </a:lnTo>
                  <a:cubicBezTo>
                    <a:pt x="3683000" y="1647011"/>
                    <a:pt x="3626140" y="1705757"/>
                    <a:pt x="3556000" y="1705757"/>
                  </a:cubicBezTo>
                  <a:lnTo>
                    <a:pt x="127000" y="1705757"/>
                  </a:lnTo>
                  <a:cubicBezTo>
                    <a:pt x="56860" y="1705757"/>
                    <a:pt x="0" y="1647011"/>
                    <a:pt x="0" y="1574545"/>
                  </a:cubicBezTo>
                  <a:lnTo>
                    <a:pt x="0" y="131212"/>
                  </a:lnTo>
                  <a:cubicBezTo>
                    <a:pt x="0" y="58746"/>
                    <a:pt x="56860" y="0"/>
                    <a:pt x="127000" y="0"/>
                  </a:cubicBezTo>
                  <a:close/>
                </a:path>
              </a:pathLst>
            </a:custGeom>
            <a:solidFill>
              <a:srgbClr val="E8EDF9"/>
            </a:solidFill>
            <a:ln cap="sq" w="19050">
              <a:solidFill>
                <a:srgbClr val="0C2577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67" name="TextBox 24"/>
            <p:cNvSpPr/>
            <p:nvPr/>
          </p:nvSpPr>
          <p:spPr>
            <a:xfrm>
              <a:off x="4600440" y="2416320"/>
              <a:ext cx="2761920" cy="1314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7080" tIns="127080" rIns="127080" bIns="127080" anchor="ctr">
              <a:noAutofit/>
            </a:bodyPr>
            <a:p>
              <a:pPr algn="ctr" defTabSz="914400">
                <a:lnSpc>
                  <a:spcPts val="2659"/>
                </a:lnSpc>
              </a:pPr>
              <a:r>
                <a:rPr lang="en-US" sz="1900" b="0" u="none" strike="noStrike">
                  <a:solidFill>
                    <a:srgbClr val="002060"/>
                  </a:solidFill>
                  <a:effectLst/>
                  <a:uFillTx/>
                  <a:latin typeface="Arimo"/>
                  <a:ea typeface="Arimo"/>
                </a:rPr>
                <a:t>ASR</a:t>
              </a:r>
              <a:endParaRPr lang="en-IN" sz="19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algn="ctr" defTabSz="914400">
                <a:lnSpc>
                  <a:spcPts val="2659"/>
                </a:lnSpc>
              </a:pPr>
              <a:r>
                <a:rPr lang="en-US" sz="1900" b="0" u="none" strike="noStrike">
                  <a:solidFill>
                    <a:srgbClr val="002060"/>
                  </a:solidFill>
                  <a:effectLst/>
                  <a:uFillTx/>
                  <a:latin typeface="Arimo"/>
                  <a:ea typeface="Arimo"/>
                </a:rPr>
                <a:t>Faster-Whisper int8</a:t>
              </a:r>
              <a:endParaRPr lang="en-IN" sz="19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algn="ctr" defTabSz="914400">
                <a:lnSpc>
                  <a:spcPts val="2659"/>
                </a:lnSpc>
              </a:pPr>
              <a:r>
                <a:rPr lang="en-US" sz="1900" b="0" u="none" strike="noStrike">
                  <a:solidFill>
                    <a:srgbClr val="002060"/>
                  </a:solidFill>
                  <a:effectLst/>
                  <a:uFillTx/>
                  <a:latin typeface="Arimo"/>
                  <a:ea typeface="Arimo"/>
                </a:rPr>
                <a:t>MMS-1B hne</a:t>
              </a:r>
              <a:endParaRPr lang="en-IN" sz="19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368" name="AutoShape 25"/>
          <p:cNvSpPr/>
          <p:nvPr/>
        </p:nvSpPr>
        <p:spPr>
          <a:xfrm>
            <a:off x="7419960" y="3476520"/>
            <a:ext cx="285480" cy="360"/>
          </a:xfrm>
          <a:prstGeom prst="line">
            <a:avLst/>
          </a:prstGeom>
          <a:ln w="28575">
            <a:solidFill>
              <a:srgbClr val="0C2577"/>
            </a:solidFill>
            <a:round/>
            <a:tailEnd len="med" type="triangle" w="lg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pPr/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369" name="Group 26"/>
          <p:cNvGrpSpPr/>
          <p:nvPr/>
        </p:nvGrpSpPr>
        <p:grpSpPr>
          <a:xfrm>
            <a:off x="7763040" y="2416320"/>
            <a:ext cx="2761920" cy="1273680"/>
            <a:chOff x="7763040" y="2416320"/>
            <a:chExt cx="2761920" cy="1273680"/>
          </a:xfrm>
        </p:grpSpPr>
        <p:sp>
          <p:nvSpPr>
            <p:cNvPr id="370" name="Freeform 27"/>
            <p:cNvSpPr/>
            <p:nvPr/>
          </p:nvSpPr>
          <p:spPr>
            <a:xfrm>
              <a:off x="7763040" y="2451960"/>
              <a:ext cx="2761920" cy="1238040"/>
            </a:xfrm>
            <a:custGeom>
              <a:avLst/>
              <a:gdLst>
                <a:gd name="textAreaLeft" fmla="*/ 0 w 2761920"/>
                <a:gd name="textAreaRight" fmla="*/ 2762280 w 2761920"/>
                <a:gd name="textAreaTop" fmla="*/ 0 h 1238040"/>
                <a:gd name="textAreaBottom" fmla="*/ 1238400 h 1238040"/>
              </a:gdLst>
              <a:ahLst/>
              <a:cxnLst/>
              <a:rect l="textAreaLeft" t="textAreaTop" r="textAreaRight" b="textAreaBottom"/>
              <a:pathLst>
                <a:path w="3683000" h="1651000">
                  <a:moveTo>
                    <a:pt x="127000" y="0"/>
                  </a:moveTo>
                  <a:lnTo>
                    <a:pt x="3556000" y="0"/>
                  </a:lnTo>
                  <a:cubicBezTo>
                    <a:pt x="3626140" y="0"/>
                    <a:pt x="3683000" y="56860"/>
                    <a:pt x="3683000" y="127000"/>
                  </a:cubicBezTo>
                  <a:lnTo>
                    <a:pt x="3683000" y="1524000"/>
                  </a:lnTo>
                  <a:cubicBezTo>
                    <a:pt x="3683000" y="1594140"/>
                    <a:pt x="3626140" y="1651000"/>
                    <a:pt x="3556000" y="1651000"/>
                  </a:cubicBezTo>
                  <a:lnTo>
                    <a:pt x="127000" y="1651000"/>
                  </a:lnTo>
                  <a:cubicBezTo>
                    <a:pt x="56860" y="1651000"/>
                    <a:pt x="0" y="1594140"/>
                    <a:pt x="0" y="1524000"/>
                  </a:cubicBezTo>
                  <a:lnTo>
                    <a:pt x="0" y="127000"/>
                  </a:lnTo>
                  <a:cubicBezTo>
                    <a:pt x="0" y="56860"/>
                    <a:pt x="56860" y="0"/>
                    <a:pt x="127000" y="0"/>
                  </a:cubicBezTo>
                  <a:close/>
                </a:path>
              </a:pathLst>
            </a:custGeom>
            <a:solidFill>
              <a:srgbClr val="E8EDF9"/>
            </a:solidFill>
            <a:ln cap="sq" w="19050">
              <a:solidFill>
                <a:srgbClr val="0C2577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71" name="TextBox 28"/>
            <p:cNvSpPr/>
            <p:nvPr/>
          </p:nvSpPr>
          <p:spPr>
            <a:xfrm>
              <a:off x="7763040" y="2416320"/>
              <a:ext cx="2761920" cy="1273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7080" tIns="127080" rIns="127080" bIns="127080" anchor="ctr">
              <a:noAutofit/>
            </a:bodyPr>
            <a:p>
              <a:pPr algn="ctr" defTabSz="914400">
                <a:lnSpc>
                  <a:spcPts val="2659"/>
                </a:lnSpc>
              </a:pPr>
              <a:r>
                <a:rPr lang="en-US" sz="1900" b="0" u="none" strike="noStrike">
                  <a:solidFill>
                    <a:srgbClr val="002060"/>
                  </a:solidFill>
                  <a:effectLst/>
                  <a:uFillTx/>
                  <a:latin typeface="Arimo"/>
                  <a:ea typeface="Arimo"/>
                </a:rPr>
                <a:t>Matra Repair</a:t>
              </a:r>
              <a:endParaRPr lang="en-IN" sz="19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algn="ctr" defTabSz="914400">
                <a:lnSpc>
                  <a:spcPts val="2659"/>
                </a:lnSpc>
              </a:pPr>
              <a:r>
                <a:rPr lang="en-US" sz="1900" b="0" u="none" strike="noStrike">
                  <a:solidFill>
                    <a:srgbClr val="002060"/>
                  </a:solidFill>
                  <a:effectLst/>
                  <a:uFillTx/>
                  <a:latin typeface="Arimo"/>
                  <a:ea typeface="Arimo"/>
                </a:rPr>
                <a:t>Devanagari CTC</a:t>
              </a:r>
              <a:endParaRPr lang="en-IN" sz="19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372" name="AutoShape 29"/>
          <p:cNvSpPr/>
          <p:nvPr/>
        </p:nvSpPr>
        <p:spPr>
          <a:xfrm>
            <a:off x="10582200" y="3476520"/>
            <a:ext cx="285480" cy="360"/>
          </a:xfrm>
          <a:prstGeom prst="line">
            <a:avLst/>
          </a:prstGeom>
          <a:ln w="28575">
            <a:solidFill>
              <a:srgbClr val="0C2577"/>
            </a:solidFill>
            <a:round/>
            <a:tailEnd len="med" type="triangle" w="lg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pPr/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373" name="Group 30"/>
          <p:cNvGrpSpPr/>
          <p:nvPr/>
        </p:nvGrpSpPr>
        <p:grpSpPr>
          <a:xfrm>
            <a:off x="10925280" y="2416320"/>
            <a:ext cx="2761920" cy="1273680"/>
            <a:chOff x="10925280" y="2416320"/>
            <a:chExt cx="2761920" cy="1273680"/>
          </a:xfrm>
        </p:grpSpPr>
        <p:sp>
          <p:nvSpPr>
            <p:cNvPr id="374" name="Freeform 31"/>
            <p:cNvSpPr/>
            <p:nvPr/>
          </p:nvSpPr>
          <p:spPr>
            <a:xfrm>
              <a:off x="10925280" y="2451960"/>
              <a:ext cx="2761920" cy="1238040"/>
            </a:xfrm>
            <a:custGeom>
              <a:avLst/>
              <a:gdLst>
                <a:gd name="textAreaLeft" fmla="*/ 0 w 2761920"/>
                <a:gd name="textAreaRight" fmla="*/ 2762280 w 2761920"/>
                <a:gd name="textAreaTop" fmla="*/ 0 h 1238040"/>
                <a:gd name="textAreaBottom" fmla="*/ 1238400 h 1238040"/>
              </a:gdLst>
              <a:ahLst/>
              <a:cxnLst/>
              <a:rect l="textAreaLeft" t="textAreaTop" r="textAreaRight" b="textAreaBottom"/>
              <a:pathLst>
                <a:path w="3683000" h="1651000">
                  <a:moveTo>
                    <a:pt x="127000" y="0"/>
                  </a:moveTo>
                  <a:lnTo>
                    <a:pt x="3556000" y="0"/>
                  </a:lnTo>
                  <a:cubicBezTo>
                    <a:pt x="3626140" y="0"/>
                    <a:pt x="3683000" y="56860"/>
                    <a:pt x="3683000" y="127000"/>
                  </a:cubicBezTo>
                  <a:lnTo>
                    <a:pt x="3683000" y="1524000"/>
                  </a:lnTo>
                  <a:cubicBezTo>
                    <a:pt x="3683000" y="1594140"/>
                    <a:pt x="3626140" y="1651000"/>
                    <a:pt x="3556000" y="1651000"/>
                  </a:cubicBezTo>
                  <a:lnTo>
                    <a:pt x="127000" y="1651000"/>
                  </a:lnTo>
                  <a:cubicBezTo>
                    <a:pt x="56860" y="1651000"/>
                    <a:pt x="0" y="1594140"/>
                    <a:pt x="0" y="1524000"/>
                  </a:cubicBezTo>
                  <a:lnTo>
                    <a:pt x="0" y="127000"/>
                  </a:lnTo>
                  <a:cubicBezTo>
                    <a:pt x="0" y="56860"/>
                    <a:pt x="56860" y="0"/>
                    <a:pt x="127000" y="0"/>
                  </a:cubicBezTo>
                  <a:close/>
                </a:path>
              </a:pathLst>
            </a:custGeom>
            <a:solidFill>
              <a:srgbClr val="E8EDF9"/>
            </a:solidFill>
            <a:ln cap="sq" w="19050">
              <a:solidFill>
                <a:srgbClr val="0C2577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75" name="TextBox 32"/>
            <p:cNvSpPr/>
            <p:nvPr/>
          </p:nvSpPr>
          <p:spPr>
            <a:xfrm>
              <a:off x="10925280" y="2416320"/>
              <a:ext cx="2761920" cy="1273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7080" tIns="127080" rIns="127080" bIns="127080" anchor="ctr">
              <a:noAutofit/>
            </a:bodyPr>
            <a:p>
              <a:pPr algn="ctr" defTabSz="914400">
                <a:lnSpc>
                  <a:spcPts val="2659"/>
                </a:lnSpc>
              </a:pPr>
              <a:r>
                <a:rPr lang="en-US" sz="1900" b="0" u="none" strike="noStrike">
                  <a:solidFill>
                    <a:srgbClr val="002060"/>
                  </a:solidFill>
                  <a:effectLst/>
                  <a:uFillTx/>
                  <a:latin typeface="Arimo"/>
                  <a:ea typeface="Arimo"/>
                </a:rPr>
                <a:t>Verbalization</a:t>
              </a:r>
              <a:endParaRPr lang="en-IN" sz="19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algn="ctr" defTabSz="914400">
                <a:lnSpc>
                  <a:spcPts val="2659"/>
                </a:lnSpc>
              </a:pPr>
              <a:r>
                <a:rPr lang="en-US" sz="1900" b="0" u="none" strike="noStrike">
                  <a:solidFill>
                    <a:srgbClr val="002060"/>
                  </a:solidFill>
                  <a:effectLst/>
                  <a:uFillTx/>
                  <a:latin typeface="Arimo"/>
                  <a:ea typeface="Arimo"/>
                </a:rPr>
                <a:t>v2</a:t>
              </a:r>
              <a:endParaRPr lang="en-IN" sz="19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376" name="AutoShape 33"/>
          <p:cNvSpPr/>
          <p:nvPr/>
        </p:nvSpPr>
        <p:spPr>
          <a:xfrm>
            <a:off x="13744440" y="3476520"/>
            <a:ext cx="285840" cy="360"/>
          </a:xfrm>
          <a:prstGeom prst="line">
            <a:avLst/>
          </a:prstGeom>
          <a:ln w="28575">
            <a:solidFill>
              <a:srgbClr val="0C2577"/>
            </a:solidFill>
            <a:round/>
            <a:tailEnd len="med" type="triangle" w="lg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pPr/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377" name="Group 34"/>
          <p:cNvGrpSpPr/>
          <p:nvPr/>
        </p:nvGrpSpPr>
        <p:grpSpPr>
          <a:xfrm>
            <a:off x="14087520" y="2416320"/>
            <a:ext cx="2761920" cy="1273680"/>
            <a:chOff x="14087520" y="2416320"/>
            <a:chExt cx="2761920" cy="1273680"/>
          </a:xfrm>
        </p:grpSpPr>
        <p:sp>
          <p:nvSpPr>
            <p:cNvPr id="378" name="Freeform 35"/>
            <p:cNvSpPr/>
            <p:nvPr/>
          </p:nvSpPr>
          <p:spPr>
            <a:xfrm>
              <a:off x="14087520" y="2451960"/>
              <a:ext cx="2761920" cy="1238040"/>
            </a:xfrm>
            <a:custGeom>
              <a:avLst/>
              <a:gdLst>
                <a:gd name="textAreaLeft" fmla="*/ 0 w 2761920"/>
                <a:gd name="textAreaRight" fmla="*/ 2762280 w 2761920"/>
                <a:gd name="textAreaTop" fmla="*/ 0 h 1238040"/>
                <a:gd name="textAreaBottom" fmla="*/ 1238400 h 1238040"/>
              </a:gdLst>
              <a:ahLst/>
              <a:cxnLst/>
              <a:rect l="textAreaLeft" t="textAreaTop" r="textAreaRight" b="textAreaBottom"/>
              <a:pathLst>
                <a:path w="3683000" h="1651000">
                  <a:moveTo>
                    <a:pt x="127000" y="0"/>
                  </a:moveTo>
                  <a:lnTo>
                    <a:pt x="3556000" y="0"/>
                  </a:lnTo>
                  <a:cubicBezTo>
                    <a:pt x="3626140" y="0"/>
                    <a:pt x="3683000" y="56860"/>
                    <a:pt x="3683000" y="127000"/>
                  </a:cubicBezTo>
                  <a:lnTo>
                    <a:pt x="3683000" y="1524000"/>
                  </a:lnTo>
                  <a:cubicBezTo>
                    <a:pt x="3683000" y="1594140"/>
                    <a:pt x="3626140" y="1651000"/>
                    <a:pt x="3556000" y="1651000"/>
                  </a:cubicBezTo>
                  <a:lnTo>
                    <a:pt x="127000" y="1651000"/>
                  </a:lnTo>
                  <a:cubicBezTo>
                    <a:pt x="56860" y="1651000"/>
                    <a:pt x="0" y="1594140"/>
                    <a:pt x="0" y="1524000"/>
                  </a:cubicBezTo>
                  <a:lnTo>
                    <a:pt x="0" y="127000"/>
                  </a:lnTo>
                  <a:cubicBezTo>
                    <a:pt x="0" y="56860"/>
                    <a:pt x="56860" y="0"/>
                    <a:pt x="127000" y="0"/>
                  </a:cubicBezTo>
                  <a:close/>
                </a:path>
              </a:pathLst>
            </a:custGeom>
            <a:solidFill>
              <a:srgbClr val="E8EDF9"/>
            </a:solidFill>
            <a:ln cap="sq" w="19050">
              <a:solidFill>
                <a:srgbClr val="0C2577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79" name="TextBox 36"/>
            <p:cNvSpPr/>
            <p:nvPr/>
          </p:nvSpPr>
          <p:spPr>
            <a:xfrm>
              <a:off x="14087520" y="2416320"/>
              <a:ext cx="2761920" cy="1273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7080" tIns="127080" rIns="127080" bIns="127080" anchor="ctr">
              <a:noAutofit/>
            </a:bodyPr>
            <a:p>
              <a:pPr algn="ctr" defTabSz="914400">
                <a:lnSpc>
                  <a:spcPts val="2659"/>
                </a:lnSpc>
              </a:pPr>
              <a:r>
                <a:rPr lang="en-US" sz="1900" b="0" u="none" strike="noStrike">
                  <a:solidFill>
                    <a:srgbClr val="002060"/>
                  </a:solidFill>
                  <a:effectLst/>
                  <a:uFillTx/>
                  <a:latin typeface="Arimo"/>
                  <a:ea typeface="Arimo"/>
                </a:rPr>
                <a:t>TTS</a:t>
              </a:r>
              <a:endParaRPr lang="en-IN" sz="19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algn="ctr" defTabSz="914400">
                <a:lnSpc>
                  <a:spcPts val="2659"/>
                </a:lnSpc>
              </a:pPr>
              <a:r>
                <a:rPr lang="en-US" sz="1900" b="0" u="none" strike="noStrike">
                  <a:solidFill>
                    <a:srgbClr val="002060"/>
                  </a:solidFill>
                  <a:effectLst/>
                  <a:uFillTx/>
                  <a:latin typeface="Arimo"/>
                  <a:ea typeface="Arimo"/>
                </a:rPr>
                <a:t>Coqui VITS / Edge TTS</a:t>
              </a:r>
              <a:endParaRPr lang="en-IN" sz="19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380" name="Group 37"/>
          <p:cNvGrpSpPr/>
          <p:nvPr/>
        </p:nvGrpSpPr>
        <p:grpSpPr>
          <a:xfrm>
            <a:off x="952560" y="4709520"/>
            <a:ext cx="8191080" cy="2409480"/>
            <a:chOff x="952560" y="4709520"/>
            <a:chExt cx="8191080" cy="2409480"/>
          </a:xfrm>
        </p:grpSpPr>
        <p:sp>
          <p:nvSpPr>
            <p:cNvPr id="381" name="Freeform 38"/>
            <p:cNvSpPr/>
            <p:nvPr/>
          </p:nvSpPr>
          <p:spPr>
            <a:xfrm>
              <a:off x="952560" y="4737960"/>
              <a:ext cx="8191080" cy="2381040"/>
            </a:xfrm>
            <a:custGeom>
              <a:avLst/>
              <a:gdLst>
                <a:gd name="textAreaLeft" fmla="*/ 0 w 8191080"/>
                <a:gd name="textAreaRight" fmla="*/ 8191440 w 8191080"/>
                <a:gd name="textAreaTop" fmla="*/ 0 h 2381040"/>
                <a:gd name="textAreaBottom" fmla="*/ 2381400 h 2381040"/>
              </a:gdLst>
              <a:ahLst/>
              <a:cxnLst/>
              <a:rect l="textAreaLeft" t="textAreaTop" r="textAreaRight" b="textAreaBottom"/>
              <a:pathLst>
                <a:path w="10922000" h="3175000">
                  <a:moveTo>
                    <a:pt x="152400" y="0"/>
                  </a:moveTo>
                  <a:lnTo>
                    <a:pt x="10769600" y="0"/>
                  </a:lnTo>
                  <a:cubicBezTo>
                    <a:pt x="10853769" y="0"/>
                    <a:pt x="10922000" y="68232"/>
                    <a:pt x="10922000" y="152400"/>
                  </a:cubicBezTo>
                  <a:lnTo>
                    <a:pt x="10922000" y="3022600"/>
                  </a:lnTo>
                  <a:cubicBezTo>
                    <a:pt x="10922000" y="3106768"/>
                    <a:pt x="10853769" y="3175000"/>
                    <a:pt x="10769600" y="3175000"/>
                  </a:cubicBezTo>
                  <a:lnTo>
                    <a:pt x="152400" y="3175000"/>
                  </a:lnTo>
                  <a:cubicBezTo>
                    <a:pt x="68232" y="3175000"/>
                    <a:pt x="0" y="3106768"/>
                    <a:pt x="0" y="3022600"/>
                  </a:cubicBez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FFFFFF"/>
            </a:solidFill>
            <a:ln cap="sq" w="19050">
              <a:solidFill>
                <a:srgbClr val="0C2577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82" name="TextBox 39"/>
            <p:cNvSpPr/>
            <p:nvPr/>
          </p:nvSpPr>
          <p:spPr>
            <a:xfrm>
              <a:off x="952560" y="4709520"/>
              <a:ext cx="8191080" cy="2409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tIns="50760" rIns="50760" bIns="50760" anchor="ctr">
              <a:noAutofit/>
            </a:bodyPr>
            <a:p>
              <a:pPr/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</p:grpSp>
      <p:sp>
        <p:nvSpPr>
          <p:cNvPr id="383" name="TextBox 40"/>
          <p:cNvSpPr/>
          <p:nvPr/>
        </p:nvSpPr>
        <p:spPr>
          <a:xfrm>
            <a:off x="1181160" y="4890600"/>
            <a:ext cx="7733880" cy="39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3078"/>
              </a:lnSpc>
            </a:pPr>
            <a:r>
              <a:rPr lang="en-US" sz="2200" b="1" u="none" strike="noStrike">
                <a:solidFill>
                  <a:srgbClr val="0C2577"/>
                </a:solidFill>
                <a:effectLst/>
                <a:uFillTx/>
                <a:latin typeface="Arimo Bold"/>
                <a:ea typeface="Arimo Bold"/>
              </a:rPr>
              <a:t>DEMO 1 — Kisan Saathi Voice Shopping</a:t>
            </a:r>
            <a:endParaRPr lang="en-IN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4" name="TextBox 41"/>
          <p:cNvSpPr/>
          <p:nvPr/>
        </p:nvSpPr>
        <p:spPr>
          <a:xfrm>
            <a:off x="1181160" y="5424480"/>
            <a:ext cx="7733880" cy="70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2801"/>
              </a:lnSpc>
            </a:pPr>
            <a:r>
              <a:rPr lang="en-US" sz="2000" b="0" u="none" strike="noStrike">
                <a:solidFill>
                  <a:srgbClr val="002060"/>
                </a:solidFill>
                <a:effectLst/>
                <a:uFillTx/>
                <a:latin typeface="Arimo"/>
                <a:ea typeface="Arimo"/>
              </a:rPr>
              <a:t>Streamlit UI → 12 FastMCP tool subprocesses → safety boundary → atomic shop.json transaction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385" name="Group 43"/>
          <p:cNvGrpSpPr/>
          <p:nvPr/>
        </p:nvGrpSpPr>
        <p:grpSpPr>
          <a:xfrm>
            <a:off x="9524880" y="4709520"/>
            <a:ext cx="8191080" cy="2409480"/>
            <a:chOff x="9524880" y="4709520"/>
            <a:chExt cx="8191080" cy="2409480"/>
          </a:xfrm>
        </p:grpSpPr>
        <p:sp>
          <p:nvSpPr>
            <p:cNvPr id="386" name="Freeform 44"/>
            <p:cNvSpPr/>
            <p:nvPr/>
          </p:nvSpPr>
          <p:spPr>
            <a:xfrm>
              <a:off x="9524880" y="4737960"/>
              <a:ext cx="8191080" cy="2381040"/>
            </a:xfrm>
            <a:custGeom>
              <a:avLst/>
              <a:gdLst>
                <a:gd name="textAreaLeft" fmla="*/ 0 w 8191080"/>
                <a:gd name="textAreaRight" fmla="*/ 8191440 w 8191080"/>
                <a:gd name="textAreaTop" fmla="*/ 0 h 2381040"/>
                <a:gd name="textAreaBottom" fmla="*/ 2381400 h 2381040"/>
              </a:gdLst>
              <a:ahLst/>
              <a:cxnLst/>
              <a:rect l="textAreaLeft" t="textAreaTop" r="textAreaRight" b="textAreaBottom"/>
              <a:pathLst>
                <a:path w="10922000" h="3175000">
                  <a:moveTo>
                    <a:pt x="152400" y="0"/>
                  </a:moveTo>
                  <a:lnTo>
                    <a:pt x="10769600" y="0"/>
                  </a:lnTo>
                  <a:cubicBezTo>
                    <a:pt x="10853769" y="0"/>
                    <a:pt x="10922000" y="68232"/>
                    <a:pt x="10922000" y="152400"/>
                  </a:cubicBezTo>
                  <a:lnTo>
                    <a:pt x="10922000" y="3022600"/>
                  </a:lnTo>
                  <a:cubicBezTo>
                    <a:pt x="10922000" y="3106768"/>
                    <a:pt x="10853769" y="3175000"/>
                    <a:pt x="10769600" y="3175000"/>
                  </a:cubicBezTo>
                  <a:lnTo>
                    <a:pt x="152400" y="3175000"/>
                  </a:lnTo>
                  <a:cubicBezTo>
                    <a:pt x="68232" y="3175000"/>
                    <a:pt x="0" y="3106768"/>
                    <a:pt x="0" y="3022600"/>
                  </a:cubicBez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FFFFFF"/>
            </a:solidFill>
            <a:ln cap="sq" w="19050">
              <a:solidFill>
                <a:srgbClr val="0C2577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87" name="TextBox 45"/>
            <p:cNvSpPr/>
            <p:nvPr/>
          </p:nvSpPr>
          <p:spPr>
            <a:xfrm>
              <a:off x="9524880" y="4709520"/>
              <a:ext cx="8191080" cy="2409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tIns="50760" rIns="50760" bIns="50760" anchor="ctr">
              <a:noAutofit/>
            </a:bodyPr>
            <a:p>
              <a:pPr/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</p:grpSp>
      <p:sp>
        <p:nvSpPr>
          <p:cNvPr id="388" name="TextBox 46"/>
          <p:cNvSpPr/>
          <p:nvPr/>
        </p:nvSpPr>
        <p:spPr>
          <a:xfrm>
            <a:off x="9753480" y="4890600"/>
            <a:ext cx="7733880" cy="39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3078"/>
              </a:lnSpc>
            </a:pPr>
            <a:r>
              <a:rPr lang="en-US" sz="2200" b="1" u="none" strike="noStrike">
                <a:solidFill>
                  <a:srgbClr val="0C2577"/>
                </a:solidFill>
                <a:effectLst/>
                <a:uFillTx/>
                <a:latin typeface="Arimo Bold"/>
                <a:ea typeface="Arimo Bold"/>
              </a:rPr>
              <a:t>DEMO 2 — IIIT-NR Voice Helpdesk (RAG)</a:t>
            </a:r>
            <a:endParaRPr lang="en-IN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9" name="TextBox 47"/>
          <p:cNvSpPr/>
          <p:nvPr/>
        </p:nvSpPr>
        <p:spPr>
          <a:xfrm>
            <a:off x="9753480" y="5424480"/>
            <a:ext cx="7733880" cy="105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2801"/>
              </a:lnSpc>
            </a:pPr>
            <a:r>
              <a:rPr lang="en-US" sz="2000" b="0" u="none" strike="noStrike">
                <a:solidFill>
                  <a:srgbClr val="002060"/>
                </a:solidFill>
                <a:effectLst/>
                <a:uFillTx/>
                <a:latin typeface="Arimo"/>
                <a:ea typeface="Arimo"/>
              </a:rPr>
              <a:t>Streamlit UI @st.fragment → bounded FIFO JobManager → hybrid retrieval (multilingual-e5-small + Rank-BM25 + RRF) → two-pass grounding → cryptographic RagCache with purge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0" name="TextBox 49"/>
          <p:cNvSpPr/>
          <p:nvPr/>
        </p:nvSpPr>
        <p:spPr>
          <a:xfrm>
            <a:off x="952560" y="7443000"/>
            <a:ext cx="16382520" cy="39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14400">
              <a:lnSpc>
                <a:spcPts val="3078"/>
              </a:lnSpc>
            </a:pPr>
            <a:r>
              <a:rPr lang="en-US" sz="2200" b="0" i="1" u="none" strike="noStrike">
                <a:solidFill>
                  <a:srgbClr val="23298A"/>
                </a:solidFill>
                <a:effectLst/>
                <a:uFillTx/>
                <a:latin typeface="Arimo Italics"/>
                <a:ea typeface="Arimo Italics"/>
              </a:rPr>
              <a:t>Edge-native, zero-cloud operation — data flows left to right through all components.</a:t>
            </a:r>
            <a:endParaRPr lang="en-IN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transition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1" name="Group 2"/>
          <p:cNvGrpSpPr/>
          <p:nvPr/>
        </p:nvGrpSpPr>
        <p:grpSpPr>
          <a:xfrm>
            <a:off x="0" y="9698760"/>
            <a:ext cx="18288000" cy="606600"/>
            <a:chOff x="0" y="9698760"/>
            <a:chExt cx="18288000" cy="606600"/>
          </a:xfrm>
        </p:grpSpPr>
        <p:sp>
          <p:nvSpPr>
            <p:cNvPr id="392" name="Freeform 3"/>
            <p:cNvSpPr/>
            <p:nvPr/>
          </p:nvSpPr>
          <p:spPr>
            <a:xfrm>
              <a:off x="0" y="9698760"/>
              <a:ext cx="18288000" cy="606600"/>
            </a:xfrm>
            <a:custGeom>
              <a:avLst/>
              <a:gdLst>
                <a:gd name="textAreaLeft" fmla="*/ 0 w 18288000"/>
                <a:gd name="textAreaRight" fmla="*/ 18288360 w 18288000"/>
                <a:gd name="textAreaTop" fmla="*/ 0 h 606600"/>
                <a:gd name="textAreaBottom" fmla="*/ 606960 h 606600"/>
              </a:gdLst>
              <a:ahLst/>
              <a:cxnLst/>
              <a:rect l="textAreaLeft" t="textAreaTop" r="textAreaRight" b="textAreaBottom"/>
              <a:pathLst>
                <a:path w="24384254" h="809244">
                  <a:moveTo>
                    <a:pt x="0" y="0"/>
                  </a:moveTo>
                  <a:lnTo>
                    <a:pt x="24384254" y="0"/>
                  </a:lnTo>
                  <a:lnTo>
                    <a:pt x="24384254" y="809244"/>
                  </a:lnTo>
                  <a:lnTo>
                    <a:pt x="0" y="809244"/>
                  </a:lnTo>
                  <a:close/>
                </a:path>
              </a:pathLst>
            </a:custGeom>
            <a:solidFill>
              <a:srgbClr val="0C2577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393" name="Group 4"/>
          <p:cNvGrpSpPr/>
          <p:nvPr/>
        </p:nvGrpSpPr>
        <p:grpSpPr>
          <a:xfrm>
            <a:off x="15935400" y="345240"/>
            <a:ext cx="2190240" cy="2190240"/>
            <a:chOff x="15935400" y="345240"/>
            <a:chExt cx="2190240" cy="2190240"/>
          </a:xfrm>
        </p:grpSpPr>
        <p:sp>
          <p:nvSpPr>
            <p:cNvPr id="394" name="Freeform 5"/>
            <p:cNvSpPr/>
            <p:nvPr/>
          </p:nvSpPr>
          <p:spPr>
            <a:xfrm>
              <a:off x="15935400" y="345240"/>
              <a:ext cx="2190240" cy="2190240"/>
            </a:xfrm>
            <a:custGeom>
              <a:avLst/>
              <a:gdLst>
                <a:gd name="textAreaLeft" fmla="*/ 0 w 2190240"/>
                <a:gd name="textAreaRight" fmla="*/ 2190600 w 2190240"/>
                <a:gd name="textAreaTop" fmla="*/ 0 h 2190240"/>
                <a:gd name="textAreaBottom" fmla="*/ 2190600 h 2190240"/>
              </a:gdLst>
              <a:ahLst/>
              <a:cxnLst/>
              <a:rect l="textAreaLeft" t="textAreaTop" r="textAreaRight" b="textAreaBottom"/>
              <a:pathLst>
                <a:path w="2921000" h="2921000">
                  <a:moveTo>
                    <a:pt x="0" y="0"/>
                  </a:moveTo>
                  <a:lnTo>
                    <a:pt x="2921000" y="0"/>
                  </a:lnTo>
                  <a:lnTo>
                    <a:pt x="2921000" y="2921000"/>
                  </a:lnTo>
                  <a:lnTo>
                    <a:pt x="0" y="2921000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1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395" name="Group 6"/>
          <p:cNvGrpSpPr/>
          <p:nvPr/>
        </p:nvGrpSpPr>
        <p:grpSpPr>
          <a:xfrm>
            <a:off x="1257120" y="547560"/>
            <a:ext cx="14642280" cy="1987920"/>
            <a:chOff x="1257120" y="547560"/>
            <a:chExt cx="14642280" cy="1987920"/>
          </a:xfrm>
        </p:grpSpPr>
        <p:sp>
          <p:nvSpPr>
            <p:cNvPr id="396" name="Freeform 7"/>
            <p:cNvSpPr/>
            <p:nvPr/>
          </p:nvSpPr>
          <p:spPr>
            <a:xfrm>
              <a:off x="1257120" y="547560"/>
              <a:ext cx="14642280" cy="1987920"/>
            </a:xfrm>
            <a:custGeom>
              <a:avLst/>
              <a:gdLst>
                <a:gd name="textAreaLeft" fmla="*/ 0 w 14642280"/>
                <a:gd name="textAreaRight" fmla="*/ 14642640 w 14642280"/>
                <a:gd name="textAreaTop" fmla="*/ 0 h 1987920"/>
                <a:gd name="textAreaBottom" fmla="*/ 1988280 h 1987920"/>
              </a:gdLst>
              <a:ahLst/>
              <a:cxnLst/>
              <a:rect l="textAreaLeft" t="textAreaTop" r="textAreaRight" b="textAreaBottom"/>
              <a:pathLst>
                <a:path w="19523520" h="2651044">
                  <a:moveTo>
                    <a:pt x="0" y="0"/>
                  </a:moveTo>
                  <a:lnTo>
                    <a:pt x="19523520" y="0"/>
                  </a:lnTo>
                  <a:lnTo>
                    <a:pt x="19523520" y="2651044"/>
                  </a:lnTo>
                  <a:lnTo>
                    <a:pt x="0" y="2651044"/>
                  </a:lnTo>
                  <a:close/>
                </a:path>
              </a:pathLst>
            </a:custGeom>
            <a:blipFill rotWithShape="0">
              <a:blip r:embed="rId2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97" name="TextBox 8"/>
            <p:cNvSpPr/>
            <p:nvPr/>
          </p:nvSpPr>
          <p:spPr>
            <a:xfrm>
              <a:off x="1257120" y="597600"/>
              <a:ext cx="14642280" cy="1937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defTabSz="914400">
                <a:lnSpc>
                  <a:spcPts val="7129"/>
                </a:lnSpc>
                <a:tabLst>
                  <a:tab pos="0" algn="l"/>
                </a:tabLst>
              </a:pPr>
              <a:r>
                <a:rPr lang="en-US" sz="6600" b="1" u="none" spc="-40" strike="noStrike">
                  <a:solidFill>
                    <a:srgbClr val="002060"/>
                  </a:solidFill>
                  <a:effectLst/>
                  <a:uFillTx/>
                  <a:latin typeface="TT Rounds Condensed Bold"/>
                  <a:ea typeface="TT Rounds Condensed Bold"/>
                </a:rPr>
                <a:t>Working / Methodology</a:t>
              </a:r>
              <a:endParaRPr lang="en-IN" sz="6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398" name="Group 9"/>
          <p:cNvGrpSpPr/>
          <p:nvPr/>
        </p:nvGrpSpPr>
        <p:grpSpPr>
          <a:xfrm>
            <a:off x="399960" y="9748800"/>
            <a:ext cx="3314160" cy="478440"/>
            <a:chOff x="399960" y="9748800"/>
            <a:chExt cx="3314160" cy="478440"/>
          </a:xfrm>
        </p:grpSpPr>
        <p:sp>
          <p:nvSpPr>
            <p:cNvPr id="399" name="Freeform 10"/>
            <p:cNvSpPr/>
            <p:nvPr/>
          </p:nvSpPr>
          <p:spPr>
            <a:xfrm>
              <a:off x="399960" y="9777240"/>
              <a:ext cx="3314160" cy="450000"/>
            </a:xfrm>
            <a:custGeom>
              <a:avLst/>
              <a:gdLst>
                <a:gd name="textAreaLeft" fmla="*/ 0 w 3314160"/>
                <a:gd name="textAreaRight" fmla="*/ 3314520 w 3314160"/>
                <a:gd name="textAreaTop" fmla="*/ 0 h 450000"/>
                <a:gd name="textAreaBottom" fmla="*/ 450360 h 450000"/>
              </a:gdLst>
              <a:ahLst/>
              <a:cxnLst/>
              <a:rect l="textAreaLeft" t="textAreaTop" r="textAreaRight" b="textAreaBottom"/>
              <a:pathLst>
                <a:path w="4419360" h="600479">
                  <a:moveTo>
                    <a:pt x="0" y="0"/>
                  </a:moveTo>
                  <a:lnTo>
                    <a:pt x="4419360" y="0"/>
                  </a:lnTo>
                  <a:lnTo>
                    <a:pt x="4419360" y="600479"/>
                  </a:lnTo>
                  <a:lnTo>
                    <a:pt x="0" y="600479"/>
                  </a:lnTo>
                  <a:close/>
                </a:path>
              </a:pathLst>
            </a:custGeom>
            <a:blipFill rotWithShape="0">
              <a:blip r:embed="rId3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00" name="TextBox 11"/>
            <p:cNvSpPr/>
            <p:nvPr/>
          </p:nvSpPr>
          <p:spPr>
            <a:xfrm>
              <a:off x="399960" y="9748800"/>
              <a:ext cx="3314160" cy="478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defTabSz="914400">
                <a:lnSpc>
                  <a:spcPts val="2160"/>
                </a:lnSpc>
                <a:tabLst>
                  <a:tab pos="0" algn="l"/>
                </a:tabLst>
              </a:pPr>
              <a:r>
                <a:rPr lang="en-US" sz="1800" b="0" u="none" strike="noStrike">
                  <a:solidFill>
                    <a:srgbClr val="FFFFFF"/>
                  </a:solidFill>
                  <a:effectLst/>
                  <a:uFillTx/>
                  <a:latin typeface="Calibri (MS)"/>
                  <a:ea typeface="Calibri (MS)"/>
                </a:rPr>
                <a:t>05/10/26</a:t>
              </a:r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401" name="Group 12"/>
          <p:cNvGrpSpPr/>
          <p:nvPr/>
        </p:nvGrpSpPr>
        <p:grpSpPr>
          <a:xfrm>
            <a:off x="14411520" y="9651600"/>
            <a:ext cx="2969280" cy="575640"/>
            <a:chOff x="14411520" y="9651600"/>
            <a:chExt cx="2969280" cy="575640"/>
          </a:xfrm>
        </p:grpSpPr>
        <p:sp>
          <p:nvSpPr>
            <p:cNvPr id="402" name="Freeform 13"/>
            <p:cNvSpPr/>
            <p:nvPr/>
          </p:nvSpPr>
          <p:spPr>
            <a:xfrm>
              <a:off x="14411520" y="9680040"/>
              <a:ext cx="2969280" cy="547200"/>
            </a:xfrm>
            <a:custGeom>
              <a:avLst/>
              <a:gdLst>
                <a:gd name="textAreaLeft" fmla="*/ 0 w 2969280"/>
                <a:gd name="textAreaRight" fmla="*/ 2969640 w 2969280"/>
                <a:gd name="textAreaTop" fmla="*/ 0 h 547200"/>
                <a:gd name="textAreaBottom" fmla="*/ 547560 h 547200"/>
              </a:gdLst>
              <a:ahLst/>
              <a:cxnLst/>
              <a:rect l="textAreaLeft" t="textAreaTop" r="textAreaRight" b="textAreaBottom"/>
              <a:pathLst>
                <a:path w="3959280" h="730075">
                  <a:moveTo>
                    <a:pt x="0" y="0"/>
                  </a:moveTo>
                  <a:lnTo>
                    <a:pt x="3959280" y="0"/>
                  </a:lnTo>
                  <a:lnTo>
                    <a:pt x="3959280" y="730075"/>
                  </a:lnTo>
                  <a:lnTo>
                    <a:pt x="0" y="730075"/>
                  </a:lnTo>
                  <a:close/>
                </a:path>
              </a:pathLst>
            </a:custGeom>
            <a:blipFill rotWithShape="0">
              <a:blip r:embed="rId4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03" name="TextBox 14"/>
            <p:cNvSpPr/>
            <p:nvPr/>
          </p:nvSpPr>
          <p:spPr>
            <a:xfrm>
              <a:off x="14411520" y="9651600"/>
              <a:ext cx="2968920" cy="5756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algn="r" defTabSz="914400">
                <a:lnSpc>
                  <a:spcPts val="2160"/>
                </a:lnSpc>
                <a:tabLst>
                  <a:tab pos="0" algn="l"/>
                </a:tabLst>
              </a:pPr>
              <a:r>
                <a:rPr lang="en-US" sz="1800" b="0" u="none" strike="noStrike">
                  <a:solidFill>
                    <a:srgbClr val="FFFFFF"/>
                  </a:solidFill>
                  <a:effectLst/>
                  <a:uFillTx/>
                  <a:latin typeface="Calibri (MS)"/>
                  <a:ea typeface="Calibri (MS)"/>
                </a:rPr>
                <a:t>9</a:t>
              </a:r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404" name="Group 15"/>
          <p:cNvGrpSpPr/>
          <p:nvPr/>
        </p:nvGrpSpPr>
        <p:grpSpPr>
          <a:xfrm>
            <a:off x="4288680" y="9732240"/>
            <a:ext cx="9896400" cy="554400"/>
            <a:chOff x="4288680" y="9732240"/>
            <a:chExt cx="9896400" cy="554400"/>
          </a:xfrm>
        </p:grpSpPr>
        <p:sp>
          <p:nvSpPr>
            <p:cNvPr id="405" name="Freeform 16"/>
            <p:cNvSpPr/>
            <p:nvPr/>
          </p:nvSpPr>
          <p:spPr>
            <a:xfrm>
              <a:off x="4288680" y="9739440"/>
              <a:ext cx="9896400" cy="547200"/>
            </a:xfrm>
            <a:custGeom>
              <a:avLst/>
              <a:gdLst>
                <a:gd name="textAreaLeft" fmla="*/ 0 w 9896400"/>
                <a:gd name="textAreaRight" fmla="*/ 9896760 w 9896400"/>
                <a:gd name="textAreaTop" fmla="*/ 0 h 547200"/>
                <a:gd name="textAreaBottom" fmla="*/ 547560 h 547200"/>
              </a:gdLst>
              <a:ahLst/>
              <a:cxnLst/>
              <a:rect l="textAreaLeft" t="textAreaTop" r="textAreaRight" b="textAreaBottom"/>
              <a:pathLst>
                <a:path w="13195440" h="730075">
                  <a:moveTo>
                    <a:pt x="0" y="0"/>
                  </a:moveTo>
                  <a:lnTo>
                    <a:pt x="13195440" y="0"/>
                  </a:lnTo>
                  <a:lnTo>
                    <a:pt x="13195440" y="730075"/>
                  </a:lnTo>
                  <a:lnTo>
                    <a:pt x="0" y="730075"/>
                  </a:lnTo>
                  <a:close/>
                </a:path>
              </a:pathLst>
            </a:custGeom>
            <a:blipFill rotWithShape="0">
              <a:blip r:embed="rId5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06" name="TextBox 17"/>
            <p:cNvSpPr/>
            <p:nvPr/>
          </p:nvSpPr>
          <p:spPr>
            <a:xfrm>
              <a:off x="4288680" y="9732240"/>
              <a:ext cx="9896400" cy="554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algn="ctr" defTabSz="914400">
                <a:lnSpc>
                  <a:spcPts val="2520"/>
                </a:lnSpc>
                <a:tabLst>
                  <a:tab pos="0" algn="l"/>
                </a:tabLst>
              </a:pPr>
              <a:r>
                <a:rPr lang="en-US" sz="2100" b="0" u="none" strike="noStrike">
                  <a:solidFill>
                    <a:srgbClr val="FFFFFF"/>
                  </a:solidFill>
                  <a:effectLst/>
                  <a:uFillTx/>
                  <a:latin typeface="Georgia"/>
                  <a:ea typeface="Georgia"/>
                </a:rPr>
                <a:t>International Institute of Information Technology, Naya Raipur</a:t>
              </a:r>
              <a:endParaRPr lang="en-IN" sz="21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407" name="TextBox 18"/>
          <p:cNvSpPr/>
          <p:nvPr/>
        </p:nvSpPr>
        <p:spPr>
          <a:xfrm>
            <a:off x="1352520" y="2610000"/>
            <a:ext cx="183240" cy="45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3640"/>
              </a:lnSpc>
            </a:pPr>
            <a:r>
              <a:rPr lang="en-US" sz="2600" b="1" u="none" strike="noStrike">
                <a:solidFill>
                  <a:srgbClr val="0C2577"/>
                </a:solidFill>
                <a:effectLst/>
                <a:uFillTx/>
                <a:latin typeface="Arimo Bold"/>
                <a:ea typeface="Arimo Bold"/>
              </a:rPr>
              <a:t>1</a:t>
            </a:r>
            <a:endParaRPr lang="en-IN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8" name="TextBox 19"/>
          <p:cNvSpPr/>
          <p:nvPr/>
        </p:nvSpPr>
        <p:spPr>
          <a:xfrm>
            <a:off x="1924200" y="2619360"/>
            <a:ext cx="15010920" cy="44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3509"/>
              </a:lnSpc>
            </a:pPr>
            <a:r>
              <a:rPr lang="en-US" sz="2600" b="1" u="none" strike="noStrike">
                <a:solidFill>
                  <a:srgbClr val="002060"/>
                </a:solidFill>
                <a:effectLst/>
                <a:uFillTx/>
                <a:latin typeface="Arimo Bold"/>
                <a:ea typeface="Arimo Bold"/>
              </a:rPr>
              <a:t>Voice input — </a:t>
            </a:r>
            <a:r>
              <a:rPr lang="en-US" sz="2600" b="0" u="none" strike="noStrike">
                <a:solidFill>
                  <a:srgbClr val="002060"/>
                </a:solidFill>
                <a:effectLst/>
                <a:uFillTx/>
                <a:latin typeface="Arimo"/>
                <a:ea typeface="Arimo"/>
              </a:rPr>
              <a:t>Silero VAD detects speech frames (512-sample ONNX frame invariance)</a:t>
            </a:r>
            <a:endParaRPr lang="en-IN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9" name="TextBox 20"/>
          <p:cNvSpPr/>
          <p:nvPr/>
        </p:nvSpPr>
        <p:spPr>
          <a:xfrm>
            <a:off x="1352520" y="3265200"/>
            <a:ext cx="183240" cy="45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3640"/>
              </a:lnSpc>
            </a:pPr>
            <a:r>
              <a:rPr lang="en-US" sz="2600" b="1" u="none" strike="noStrike">
                <a:solidFill>
                  <a:srgbClr val="0C2577"/>
                </a:solidFill>
                <a:effectLst/>
                <a:uFillTx/>
                <a:latin typeface="Arimo Bold"/>
                <a:ea typeface="Arimo Bold"/>
              </a:rPr>
              <a:t>2</a:t>
            </a:r>
            <a:endParaRPr lang="en-IN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0" name="TextBox 21"/>
          <p:cNvSpPr/>
          <p:nvPr/>
        </p:nvSpPr>
        <p:spPr>
          <a:xfrm>
            <a:off x="1924200" y="3274560"/>
            <a:ext cx="15010920" cy="88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3509"/>
              </a:lnSpc>
            </a:pPr>
            <a:r>
              <a:rPr lang="en-US" sz="2600" b="1" u="none" strike="noStrike">
                <a:solidFill>
                  <a:srgbClr val="002060"/>
                </a:solidFill>
                <a:effectLst/>
                <a:uFillTx/>
                <a:latin typeface="Arimo Bold"/>
                <a:ea typeface="Arimo Bold"/>
              </a:rPr>
              <a:t>ASR processing — </a:t>
            </a:r>
            <a:r>
              <a:rPr lang="en-US" sz="2600" b="0" u="none" strike="noStrike">
                <a:solidFill>
                  <a:srgbClr val="002060"/>
                </a:solidFill>
                <a:effectLst/>
                <a:uFillTx/>
                <a:latin typeface="Arimo"/>
                <a:ea typeface="Arimo"/>
              </a:rPr>
              <a:t>Faster-Whisper int8 CPU + Meta MMS-1B hne CUDA fp16 for vernacular recognition</a:t>
            </a:r>
            <a:endParaRPr lang="en-IN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1" name="TextBox 22"/>
          <p:cNvSpPr/>
          <p:nvPr/>
        </p:nvSpPr>
        <p:spPr>
          <a:xfrm>
            <a:off x="1352520" y="4101480"/>
            <a:ext cx="183240" cy="45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3640"/>
              </a:lnSpc>
            </a:pPr>
            <a:r>
              <a:rPr lang="en-US" sz="2600" b="1" u="none" strike="noStrike">
                <a:solidFill>
                  <a:srgbClr val="0C2577"/>
                </a:solidFill>
                <a:effectLst/>
                <a:uFillTx/>
                <a:latin typeface="Arimo Bold"/>
                <a:ea typeface="Arimo Bold"/>
              </a:rPr>
              <a:t>3</a:t>
            </a:r>
            <a:endParaRPr lang="en-IN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2" name="TextBox 23"/>
          <p:cNvSpPr/>
          <p:nvPr/>
        </p:nvSpPr>
        <p:spPr>
          <a:xfrm>
            <a:off x="1924200" y="4110840"/>
            <a:ext cx="15010920" cy="44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3509"/>
              </a:lnSpc>
            </a:pPr>
            <a:r>
              <a:rPr lang="en-US" sz="2600" b="1" u="none" strike="noStrike">
                <a:solidFill>
                  <a:srgbClr val="002060"/>
                </a:solidFill>
                <a:effectLst/>
                <a:uFillTx/>
                <a:latin typeface="Arimo Bold"/>
                <a:ea typeface="Arimo Bold"/>
              </a:rPr>
              <a:t>Matra repair — </a:t>
            </a:r>
            <a:r>
              <a:rPr lang="en-US" sz="2600" b="0" u="none" strike="noStrike">
                <a:solidFill>
                  <a:srgbClr val="002060"/>
                </a:solidFill>
                <a:effectLst/>
                <a:uFillTx/>
                <a:latin typeface="Arimo"/>
                <a:ea typeface="Arimo"/>
              </a:rPr>
              <a:t>Devanagari CTC matra repair corrects transcription errors</a:t>
            </a:r>
            <a:endParaRPr lang="en-IN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3" name="TextBox 24"/>
          <p:cNvSpPr/>
          <p:nvPr/>
        </p:nvSpPr>
        <p:spPr>
          <a:xfrm>
            <a:off x="1352520" y="4756680"/>
            <a:ext cx="183240" cy="45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3640"/>
              </a:lnSpc>
            </a:pPr>
            <a:r>
              <a:rPr lang="en-US" sz="2600" b="1" u="none" strike="noStrike">
                <a:solidFill>
                  <a:srgbClr val="0C2577"/>
                </a:solidFill>
                <a:effectLst/>
                <a:uFillTx/>
                <a:latin typeface="Arimo Bold"/>
                <a:ea typeface="Arimo Bold"/>
              </a:rPr>
              <a:t>4</a:t>
            </a:r>
            <a:endParaRPr lang="en-IN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4" name="TextBox 25"/>
          <p:cNvSpPr/>
          <p:nvPr/>
        </p:nvSpPr>
        <p:spPr>
          <a:xfrm>
            <a:off x="1924200" y="4766400"/>
            <a:ext cx="15010920" cy="44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3509"/>
              </a:lnSpc>
            </a:pPr>
            <a:r>
              <a:rPr lang="en-US" sz="2600" b="1" u="none" strike="noStrike">
                <a:solidFill>
                  <a:srgbClr val="002060"/>
                </a:solidFill>
                <a:effectLst/>
                <a:uFillTx/>
                <a:latin typeface="Arimo Bold"/>
                <a:ea typeface="Arimo Bold"/>
              </a:rPr>
              <a:t>Verbalization — </a:t>
            </a:r>
            <a:r>
              <a:rPr lang="en-US" sz="2600" b="0" u="none" strike="noStrike">
                <a:solidFill>
                  <a:srgbClr val="002060"/>
                </a:solidFill>
                <a:effectLst/>
                <a:uFillTx/>
                <a:latin typeface="Arimo"/>
                <a:ea typeface="Arimo"/>
              </a:rPr>
              <a:t>Deterministic verbalization v2 — Indian numbering, Hindi negation guard</a:t>
            </a:r>
            <a:endParaRPr lang="en-IN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5" name="TextBox 26"/>
          <p:cNvSpPr/>
          <p:nvPr/>
        </p:nvSpPr>
        <p:spPr>
          <a:xfrm>
            <a:off x="1352520" y="5412240"/>
            <a:ext cx="183240" cy="45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3640"/>
              </a:lnSpc>
            </a:pPr>
            <a:r>
              <a:rPr lang="en-US" sz="2600" b="1" u="none" strike="noStrike">
                <a:solidFill>
                  <a:srgbClr val="0C2577"/>
                </a:solidFill>
                <a:effectLst/>
                <a:uFillTx/>
                <a:latin typeface="Arimo Bold"/>
                <a:ea typeface="Arimo Bold"/>
              </a:rPr>
              <a:t>5</a:t>
            </a:r>
            <a:endParaRPr lang="en-IN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6" name="TextBox 27"/>
          <p:cNvSpPr/>
          <p:nvPr/>
        </p:nvSpPr>
        <p:spPr>
          <a:xfrm>
            <a:off x="1924200" y="5421600"/>
            <a:ext cx="15010920" cy="88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3509"/>
              </a:lnSpc>
            </a:pPr>
            <a:r>
              <a:rPr lang="en-US" sz="2600" b="1" u="none" strike="noStrike">
                <a:solidFill>
                  <a:srgbClr val="002060"/>
                </a:solidFill>
                <a:effectLst/>
                <a:uFillTx/>
                <a:latin typeface="Arimo Bold"/>
                <a:ea typeface="Arimo Bold"/>
              </a:rPr>
              <a:t>Demo 1 path — </a:t>
            </a:r>
            <a:r>
              <a:rPr lang="en-US" sz="2600" b="0" u="none" strike="noStrike">
                <a:solidFill>
                  <a:srgbClr val="002060"/>
                </a:solidFill>
                <a:effectLst/>
                <a:uFillTx/>
                <a:latin typeface="Arimo"/>
                <a:ea typeface="Arimo"/>
              </a:rPr>
              <a:t>12 FastMCP tool subprocesses under safety boundaries → atomic shop.json transaction</a:t>
            </a:r>
            <a:endParaRPr lang="en-IN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7" name="TextBox 28"/>
          <p:cNvSpPr/>
          <p:nvPr/>
        </p:nvSpPr>
        <p:spPr>
          <a:xfrm>
            <a:off x="1352520" y="6251760"/>
            <a:ext cx="183240" cy="45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3640"/>
              </a:lnSpc>
            </a:pPr>
            <a:r>
              <a:rPr lang="en-US" sz="2600" b="1" u="none" strike="noStrike">
                <a:solidFill>
                  <a:srgbClr val="0C2577"/>
                </a:solidFill>
                <a:effectLst/>
                <a:uFillTx/>
                <a:latin typeface="Arimo Bold"/>
                <a:ea typeface="Arimo Bold"/>
              </a:rPr>
              <a:t>6</a:t>
            </a:r>
            <a:endParaRPr lang="en-IN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8" name="TextBox 29"/>
          <p:cNvSpPr/>
          <p:nvPr/>
        </p:nvSpPr>
        <p:spPr>
          <a:xfrm>
            <a:off x="1924200" y="6261480"/>
            <a:ext cx="15010920" cy="88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3509"/>
              </a:lnSpc>
            </a:pPr>
            <a:r>
              <a:rPr lang="en-US" sz="2600" b="1" u="none" strike="noStrike">
                <a:solidFill>
                  <a:srgbClr val="002060"/>
                </a:solidFill>
                <a:effectLst/>
                <a:uFillTx/>
                <a:latin typeface="Arimo Bold"/>
                <a:ea typeface="Arimo Bold"/>
              </a:rPr>
              <a:t>Demo 2 path — </a:t>
            </a:r>
            <a:r>
              <a:rPr lang="en-US" sz="2600" b="0" u="none" strike="noStrike">
                <a:solidFill>
                  <a:srgbClr val="002060"/>
                </a:solidFill>
                <a:effectLst/>
                <a:uFillTx/>
                <a:latin typeface="Arimo"/>
                <a:ea typeface="Arimo"/>
              </a:rPr>
              <a:t>Bounded FIFO JobManager → hybrid retrieval (multilingual-e5-small + BM25 + RRF) → two-pass grounding</a:t>
            </a:r>
            <a:endParaRPr lang="en-IN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9" name="TextBox 30"/>
          <p:cNvSpPr/>
          <p:nvPr/>
        </p:nvSpPr>
        <p:spPr>
          <a:xfrm>
            <a:off x="1352520" y="7091640"/>
            <a:ext cx="183240" cy="45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3640"/>
              </a:lnSpc>
            </a:pPr>
            <a:r>
              <a:rPr lang="en-US" sz="2600" b="1" u="none" strike="noStrike">
                <a:solidFill>
                  <a:srgbClr val="0C2577"/>
                </a:solidFill>
                <a:effectLst/>
                <a:uFillTx/>
                <a:latin typeface="Arimo Bold"/>
                <a:ea typeface="Arimo Bold"/>
              </a:rPr>
              <a:t>7</a:t>
            </a:r>
            <a:endParaRPr lang="en-IN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0" name="TextBox 31"/>
          <p:cNvSpPr/>
          <p:nvPr/>
        </p:nvSpPr>
        <p:spPr>
          <a:xfrm>
            <a:off x="1924200" y="7101360"/>
            <a:ext cx="15010920" cy="44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3509"/>
              </a:lnSpc>
            </a:pPr>
            <a:r>
              <a:rPr lang="en-US" sz="2600" b="1" u="none" strike="noStrike">
                <a:solidFill>
                  <a:srgbClr val="002060"/>
                </a:solidFill>
                <a:effectLst/>
                <a:uFillTx/>
                <a:latin typeface="Arimo Bold"/>
                <a:ea typeface="Arimo Bold"/>
              </a:rPr>
              <a:t>Response synthesis — </a:t>
            </a:r>
            <a:r>
              <a:rPr lang="en-US" sz="2600" b="0" u="none" strike="noStrike">
                <a:solidFill>
                  <a:srgbClr val="002060"/>
                </a:solidFill>
                <a:effectLst/>
                <a:uFillTx/>
                <a:latin typeface="Arimo"/>
                <a:ea typeface="Arimo"/>
              </a:rPr>
              <a:t>Coqui VITS CPU LRU cache or Microsoft Edge TTS for Hinglish/English</a:t>
            </a:r>
            <a:endParaRPr lang="en-IN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1" name="TextBox 32"/>
          <p:cNvSpPr/>
          <p:nvPr/>
        </p:nvSpPr>
        <p:spPr>
          <a:xfrm>
            <a:off x="1352520" y="7616160"/>
            <a:ext cx="183240" cy="45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3640"/>
              </a:lnSpc>
            </a:pPr>
            <a:r>
              <a:rPr lang="en-US" sz="2600" b="1" u="none" strike="noStrike">
                <a:solidFill>
                  <a:srgbClr val="0C2577"/>
                </a:solidFill>
                <a:effectLst/>
                <a:uFillTx/>
                <a:latin typeface="Arimo Bold"/>
                <a:ea typeface="Arimo Bold"/>
              </a:rPr>
              <a:t>8</a:t>
            </a:r>
            <a:endParaRPr lang="en-IN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2" name="TextBox 33"/>
          <p:cNvSpPr/>
          <p:nvPr/>
        </p:nvSpPr>
        <p:spPr>
          <a:xfrm>
            <a:off x="1924200" y="7625880"/>
            <a:ext cx="15010920" cy="44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3509"/>
              </a:lnSpc>
            </a:pPr>
            <a:r>
              <a:rPr lang="en-US" sz="2600" b="1" u="none" strike="noStrike">
                <a:solidFill>
                  <a:srgbClr val="002060"/>
                </a:solidFill>
                <a:effectLst/>
                <a:uFillTx/>
                <a:latin typeface="Arimo Bold"/>
                <a:ea typeface="Arimo Bold"/>
              </a:rPr>
              <a:t>Output — </a:t>
            </a:r>
            <a:r>
              <a:rPr lang="en-US" sz="2600" b="0" u="none" strike="noStrike">
                <a:solidFill>
                  <a:srgbClr val="002060"/>
                </a:solidFill>
                <a:effectLst/>
                <a:uFillTx/>
                <a:latin typeface="Arimo"/>
                <a:ea typeface="Arimo"/>
              </a:rPr>
              <a:t>Voice playback to the user</a:t>
            </a:r>
            <a:endParaRPr lang="en-IN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3" name="TextBox 34"/>
          <p:cNvSpPr/>
          <p:nvPr/>
        </p:nvSpPr>
        <p:spPr>
          <a:xfrm>
            <a:off x="1352520" y="8157240"/>
            <a:ext cx="15582600" cy="39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3078"/>
              </a:lnSpc>
            </a:pPr>
            <a:r>
              <a:rPr lang="en-US" sz="2200" b="0" i="1" u="none" strike="noStrike">
                <a:solidFill>
                  <a:srgbClr val="23298A"/>
                </a:solidFill>
                <a:effectLst/>
                <a:uFillTx/>
                <a:latin typeface="Arimo Italics"/>
                <a:ea typeface="Arimo Italics"/>
              </a:rPr>
              <a:t>Error handling: turn timeouts, queue deadlines and HTTP 429 busy responses handled gracefully.</a:t>
            </a:r>
            <a:endParaRPr lang="en-IN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transition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4" name="Group 2"/>
          <p:cNvGrpSpPr/>
          <p:nvPr/>
        </p:nvGrpSpPr>
        <p:grpSpPr>
          <a:xfrm>
            <a:off x="0" y="9698760"/>
            <a:ext cx="18288000" cy="606600"/>
            <a:chOff x="0" y="9698760"/>
            <a:chExt cx="18288000" cy="606600"/>
          </a:xfrm>
        </p:grpSpPr>
        <p:sp>
          <p:nvSpPr>
            <p:cNvPr id="425" name="Freeform 3"/>
            <p:cNvSpPr/>
            <p:nvPr/>
          </p:nvSpPr>
          <p:spPr>
            <a:xfrm>
              <a:off x="0" y="9698760"/>
              <a:ext cx="18288000" cy="606600"/>
            </a:xfrm>
            <a:custGeom>
              <a:avLst/>
              <a:gdLst>
                <a:gd name="textAreaLeft" fmla="*/ 0 w 18288000"/>
                <a:gd name="textAreaRight" fmla="*/ 18288360 w 18288000"/>
                <a:gd name="textAreaTop" fmla="*/ 0 h 606600"/>
                <a:gd name="textAreaBottom" fmla="*/ 606960 h 606600"/>
              </a:gdLst>
              <a:ahLst/>
              <a:cxnLst/>
              <a:rect l="textAreaLeft" t="textAreaTop" r="textAreaRight" b="textAreaBottom"/>
              <a:pathLst>
                <a:path w="24384254" h="809244">
                  <a:moveTo>
                    <a:pt x="0" y="0"/>
                  </a:moveTo>
                  <a:lnTo>
                    <a:pt x="24384254" y="0"/>
                  </a:lnTo>
                  <a:lnTo>
                    <a:pt x="24384254" y="809244"/>
                  </a:lnTo>
                  <a:lnTo>
                    <a:pt x="0" y="809244"/>
                  </a:lnTo>
                  <a:close/>
                </a:path>
              </a:pathLst>
            </a:custGeom>
            <a:solidFill>
              <a:srgbClr val="0C2577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426" name="Group 4"/>
          <p:cNvGrpSpPr/>
          <p:nvPr/>
        </p:nvGrpSpPr>
        <p:grpSpPr>
          <a:xfrm>
            <a:off x="15935400" y="345240"/>
            <a:ext cx="2190240" cy="2190240"/>
            <a:chOff x="15935400" y="345240"/>
            <a:chExt cx="2190240" cy="2190240"/>
          </a:xfrm>
        </p:grpSpPr>
        <p:sp>
          <p:nvSpPr>
            <p:cNvPr id="427" name="Freeform 5"/>
            <p:cNvSpPr/>
            <p:nvPr/>
          </p:nvSpPr>
          <p:spPr>
            <a:xfrm>
              <a:off x="15935400" y="345240"/>
              <a:ext cx="2190240" cy="2190240"/>
            </a:xfrm>
            <a:custGeom>
              <a:avLst/>
              <a:gdLst>
                <a:gd name="textAreaLeft" fmla="*/ 0 w 2190240"/>
                <a:gd name="textAreaRight" fmla="*/ 2190600 w 2190240"/>
                <a:gd name="textAreaTop" fmla="*/ 0 h 2190240"/>
                <a:gd name="textAreaBottom" fmla="*/ 2190600 h 2190240"/>
              </a:gdLst>
              <a:ahLst/>
              <a:cxnLst/>
              <a:rect l="textAreaLeft" t="textAreaTop" r="textAreaRight" b="textAreaBottom"/>
              <a:pathLst>
                <a:path w="2921000" h="2921000">
                  <a:moveTo>
                    <a:pt x="0" y="0"/>
                  </a:moveTo>
                  <a:lnTo>
                    <a:pt x="2921000" y="0"/>
                  </a:lnTo>
                  <a:lnTo>
                    <a:pt x="2921000" y="2921000"/>
                  </a:lnTo>
                  <a:lnTo>
                    <a:pt x="0" y="2921000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1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428" name="TextBox 6"/>
          <p:cNvSpPr/>
          <p:nvPr/>
        </p:nvSpPr>
        <p:spPr>
          <a:xfrm>
            <a:off x="1348560" y="2565000"/>
            <a:ext cx="15590160" cy="67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4535"/>
              </a:lnSpc>
              <a:tabLst>
                <a:tab pos="0" algn="l"/>
              </a:tabLst>
            </a:pPr>
            <a:r>
              <a:rPr lang="en-US" sz="4200" b="0" u="none" strike="noStrike">
                <a:solidFill>
                  <a:srgbClr val="002060"/>
                </a:solidFill>
                <a:effectLst/>
                <a:uFillTx/>
                <a:latin typeface="Calibri (MS)"/>
                <a:ea typeface="Calibri (MS)"/>
              </a:rPr>
              <a:t>Summary of databases and system components used in the project:</a:t>
            </a:r>
            <a:endParaRPr lang="en-IN" sz="4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429" name="Group 7"/>
          <p:cNvGrpSpPr/>
          <p:nvPr/>
        </p:nvGrpSpPr>
        <p:grpSpPr>
          <a:xfrm>
            <a:off x="1257120" y="547560"/>
            <a:ext cx="15773040" cy="1987920"/>
            <a:chOff x="1257120" y="547560"/>
            <a:chExt cx="15773040" cy="1987920"/>
          </a:xfrm>
        </p:grpSpPr>
        <p:sp>
          <p:nvSpPr>
            <p:cNvPr id="430" name="Freeform 8"/>
            <p:cNvSpPr/>
            <p:nvPr/>
          </p:nvSpPr>
          <p:spPr>
            <a:xfrm>
              <a:off x="1257120" y="547560"/>
              <a:ext cx="15773040" cy="1987920"/>
            </a:xfrm>
            <a:custGeom>
              <a:avLst/>
              <a:gdLst>
                <a:gd name="textAreaLeft" fmla="*/ 0 w 15773040"/>
                <a:gd name="textAreaRight" fmla="*/ 15773400 w 15773040"/>
                <a:gd name="textAreaTop" fmla="*/ 0 h 1987920"/>
                <a:gd name="textAreaBottom" fmla="*/ 1988280 h 1987920"/>
              </a:gdLst>
              <a:ahLst/>
              <a:cxnLst/>
              <a:rect l="textAreaLeft" t="textAreaTop" r="textAreaRight" b="textAreaBottom"/>
              <a:pathLst>
                <a:path w="21031200" h="2651044">
                  <a:moveTo>
                    <a:pt x="0" y="0"/>
                  </a:moveTo>
                  <a:lnTo>
                    <a:pt x="21031200" y="0"/>
                  </a:lnTo>
                  <a:lnTo>
                    <a:pt x="21031200" y="2651044"/>
                  </a:lnTo>
                  <a:lnTo>
                    <a:pt x="0" y="2651044"/>
                  </a:lnTo>
                  <a:close/>
                </a:path>
              </a:pathLst>
            </a:custGeom>
            <a:blipFill rotWithShape="0">
              <a:blip r:embed="rId2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31" name="TextBox 9"/>
            <p:cNvSpPr/>
            <p:nvPr/>
          </p:nvSpPr>
          <p:spPr>
            <a:xfrm>
              <a:off x="1257120" y="597600"/>
              <a:ext cx="15773040" cy="1937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defTabSz="914400">
                <a:lnSpc>
                  <a:spcPts val="7129"/>
                </a:lnSpc>
                <a:tabLst>
                  <a:tab pos="0" algn="l"/>
                </a:tabLst>
              </a:pPr>
              <a:r>
                <a:rPr lang="en-US" sz="6600" b="1" u="none" spc="-40" strike="noStrike">
                  <a:solidFill>
                    <a:srgbClr val="002060"/>
                  </a:solidFill>
                  <a:effectLst/>
                  <a:uFillTx/>
                  <a:latin typeface="TT Rounds Condensed Bold"/>
                  <a:ea typeface="TT Rounds Condensed Bold"/>
                </a:rPr>
                <a:t>Database / Dataset / System Components</a:t>
              </a:r>
              <a:endParaRPr lang="en-IN" sz="6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432" name="Group 10"/>
          <p:cNvGrpSpPr/>
          <p:nvPr/>
        </p:nvGrpSpPr>
        <p:grpSpPr>
          <a:xfrm>
            <a:off x="399960" y="9808560"/>
            <a:ext cx="3314160" cy="478440"/>
            <a:chOff x="399960" y="9808560"/>
            <a:chExt cx="3314160" cy="478440"/>
          </a:xfrm>
        </p:grpSpPr>
        <p:sp>
          <p:nvSpPr>
            <p:cNvPr id="433" name="Freeform 11"/>
            <p:cNvSpPr/>
            <p:nvPr/>
          </p:nvSpPr>
          <p:spPr>
            <a:xfrm>
              <a:off x="399960" y="9837360"/>
              <a:ext cx="3314160" cy="449640"/>
            </a:xfrm>
            <a:custGeom>
              <a:avLst/>
              <a:gdLst>
                <a:gd name="textAreaLeft" fmla="*/ 0 w 3314160"/>
                <a:gd name="textAreaRight" fmla="*/ 3314520 w 3314160"/>
                <a:gd name="textAreaTop" fmla="*/ 0 h 449640"/>
                <a:gd name="textAreaBottom" fmla="*/ 450000 h 449640"/>
              </a:gdLst>
              <a:ahLst/>
              <a:cxnLst/>
              <a:rect l="textAreaLeft" t="textAreaTop" r="textAreaRight" b="textAreaBottom"/>
              <a:pathLst>
                <a:path w="4419360" h="599763">
                  <a:moveTo>
                    <a:pt x="0" y="0"/>
                  </a:moveTo>
                  <a:lnTo>
                    <a:pt x="4419360" y="0"/>
                  </a:lnTo>
                  <a:lnTo>
                    <a:pt x="4419360" y="599763"/>
                  </a:lnTo>
                  <a:lnTo>
                    <a:pt x="0" y="599763"/>
                  </a:lnTo>
                  <a:close/>
                </a:path>
              </a:pathLst>
            </a:custGeom>
            <a:blipFill rotWithShape="0">
              <a:blip r:embed="rId3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34" name="TextBox 12"/>
            <p:cNvSpPr/>
            <p:nvPr/>
          </p:nvSpPr>
          <p:spPr>
            <a:xfrm>
              <a:off x="399960" y="9808560"/>
              <a:ext cx="3314160" cy="478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defTabSz="914400">
                <a:lnSpc>
                  <a:spcPts val="2160"/>
                </a:lnSpc>
                <a:tabLst>
                  <a:tab pos="0" algn="l"/>
                </a:tabLst>
              </a:pPr>
              <a:r>
                <a:rPr lang="en-US" sz="1800" b="0" u="none" strike="noStrike">
                  <a:solidFill>
                    <a:srgbClr val="FFFFFF"/>
                  </a:solidFill>
                  <a:effectLst/>
                  <a:uFillTx/>
                  <a:latin typeface="Calibri (MS)"/>
                  <a:ea typeface="Calibri (MS)"/>
                </a:rPr>
                <a:t>05/10/26</a:t>
              </a:r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435" name="Group 13"/>
          <p:cNvGrpSpPr/>
          <p:nvPr/>
        </p:nvGrpSpPr>
        <p:grpSpPr>
          <a:xfrm>
            <a:off x="4288680" y="9732240"/>
            <a:ext cx="9896400" cy="554400"/>
            <a:chOff x="4288680" y="9732240"/>
            <a:chExt cx="9896400" cy="554400"/>
          </a:xfrm>
        </p:grpSpPr>
        <p:sp>
          <p:nvSpPr>
            <p:cNvPr id="436" name="Freeform 14"/>
            <p:cNvSpPr/>
            <p:nvPr/>
          </p:nvSpPr>
          <p:spPr>
            <a:xfrm>
              <a:off x="4288680" y="9739440"/>
              <a:ext cx="9896400" cy="547200"/>
            </a:xfrm>
            <a:custGeom>
              <a:avLst/>
              <a:gdLst>
                <a:gd name="textAreaLeft" fmla="*/ 0 w 9896400"/>
                <a:gd name="textAreaRight" fmla="*/ 9896760 w 9896400"/>
                <a:gd name="textAreaTop" fmla="*/ 0 h 547200"/>
                <a:gd name="textAreaBottom" fmla="*/ 547560 h 547200"/>
              </a:gdLst>
              <a:ahLst/>
              <a:cxnLst/>
              <a:rect l="textAreaLeft" t="textAreaTop" r="textAreaRight" b="textAreaBottom"/>
              <a:pathLst>
                <a:path w="13195440" h="730075">
                  <a:moveTo>
                    <a:pt x="0" y="0"/>
                  </a:moveTo>
                  <a:lnTo>
                    <a:pt x="13195440" y="0"/>
                  </a:lnTo>
                  <a:lnTo>
                    <a:pt x="13195440" y="730075"/>
                  </a:lnTo>
                  <a:lnTo>
                    <a:pt x="0" y="730075"/>
                  </a:lnTo>
                  <a:close/>
                </a:path>
              </a:pathLst>
            </a:custGeom>
            <a:blipFill rotWithShape="0">
              <a:blip r:embed="rId4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37" name="TextBox 15"/>
            <p:cNvSpPr/>
            <p:nvPr/>
          </p:nvSpPr>
          <p:spPr>
            <a:xfrm>
              <a:off x="4288680" y="9732240"/>
              <a:ext cx="9896400" cy="554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algn="ctr" defTabSz="914400">
                <a:lnSpc>
                  <a:spcPts val="2520"/>
                </a:lnSpc>
                <a:tabLst>
                  <a:tab pos="0" algn="l"/>
                </a:tabLst>
              </a:pPr>
              <a:r>
                <a:rPr lang="en-US" sz="2100" b="0" u="none" strike="noStrike">
                  <a:solidFill>
                    <a:srgbClr val="FFFFFF"/>
                  </a:solidFill>
                  <a:effectLst/>
                  <a:uFillTx/>
                  <a:latin typeface="Georgia"/>
                  <a:ea typeface="Georgia"/>
                </a:rPr>
                <a:t>International Institute of Information Technology, Naya Raipur</a:t>
              </a:r>
              <a:endParaRPr lang="en-IN" sz="21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438" name="Group 16"/>
          <p:cNvGrpSpPr/>
          <p:nvPr/>
        </p:nvGrpSpPr>
        <p:grpSpPr>
          <a:xfrm>
            <a:off x="14444640" y="9711000"/>
            <a:ext cx="2969280" cy="575640"/>
            <a:chOff x="14444640" y="9711000"/>
            <a:chExt cx="2969280" cy="575640"/>
          </a:xfrm>
        </p:grpSpPr>
        <p:sp>
          <p:nvSpPr>
            <p:cNvPr id="439" name="Freeform 17"/>
            <p:cNvSpPr/>
            <p:nvPr/>
          </p:nvSpPr>
          <p:spPr>
            <a:xfrm>
              <a:off x="14444640" y="9739440"/>
              <a:ext cx="2969280" cy="547200"/>
            </a:xfrm>
            <a:custGeom>
              <a:avLst/>
              <a:gdLst>
                <a:gd name="textAreaLeft" fmla="*/ 0 w 2969280"/>
                <a:gd name="textAreaRight" fmla="*/ 2969640 w 2969280"/>
                <a:gd name="textAreaTop" fmla="*/ 0 h 547200"/>
                <a:gd name="textAreaBottom" fmla="*/ 547560 h 547200"/>
              </a:gdLst>
              <a:ahLst/>
              <a:cxnLst/>
              <a:rect l="textAreaLeft" t="textAreaTop" r="textAreaRight" b="textAreaBottom"/>
              <a:pathLst>
                <a:path w="3959280" h="730075">
                  <a:moveTo>
                    <a:pt x="0" y="0"/>
                  </a:moveTo>
                  <a:lnTo>
                    <a:pt x="3959280" y="0"/>
                  </a:lnTo>
                  <a:lnTo>
                    <a:pt x="3959280" y="730075"/>
                  </a:lnTo>
                  <a:lnTo>
                    <a:pt x="0" y="730075"/>
                  </a:lnTo>
                  <a:close/>
                </a:path>
              </a:pathLst>
            </a:custGeom>
            <a:blipFill rotWithShape="0">
              <a:blip r:embed="rId5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40" name="TextBox 18"/>
            <p:cNvSpPr/>
            <p:nvPr/>
          </p:nvSpPr>
          <p:spPr>
            <a:xfrm>
              <a:off x="14444640" y="9711000"/>
              <a:ext cx="2968920" cy="5756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algn="r" defTabSz="914400">
                <a:lnSpc>
                  <a:spcPts val="2160"/>
                </a:lnSpc>
                <a:tabLst>
                  <a:tab pos="0" algn="l"/>
                </a:tabLst>
              </a:pPr>
              <a:r>
                <a:rPr lang="en-US" sz="1800" b="0" u="none" strike="noStrike">
                  <a:solidFill>
                    <a:srgbClr val="FFFFFF"/>
                  </a:solidFill>
                  <a:effectLst/>
                  <a:uFillTx/>
                  <a:latin typeface="Calibri (MS)"/>
                  <a:ea typeface="Calibri (MS)"/>
                </a:rPr>
                <a:t>10</a:t>
              </a:r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aphicFrame>
        <p:nvGraphicFramePr>
          <p:cNvPr id="441" name="Table 19"/>
          <p:cNvGraphicFramePr/>
          <p:nvPr/>
        </p:nvGraphicFramePr>
        <p:xfrm>
          <a:off x="1348560" y="3528720"/>
          <a:ext cx="14073840" cy="6569640"/>
        </p:xfrm>
        <a:graphic>
          <a:graphicData uri="http://schemas.openxmlformats.org/drawingml/2006/table">
            <a:tbl>
              <a:tblPr/>
              <a:tblGrid>
                <a:gridCol w="3352680"/>
                <a:gridCol w="2666880"/>
                <a:gridCol w="3404160"/>
                <a:gridCol w="4649760"/>
              </a:tblGrid>
              <a:tr h="938520">
                <a:tc>
                  <a:txBody>
                    <a:bodyPr lIns="90000" tIns="90000" rIns="90000" bIns="90000" anchor="t">
                      <a:noAutofit/>
                    </a:bodyPr>
                    <a:p>
                      <a:pPr defTabSz="914400">
                        <a:lnSpc>
                          <a:spcPts val="2985"/>
                        </a:lnSpc>
                      </a:pPr>
                      <a:r>
                        <a:rPr lang="en-US" sz="249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 (MS) Bold"/>
                          <a:ea typeface="Calibri (MS) Bold"/>
                        </a:rPr>
                        <a:t>Dataset / Component</a:t>
                      </a:r>
                      <a:endParaRPr lang="en-IN" sz="249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90000" marB="90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rgbClr val="0F6FC6"/>
                    </a:solidFill>
                  </a:tcPr>
                </a:tc>
                <a:tc>
                  <a:txBody>
                    <a:bodyPr lIns="90000" tIns="90000" rIns="90000" bIns="90000" anchor="t">
                      <a:noAutofit/>
                    </a:bodyPr>
                    <a:p>
                      <a:pPr defTabSz="914400">
                        <a:lnSpc>
                          <a:spcPts val="2985"/>
                        </a:lnSpc>
                      </a:pPr>
                      <a:r>
                        <a:rPr lang="en-US" sz="249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 (MS) Bold"/>
                          <a:ea typeface="Calibri (MS) Bold"/>
                        </a:rPr>
                        <a:t>Instances</a:t>
                      </a:r>
                      <a:endParaRPr lang="en-IN" sz="249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90000" marB="90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rgbClr val="0F6FC6"/>
                    </a:solidFill>
                  </a:tcPr>
                </a:tc>
                <a:tc>
                  <a:txBody>
                    <a:bodyPr lIns="90000" tIns="90000" rIns="90000" bIns="90000" anchor="t">
                      <a:noAutofit/>
                    </a:bodyPr>
                    <a:p>
                      <a:pPr defTabSz="914400">
                        <a:lnSpc>
                          <a:spcPts val="2985"/>
                        </a:lnSpc>
                      </a:pPr>
                      <a:r>
                        <a:rPr lang="en-US" sz="249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 (MS) Bold"/>
                          <a:ea typeface="Calibri (MS) Bold"/>
                        </a:rPr>
                        <a:t>Categories</a:t>
                      </a:r>
                      <a:endParaRPr lang="en-IN" sz="249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90000" marB="90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rgbClr val="0F6FC6"/>
                    </a:solidFill>
                  </a:tcPr>
                </a:tc>
                <a:tc>
                  <a:txBody>
                    <a:bodyPr lIns="90000" tIns="90000" rIns="90000" bIns="90000" anchor="t">
                      <a:noAutofit/>
                    </a:bodyPr>
                    <a:p>
                      <a:pPr defTabSz="914400">
                        <a:lnSpc>
                          <a:spcPts val="2985"/>
                        </a:lnSpc>
                      </a:pPr>
                      <a:r>
                        <a:rPr lang="en-US" sz="249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 (MS) Bold"/>
                          <a:ea typeface="Calibri (MS) Bold"/>
                        </a:rPr>
                        <a:t>Remarks</a:t>
                      </a:r>
                      <a:endParaRPr lang="en-IN" sz="249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90000" marB="90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rgbClr val="0F6FC6"/>
                    </a:solidFill>
                  </a:tcPr>
                </a:tc>
              </a:tr>
              <a:tr h="784440">
                <a:tc>
                  <a:txBody>
                    <a:bodyPr lIns="90000" tIns="90000" rIns="90000" bIns="90000" anchor="t">
                      <a:noAutofit/>
                    </a:bodyPr>
                    <a:p>
                      <a:pPr defTabSz="914400">
                        <a:lnSpc>
                          <a:spcPts val="2985"/>
                        </a:lnSpc>
                      </a:pPr>
                      <a:r>
                        <a:rPr lang="en-US" sz="249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 (MS) Bold"/>
                          <a:ea typeface="Calibri (MS) Bold"/>
                        </a:rPr>
                        <a:t>JoSAA cutoff database</a:t>
                      </a:r>
                      <a:endParaRPr lang="en-IN" sz="249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90000" marB="90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0F6FC6"/>
                    </a:solidFill>
                  </a:tcPr>
                </a:tc>
                <a:tc>
                  <a:txBody>
                    <a:bodyPr lIns="90000" tIns="90000" rIns="90000" bIns="90000" anchor="t">
                      <a:noAutofit/>
                    </a:bodyPr>
                    <a:p>
                      <a:pPr defTabSz="914400">
                        <a:lnSpc>
                          <a:spcPts val="2985"/>
                        </a:lnSpc>
                      </a:pPr>
                      <a:r>
                        <a:rPr lang="en-US" sz="249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 (MS) Bold"/>
                          <a:ea typeface="Calibri (MS) Bold"/>
                        </a:rPr>
                        <a:t>611 rows</a:t>
                      </a:r>
                      <a:endParaRPr lang="en-IN" sz="249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90000" marB="90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0F6FC6"/>
                    </a:solidFill>
                  </a:tcPr>
                </a:tc>
                <a:tc>
                  <a:txBody>
                    <a:bodyPr lIns="90000" tIns="90000" rIns="90000" bIns="90000" anchor="t">
                      <a:noAutofit/>
                    </a:bodyPr>
                    <a:p>
                      <a:pPr defTabSz="914400">
                        <a:lnSpc>
                          <a:spcPts val="2985"/>
                        </a:lnSpc>
                      </a:pPr>
                      <a:r>
                        <a:rPr lang="en-US" sz="249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 (MS) Bold"/>
                          <a:ea typeface="Calibri (MS) Bold"/>
                        </a:rPr>
                        <a:t>Official admission cutoffs</a:t>
                      </a:r>
                      <a:endParaRPr lang="en-IN" sz="249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90000" marB="90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0F6FC6"/>
                    </a:solidFill>
                  </a:tcPr>
                </a:tc>
                <a:tc>
                  <a:txBody>
                    <a:bodyPr lIns="90000" tIns="90000" rIns="90000" bIns="90000" anchor="t">
                      <a:noAutofit/>
                    </a:bodyPr>
                    <a:p>
                      <a:pPr defTabSz="914400">
                        <a:lnSpc>
                          <a:spcPts val="2985"/>
                        </a:lnSpc>
                      </a:pPr>
                      <a:r>
                        <a:rPr lang="en-US" sz="249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 (MS) Bold"/>
                          <a:ea typeface="Calibri (MS) Bold"/>
                        </a:rPr>
                        <a:t>SQLite sidecar for Demo 2 retrieval</a:t>
                      </a:r>
                      <a:endParaRPr lang="en-IN" sz="249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90000" marB="90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0F6FC6"/>
                    </a:solidFill>
                  </a:tcPr>
                </a:tc>
              </a:tr>
              <a:tr h="777960">
                <a:tc>
                  <a:txBody>
                    <a:bodyPr lIns="90000" tIns="90000" rIns="90000" bIns="90000" anchor="t">
                      <a:noAutofit/>
                    </a:bodyPr>
                    <a:p>
                      <a:pPr defTabSz="914400">
                        <a:lnSpc>
                          <a:spcPts val="2985"/>
                        </a:lnSpc>
                      </a:pPr>
                      <a:r>
                        <a:rPr lang="en-US" sz="249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 (MS) Bold"/>
                          <a:ea typeface="Calibri (MS) Bold"/>
                        </a:rPr>
                        <a:t>Demo 1 shop.json</a:t>
                      </a:r>
                      <a:endParaRPr lang="en-IN" sz="249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90000" marB="90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0F6FC6"/>
                    </a:solidFill>
                  </a:tcPr>
                </a:tc>
                <a:tc>
                  <a:txBody>
                    <a:bodyPr lIns="90000" tIns="90000" rIns="90000" bIns="90000" anchor="t">
                      <a:noAutofit/>
                    </a:bodyPr>
                    <a:p>
                      <a:pPr defTabSz="914400">
                        <a:lnSpc>
                          <a:spcPts val="2985"/>
                        </a:lnSpc>
                      </a:pPr>
                      <a:r>
                        <a:rPr lang="en-US" sz="249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 (MS) Bold"/>
                          <a:ea typeface="Calibri (MS) Bold"/>
                        </a:rPr>
                        <a:t>Dynamic</a:t>
                      </a:r>
                      <a:endParaRPr lang="en-IN" sz="249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90000" marB="90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0F6FC6"/>
                    </a:solidFill>
                  </a:tcPr>
                </a:tc>
                <a:tc>
                  <a:txBody>
                    <a:bodyPr lIns="90000" tIns="90000" rIns="90000" bIns="90000" anchor="t">
                      <a:noAutofit/>
                    </a:bodyPr>
                    <a:p>
                      <a:pPr defTabSz="914400">
                        <a:lnSpc>
                          <a:spcPts val="2985"/>
                        </a:lnSpc>
                      </a:pPr>
                      <a:r>
                        <a:rPr lang="en-US" sz="249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 (MS) Bold"/>
                          <a:ea typeface="Calibri (MS) Bold"/>
                        </a:rPr>
                        <a:t>Agronomic/pesticide requests</a:t>
                      </a:r>
                      <a:endParaRPr lang="en-IN" sz="249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90000" marB="90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0F6FC6"/>
                    </a:solidFill>
                  </a:tcPr>
                </a:tc>
                <a:tc>
                  <a:txBody>
                    <a:bodyPr lIns="90000" tIns="90000" rIns="90000" bIns="90000" anchor="t">
                      <a:noAutofit/>
                    </a:bodyPr>
                    <a:p>
                      <a:pPr defTabSz="914400">
                        <a:lnSpc>
                          <a:spcPts val="2985"/>
                        </a:lnSpc>
                      </a:pPr>
                      <a:r>
                        <a:rPr lang="en-US" sz="249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 (MS) Bold"/>
                          <a:ea typeface="Calibri (MS) Bold"/>
                        </a:rPr>
                        <a:t>Atomic file storage with filelock</a:t>
                      </a:r>
                      <a:endParaRPr lang="en-IN" sz="249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90000" marB="90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0F6FC6"/>
                    </a:solidFill>
                  </a:tcPr>
                </a:tc>
              </a:tr>
              <a:tr h="777960">
                <a:tc>
                  <a:txBody>
                    <a:bodyPr lIns="90000" tIns="90000" rIns="90000" bIns="90000" anchor="t">
                      <a:noAutofit/>
                    </a:bodyPr>
                    <a:p>
                      <a:pPr defTabSz="914400">
                        <a:lnSpc>
                          <a:spcPts val="2985"/>
                        </a:lnSpc>
                      </a:pPr>
                      <a:r>
                        <a:rPr lang="en-US" sz="249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 (MS) Bold"/>
                          <a:ea typeface="Calibri (MS) Bold"/>
                        </a:rPr>
                        <a:t>Silero VAD model</a:t>
                      </a:r>
                      <a:endParaRPr lang="en-IN" sz="249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90000" marB="90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0F6FC6"/>
                    </a:solidFill>
                  </a:tcPr>
                </a:tc>
                <a:tc>
                  <a:txBody>
                    <a:bodyPr lIns="90000" tIns="90000" rIns="90000" bIns="90000" anchor="t">
                      <a:noAutofit/>
                    </a:bodyPr>
                    <a:p>
                      <a:pPr defTabSz="914400">
                        <a:lnSpc>
                          <a:spcPts val="2985"/>
                        </a:lnSpc>
                      </a:pPr>
                      <a:r>
                        <a:rPr lang="en-US" sz="249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 (MS) Bold"/>
                          <a:ea typeface="Calibri (MS) Bold"/>
                        </a:rPr>
                        <a:t>Pretrained ONNX</a:t>
                      </a:r>
                      <a:endParaRPr lang="en-IN" sz="249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90000" marB="90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0F6FC6"/>
                    </a:solidFill>
                  </a:tcPr>
                </a:tc>
                <a:tc>
                  <a:txBody>
                    <a:bodyPr lIns="90000" tIns="90000" rIns="90000" bIns="90000" anchor="t">
                      <a:noAutofit/>
                    </a:bodyPr>
                    <a:p>
                      <a:pPr defTabSz="914400">
                        <a:lnSpc>
                          <a:spcPts val="2985"/>
                        </a:lnSpc>
                      </a:pPr>
                      <a:r>
                        <a:rPr lang="en-US" sz="249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 (MS) Bold"/>
                          <a:ea typeface="Calibri (MS) Bold"/>
                        </a:rPr>
                        <a:t>Voice activity detection</a:t>
                      </a:r>
                      <a:endParaRPr lang="en-IN" sz="249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90000" marB="90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0F6FC6"/>
                    </a:solidFill>
                  </a:tcPr>
                </a:tc>
                <a:tc>
                  <a:txBody>
                    <a:bodyPr lIns="90000" tIns="90000" rIns="90000" bIns="90000" anchor="t">
                      <a:noAutofit/>
                    </a:bodyPr>
                    <a:p>
                      <a:pPr defTabSz="914400">
                        <a:lnSpc>
                          <a:spcPts val="2985"/>
                        </a:lnSpc>
                      </a:pPr>
                      <a:r>
                        <a:rPr lang="en-US" sz="249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 (MS) Bold"/>
                          <a:ea typeface="Calibri (MS) Bold"/>
                        </a:rPr>
                        <a:t>512-sample frame invariant</a:t>
                      </a:r>
                      <a:endParaRPr lang="en-IN" sz="249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90000" marB="90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0F6FC6"/>
                    </a:solidFill>
                  </a:tcPr>
                </a:tc>
              </a:tr>
              <a:tr h="777960">
                <a:tc>
                  <a:txBody>
                    <a:bodyPr lIns="90000" tIns="90000" rIns="90000" bIns="90000" anchor="t">
                      <a:noAutofit/>
                    </a:bodyPr>
                    <a:p>
                      <a:pPr defTabSz="914400">
                        <a:lnSpc>
                          <a:spcPts val="2985"/>
                        </a:lnSpc>
                      </a:pPr>
                      <a:r>
                        <a:rPr lang="en-US" sz="249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 (MS) Bold"/>
                          <a:ea typeface="Calibri (MS) Bold"/>
                        </a:rPr>
                        <a:t>Faster-Whisper int8 ASR</a:t>
                      </a:r>
                      <a:endParaRPr lang="en-IN" sz="249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90000" marB="90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0F6FC6"/>
                    </a:solidFill>
                  </a:tcPr>
                </a:tc>
                <a:tc>
                  <a:txBody>
                    <a:bodyPr lIns="90000" tIns="90000" rIns="90000" bIns="90000" anchor="t">
                      <a:noAutofit/>
                    </a:bodyPr>
                    <a:p>
                      <a:pPr defTabSz="914400">
                        <a:lnSpc>
                          <a:spcPts val="2985"/>
                        </a:lnSpc>
                      </a:pPr>
                      <a:r>
                        <a:rPr lang="en-US" sz="249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 (MS) Bold"/>
                          <a:ea typeface="Calibri (MS) Bold"/>
                        </a:rPr>
                        <a:t>Pretrained</a:t>
                      </a:r>
                      <a:endParaRPr lang="en-IN" sz="249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90000" marB="90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0F6FC6"/>
                    </a:solidFill>
                  </a:tcPr>
                </a:tc>
                <a:tc>
                  <a:txBody>
                    <a:bodyPr lIns="90000" tIns="90000" rIns="90000" bIns="90000" anchor="t">
                      <a:noAutofit/>
                    </a:bodyPr>
                    <a:p>
                      <a:pPr defTabSz="914400">
                        <a:lnSpc>
                          <a:spcPts val="2985"/>
                        </a:lnSpc>
                      </a:pPr>
                      <a:r>
                        <a:rPr lang="en-US" sz="249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 (MS) Bold"/>
                          <a:ea typeface="Calibri (MS) Bold"/>
                        </a:rPr>
                        <a:t>Multilingual ASR</a:t>
                      </a:r>
                      <a:endParaRPr lang="en-IN" sz="249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90000" marB="90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0F6FC6"/>
                    </a:solidFill>
                  </a:tcPr>
                </a:tc>
                <a:tc>
                  <a:txBody>
                    <a:bodyPr lIns="90000" tIns="90000" rIns="90000" bIns="90000" anchor="t">
                      <a:noAutofit/>
                    </a:bodyPr>
                    <a:p>
                      <a:pPr defTabSz="914400">
                        <a:lnSpc>
                          <a:spcPts val="2985"/>
                        </a:lnSpc>
                      </a:pPr>
                      <a:r>
                        <a:rPr lang="en-US" sz="249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 (MS) Bold"/>
                          <a:ea typeface="Calibri (MS) Bold"/>
                        </a:rPr>
                        <a:t>CPU optimized inference</a:t>
                      </a:r>
                      <a:endParaRPr lang="en-IN" sz="249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90000" marB="90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0F6FC6"/>
                    </a:solidFill>
                  </a:tcPr>
                </a:tc>
              </a:tr>
              <a:tr h="777960">
                <a:tc>
                  <a:txBody>
                    <a:bodyPr lIns="90000" tIns="90000" rIns="90000" bIns="90000" anchor="t">
                      <a:noAutofit/>
                    </a:bodyPr>
                    <a:p>
                      <a:pPr defTabSz="914400">
                        <a:lnSpc>
                          <a:spcPts val="2985"/>
                        </a:lnSpc>
                      </a:pPr>
                      <a:r>
                        <a:rPr lang="en-US" sz="249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 (MS) Bold"/>
                          <a:ea typeface="Calibri (MS) Bold"/>
                        </a:rPr>
                        <a:t>Meta MMS-1B hne ASR</a:t>
                      </a:r>
                      <a:endParaRPr lang="en-IN" sz="249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90000" marB="90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0F6FC6"/>
                    </a:solidFill>
                  </a:tcPr>
                </a:tc>
                <a:tc>
                  <a:txBody>
                    <a:bodyPr lIns="90000" tIns="90000" rIns="90000" bIns="90000" anchor="t">
                      <a:noAutofit/>
                    </a:bodyPr>
                    <a:p>
                      <a:pPr defTabSz="914400">
                        <a:lnSpc>
                          <a:spcPts val="2985"/>
                        </a:lnSpc>
                      </a:pPr>
                      <a:r>
                        <a:rPr lang="en-US" sz="249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 (MS) Bold"/>
                          <a:ea typeface="Calibri (MS) Bold"/>
                        </a:rPr>
                        <a:t>Pretrained</a:t>
                      </a:r>
                      <a:endParaRPr lang="en-IN" sz="249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90000" marB="90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0F6FC6"/>
                    </a:solidFill>
                  </a:tcPr>
                </a:tc>
                <a:tc>
                  <a:txBody>
                    <a:bodyPr lIns="90000" tIns="90000" rIns="90000" bIns="90000" anchor="t">
                      <a:noAutofit/>
                    </a:bodyPr>
                    <a:p>
                      <a:pPr defTabSz="914400">
                        <a:lnSpc>
                          <a:spcPts val="2985"/>
                        </a:lnSpc>
                      </a:pPr>
                      <a:r>
                        <a:rPr lang="en-US" sz="249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 (MS) Bold"/>
                          <a:ea typeface="Calibri (MS) Bold"/>
                        </a:rPr>
                        <a:t>Chhattisgarhi ASR</a:t>
                      </a:r>
                      <a:endParaRPr lang="en-IN" sz="249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90000" marB="90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0F6FC6"/>
                    </a:solidFill>
                  </a:tcPr>
                </a:tc>
                <a:tc>
                  <a:txBody>
                    <a:bodyPr lIns="90000" tIns="90000" rIns="90000" bIns="90000" anchor="t">
                      <a:noAutofit/>
                    </a:bodyPr>
                    <a:p>
                      <a:pPr defTabSz="914400">
                        <a:lnSpc>
                          <a:spcPts val="2985"/>
                        </a:lnSpc>
                      </a:pPr>
                      <a:r>
                        <a:rPr lang="en-US" sz="249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 (MS) Bold"/>
                          <a:ea typeface="Calibri (MS) Bold"/>
                        </a:rPr>
                        <a:t>CUDA fp16 with CTC matra repair</a:t>
                      </a:r>
                      <a:endParaRPr lang="en-IN" sz="249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90000" marB="90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0F6FC6"/>
                    </a:solidFill>
                  </a:tcPr>
                </a:tc>
              </a:tr>
              <a:tr h="777960">
                <a:tc>
                  <a:txBody>
                    <a:bodyPr lIns="90000" tIns="90000" rIns="90000" bIns="90000" anchor="t">
                      <a:noAutofit/>
                    </a:bodyPr>
                    <a:p>
                      <a:pPr defTabSz="914400">
                        <a:lnSpc>
                          <a:spcPts val="2985"/>
                        </a:lnSpc>
                      </a:pPr>
                      <a:r>
                        <a:rPr lang="en-US" sz="249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 (MS) Bold"/>
                          <a:ea typeface="Calibri (MS) Bold"/>
                        </a:rPr>
                        <a:t>Retrieval benchmark</a:t>
                      </a:r>
                      <a:endParaRPr lang="en-IN" sz="249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90000" marB="90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0F6FC6"/>
                    </a:solidFill>
                  </a:tcPr>
                </a:tc>
                <a:tc>
                  <a:txBody>
                    <a:bodyPr lIns="90000" tIns="90000" rIns="90000" bIns="90000" anchor="t">
                      <a:noAutofit/>
                    </a:bodyPr>
                    <a:p>
                      <a:pPr defTabSz="914400">
                        <a:lnSpc>
                          <a:spcPts val="2985"/>
                        </a:lnSpc>
                      </a:pPr>
                      <a:r>
                        <a:rPr lang="en-US" sz="249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 (MS) Bold"/>
                          <a:ea typeface="Calibri (MS) Bold"/>
                        </a:rPr>
                        <a:t>117 cases</a:t>
                      </a:r>
                      <a:endParaRPr lang="en-IN" sz="249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90000" marB="90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0F6FC6"/>
                    </a:solidFill>
                  </a:tcPr>
                </a:tc>
                <a:tc>
                  <a:txBody>
                    <a:bodyPr lIns="90000" tIns="90000" rIns="90000" bIns="90000" anchor="t">
                      <a:noAutofit/>
                    </a:bodyPr>
                    <a:p>
                      <a:pPr defTabSz="914400">
                        <a:lnSpc>
                          <a:spcPts val="2985"/>
                        </a:lnSpc>
                      </a:pPr>
                      <a:r>
                        <a:rPr lang="en-US" sz="249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 (MS) Bold"/>
                          <a:ea typeface="Calibri (MS) Bold"/>
                        </a:rPr>
                        <a:t>Hybrid retrieval system</a:t>
                      </a:r>
                      <a:endParaRPr lang="en-IN" sz="249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90000" marB="90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0F6FC6"/>
                    </a:solidFill>
                  </a:tcPr>
                </a:tc>
                <a:tc>
                  <a:txBody>
                    <a:bodyPr lIns="90000" tIns="90000" rIns="90000" bIns="90000" anchor="t">
                      <a:noAutofit/>
                    </a:bodyPr>
                    <a:p>
                      <a:pPr defTabSz="914400">
                        <a:lnSpc>
                          <a:spcPts val="2985"/>
                        </a:lnSpc>
                      </a:pPr>
                      <a:r>
                        <a:rPr lang="en-US" sz="249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 (MS) Bold"/>
                          <a:ea typeface="Calibri (MS) Bold"/>
                        </a:rPr>
                        <a:t>multilingual-e5-small + BM25</a:t>
                      </a:r>
                      <a:endParaRPr lang="en-IN" sz="249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90000" marB="90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0F6FC6"/>
                    </a:solidFill>
                  </a:tcPr>
                </a:tc>
              </a:tr>
            </a:tbl>
          </a:graphicData>
        </a:graphic>
      </p:graphicFrame>
    </p:spTree>
  </p:cSld>
  <p:transition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2" name="Group 2"/>
          <p:cNvGrpSpPr/>
          <p:nvPr/>
        </p:nvGrpSpPr>
        <p:grpSpPr>
          <a:xfrm>
            <a:off x="0" y="9698760"/>
            <a:ext cx="18288000" cy="606600"/>
            <a:chOff x="0" y="9698760"/>
            <a:chExt cx="18288000" cy="606600"/>
          </a:xfrm>
        </p:grpSpPr>
        <p:sp>
          <p:nvSpPr>
            <p:cNvPr id="443" name="Freeform 3"/>
            <p:cNvSpPr/>
            <p:nvPr/>
          </p:nvSpPr>
          <p:spPr>
            <a:xfrm>
              <a:off x="0" y="9698760"/>
              <a:ext cx="18288000" cy="606600"/>
            </a:xfrm>
            <a:custGeom>
              <a:avLst/>
              <a:gdLst>
                <a:gd name="textAreaLeft" fmla="*/ 0 w 18288000"/>
                <a:gd name="textAreaRight" fmla="*/ 18288360 w 18288000"/>
                <a:gd name="textAreaTop" fmla="*/ 0 h 606600"/>
                <a:gd name="textAreaBottom" fmla="*/ 606960 h 606600"/>
              </a:gdLst>
              <a:ahLst/>
              <a:cxnLst/>
              <a:rect l="textAreaLeft" t="textAreaTop" r="textAreaRight" b="textAreaBottom"/>
              <a:pathLst>
                <a:path w="24384254" h="809244">
                  <a:moveTo>
                    <a:pt x="0" y="0"/>
                  </a:moveTo>
                  <a:lnTo>
                    <a:pt x="24384254" y="0"/>
                  </a:lnTo>
                  <a:lnTo>
                    <a:pt x="24384254" y="809244"/>
                  </a:lnTo>
                  <a:lnTo>
                    <a:pt x="0" y="809244"/>
                  </a:lnTo>
                  <a:close/>
                </a:path>
              </a:pathLst>
            </a:custGeom>
            <a:solidFill>
              <a:srgbClr val="0C2577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444" name="Group 4"/>
          <p:cNvGrpSpPr/>
          <p:nvPr/>
        </p:nvGrpSpPr>
        <p:grpSpPr>
          <a:xfrm>
            <a:off x="15935400" y="345240"/>
            <a:ext cx="2190240" cy="2190240"/>
            <a:chOff x="15935400" y="345240"/>
            <a:chExt cx="2190240" cy="2190240"/>
          </a:xfrm>
        </p:grpSpPr>
        <p:sp>
          <p:nvSpPr>
            <p:cNvPr id="445" name="Freeform 5"/>
            <p:cNvSpPr/>
            <p:nvPr/>
          </p:nvSpPr>
          <p:spPr>
            <a:xfrm>
              <a:off x="15935400" y="345240"/>
              <a:ext cx="2190240" cy="2190240"/>
            </a:xfrm>
            <a:custGeom>
              <a:avLst/>
              <a:gdLst>
                <a:gd name="textAreaLeft" fmla="*/ 0 w 2190240"/>
                <a:gd name="textAreaRight" fmla="*/ 2190600 w 2190240"/>
                <a:gd name="textAreaTop" fmla="*/ 0 h 2190240"/>
                <a:gd name="textAreaBottom" fmla="*/ 2190600 h 2190240"/>
              </a:gdLst>
              <a:ahLst/>
              <a:cxnLst/>
              <a:rect l="textAreaLeft" t="textAreaTop" r="textAreaRight" b="textAreaBottom"/>
              <a:pathLst>
                <a:path w="2921000" h="2921000">
                  <a:moveTo>
                    <a:pt x="0" y="0"/>
                  </a:moveTo>
                  <a:lnTo>
                    <a:pt x="2921000" y="0"/>
                  </a:lnTo>
                  <a:lnTo>
                    <a:pt x="2921000" y="2921000"/>
                  </a:lnTo>
                  <a:lnTo>
                    <a:pt x="0" y="2921000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1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446" name="Group 6"/>
          <p:cNvGrpSpPr/>
          <p:nvPr/>
        </p:nvGrpSpPr>
        <p:grpSpPr>
          <a:xfrm>
            <a:off x="1257120" y="238320"/>
            <a:ext cx="15773040" cy="1416600"/>
            <a:chOff x="1257120" y="238320"/>
            <a:chExt cx="15773040" cy="1416600"/>
          </a:xfrm>
        </p:grpSpPr>
        <p:sp>
          <p:nvSpPr>
            <p:cNvPr id="447" name="Freeform 7"/>
            <p:cNvSpPr/>
            <p:nvPr/>
          </p:nvSpPr>
          <p:spPr>
            <a:xfrm>
              <a:off x="1257120" y="238320"/>
              <a:ext cx="15773040" cy="1416600"/>
            </a:xfrm>
            <a:custGeom>
              <a:avLst/>
              <a:gdLst>
                <a:gd name="textAreaLeft" fmla="*/ 0 w 15773040"/>
                <a:gd name="textAreaRight" fmla="*/ 15773400 w 15773040"/>
                <a:gd name="textAreaTop" fmla="*/ 0 h 1416600"/>
                <a:gd name="textAreaBottom" fmla="*/ 1416960 h 1416600"/>
              </a:gdLst>
              <a:ahLst/>
              <a:cxnLst/>
              <a:rect l="textAreaLeft" t="textAreaTop" r="textAreaRight" b="textAreaBottom"/>
              <a:pathLst>
                <a:path w="21031200" h="1889283">
                  <a:moveTo>
                    <a:pt x="0" y="0"/>
                  </a:moveTo>
                  <a:lnTo>
                    <a:pt x="21031200" y="0"/>
                  </a:lnTo>
                  <a:lnTo>
                    <a:pt x="21031200" y="1889283"/>
                  </a:lnTo>
                  <a:lnTo>
                    <a:pt x="0" y="1889283"/>
                  </a:lnTo>
                  <a:close/>
                </a:path>
              </a:pathLst>
            </a:custGeom>
            <a:blipFill rotWithShape="0">
              <a:blip r:embed="rId2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48" name="TextBox 8"/>
            <p:cNvSpPr/>
            <p:nvPr/>
          </p:nvSpPr>
          <p:spPr>
            <a:xfrm>
              <a:off x="1257120" y="288000"/>
              <a:ext cx="15773040" cy="1366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defTabSz="914400">
                <a:lnSpc>
                  <a:spcPts val="7129"/>
                </a:lnSpc>
                <a:tabLst>
                  <a:tab pos="0" algn="l"/>
                </a:tabLst>
              </a:pPr>
              <a:r>
                <a:rPr lang="en-US" sz="6600" b="1" u="none" spc="-40" strike="noStrike">
                  <a:solidFill>
                    <a:srgbClr val="002060"/>
                  </a:solidFill>
                  <a:effectLst/>
                  <a:uFillTx/>
                  <a:latin typeface="TT Rounds Condensed Bold"/>
                  <a:ea typeface="TT Rounds Condensed Bold"/>
                </a:rPr>
                <a:t>Experimental Results and Discussion</a:t>
              </a:r>
              <a:endParaRPr lang="en-IN" sz="6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449" name="Group 9"/>
          <p:cNvGrpSpPr/>
          <p:nvPr/>
        </p:nvGrpSpPr>
        <p:grpSpPr>
          <a:xfrm>
            <a:off x="399960" y="9808560"/>
            <a:ext cx="3314160" cy="478440"/>
            <a:chOff x="399960" y="9808560"/>
            <a:chExt cx="3314160" cy="478440"/>
          </a:xfrm>
        </p:grpSpPr>
        <p:sp>
          <p:nvSpPr>
            <p:cNvPr id="450" name="Freeform 10"/>
            <p:cNvSpPr/>
            <p:nvPr/>
          </p:nvSpPr>
          <p:spPr>
            <a:xfrm>
              <a:off x="399960" y="9837360"/>
              <a:ext cx="3314160" cy="449640"/>
            </a:xfrm>
            <a:custGeom>
              <a:avLst/>
              <a:gdLst>
                <a:gd name="textAreaLeft" fmla="*/ 0 w 3314160"/>
                <a:gd name="textAreaRight" fmla="*/ 3314520 w 3314160"/>
                <a:gd name="textAreaTop" fmla="*/ 0 h 449640"/>
                <a:gd name="textAreaBottom" fmla="*/ 450000 h 449640"/>
              </a:gdLst>
              <a:ahLst/>
              <a:cxnLst/>
              <a:rect l="textAreaLeft" t="textAreaTop" r="textAreaRight" b="textAreaBottom"/>
              <a:pathLst>
                <a:path w="4419360" h="599763">
                  <a:moveTo>
                    <a:pt x="0" y="0"/>
                  </a:moveTo>
                  <a:lnTo>
                    <a:pt x="4419360" y="0"/>
                  </a:lnTo>
                  <a:lnTo>
                    <a:pt x="4419360" y="599763"/>
                  </a:lnTo>
                  <a:lnTo>
                    <a:pt x="0" y="599763"/>
                  </a:lnTo>
                  <a:close/>
                </a:path>
              </a:pathLst>
            </a:custGeom>
            <a:blipFill rotWithShape="0">
              <a:blip r:embed="rId3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51" name="TextBox 11"/>
            <p:cNvSpPr/>
            <p:nvPr/>
          </p:nvSpPr>
          <p:spPr>
            <a:xfrm>
              <a:off x="399960" y="9808560"/>
              <a:ext cx="3314160" cy="478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defTabSz="914400">
                <a:lnSpc>
                  <a:spcPts val="2160"/>
                </a:lnSpc>
                <a:tabLst>
                  <a:tab pos="0" algn="l"/>
                </a:tabLst>
              </a:pPr>
              <a:r>
                <a:rPr lang="en-US" sz="1800" b="0" u="none" strike="noStrike">
                  <a:solidFill>
                    <a:srgbClr val="FFFFFF"/>
                  </a:solidFill>
                  <a:effectLst/>
                  <a:uFillTx/>
                  <a:latin typeface="Calibri (MS)"/>
                  <a:ea typeface="Calibri (MS)"/>
                </a:rPr>
                <a:t>05/10/26</a:t>
              </a:r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452" name="Group 12"/>
          <p:cNvGrpSpPr/>
          <p:nvPr/>
        </p:nvGrpSpPr>
        <p:grpSpPr>
          <a:xfrm>
            <a:off x="4288680" y="9732240"/>
            <a:ext cx="9896400" cy="554400"/>
            <a:chOff x="4288680" y="9732240"/>
            <a:chExt cx="9896400" cy="554400"/>
          </a:xfrm>
        </p:grpSpPr>
        <p:sp>
          <p:nvSpPr>
            <p:cNvPr id="453" name="Freeform 13"/>
            <p:cNvSpPr/>
            <p:nvPr/>
          </p:nvSpPr>
          <p:spPr>
            <a:xfrm>
              <a:off x="4288680" y="9739440"/>
              <a:ext cx="9896400" cy="547200"/>
            </a:xfrm>
            <a:custGeom>
              <a:avLst/>
              <a:gdLst>
                <a:gd name="textAreaLeft" fmla="*/ 0 w 9896400"/>
                <a:gd name="textAreaRight" fmla="*/ 9896760 w 9896400"/>
                <a:gd name="textAreaTop" fmla="*/ 0 h 547200"/>
                <a:gd name="textAreaBottom" fmla="*/ 547560 h 547200"/>
              </a:gdLst>
              <a:ahLst/>
              <a:cxnLst/>
              <a:rect l="textAreaLeft" t="textAreaTop" r="textAreaRight" b="textAreaBottom"/>
              <a:pathLst>
                <a:path w="13195440" h="730075">
                  <a:moveTo>
                    <a:pt x="0" y="0"/>
                  </a:moveTo>
                  <a:lnTo>
                    <a:pt x="13195440" y="0"/>
                  </a:lnTo>
                  <a:lnTo>
                    <a:pt x="13195440" y="730075"/>
                  </a:lnTo>
                  <a:lnTo>
                    <a:pt x="0" y="730075"/>
                  </a:lnTo>
                  <a:close/>
                </a:path>
              </a:pathLst>
            </a:custGeom>
            <a:blipFill rotWithShape="0">
              <a:blip r:embed="rId4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54" name="TextBox 14"/>
            <p:cNvSpPr/>
            <p:nvPr/>
          </p:nvSpPr>
          <p:spPr>
            <a:xfrm>
              <a:off x="4288680" y="9732240"/>
              <a:ext cx="9896400" cy="554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algn="ctr" defTabSz="914400">
                <a:lnSpc>
                  <a:spcPts val="2520"/>
                </a:lnSpc>
                <a:tabLst>
                  <a:tab pos="0" algn="l"/>
                </a:tabLst>
              </a:pPr>
              <a:r>
                <a:rPr lang="en-US" sz="2100" b="0" u="none" strike="noStrike">
                  <a:solidFill>
                    <a:srgbClr val="FFFFFF"/>
                  </a:solidFill>
                  <a:effectLst/>
                  <a:uFillTx/>
                  <a:latin typeface="Georgia"/>
                  <a:ea typeface="Georgia"/>
                </a:rPr>
                <a:t>International Institute of Information Technology, Naya Raipur</a:t>
              </a:r>
              <a:endParaRPr lang="en-IN" sz="21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455" name="Group 15"/>
          <p:cNvGrpSpPr/>
          <p:nvPr/>
        </p:nvGrpSpPr>
        <p:grpSpPr>
          <a:xfrm>
            <a:off x="14444640" y="9711000"/>
            <a:ext cx="2969280" cy="575640"/>
            <a:chOff x="14444640" y="9711000"/>
            <a:chExt cx="2969280" cy="575640"/>
          </a:xfrm>
        </p:grpSpPr>
        <p:sp>
          <p:nvSpPr>
            <p:cNvPr id="456" name="Freeform 16"/>
            <p:cNvSpPr/>
            <p:nvPr/>
          </p:nvSpPr>
          <p:spPr>
            <a:xfrm>
              <a:off x="14444640" y="9739440"/>
              <a:ext cx="2969280" cy="547200"/>
            </a:xfrm>
            <a:custGeom>
              <a:avLst/>
              <a:gdLst>
                <a:gd name="textAreaLeft" fmla="*/ 0 w 2969280"/>
                <a:gd name="textAreaRight" fmla="*/ 2969640 w 2969280"/>
                <a:gd name="textAreaTop" fmla="*/ 0 h 547200"/>
                <a:gd name="textAreaBottom" fmla="*/ 547560 h 547200"/>
              </a:gdLst>
              <a:ahLst/>
              <a:cxnLst/>
              <a:rect l="textAreaLeft" t="textAreaTop" r="textAreaRight" b="textAreaBottom"/>
              <a:pathLst>
                <a:path w="3959280" h="730075">
                  <a:moveTo>
                    <a:pt x="0" y="0"/>
                  </a:moveTo>
                  <a:lnTo>
                    <a:pt x="3959280" y="0"/>
                  </a:lnTo>
                  <a:lnTo>
                    <a:pt x="3959280" y="730075"/>
                  </a:lnTo>
                  <a:lnTo>
                    <a:pt x="0" y="730075"/>
                  </a:lnTo>
                  <a:close/>
                </a:path>
              </a:pathLst>
            </a:custGeom>
            <a:blipFill rotWithShape="0">
              <a:blip r:embed="rId5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57" name="TextBox 17"/>
            <p:cNvSpPr/>
            <p:nvPr/>
          </p:nvSpPr>
          <p:spPr>
            <a:xfrm>
              <a:off x="14444640" y="9711000"/>
              <a:ext cx="2968920" cy="5756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algn="r" defTabSz="914400">
                <a:lnSpc>
                  <a:spcPts val="2160"/>
                </a:lnSpc>
                <a:tabLst>
                  <a:tab pos="0" algn="l"/>
                </a:tabLst>
              </a:pPr>
              <a:r>
                <a:rPr lang="en-US" sz="1800" b="0" u="none" strike="noStrike">
                  <a:solidFill>
                    <a:srgbClr val="FFFFFF"/>
                  </a:solidFill>
                  <a:effectLst/>
                  <a:uFillTx/>
                  <a:latin typeface="Calibri (MS)"/>
                  <a:ea typeface="Calibri (MS)"/>
                </a:rPr>
                <a:t>11</a:t>
              </a:r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458" name="TextBox 18"/>
          <p:cNvSpPr/>
          <p:nvPr/>
        </p:nvSpPr>
        <p:spPr>
          <a:xfrm>
            <a:off x="1352520" y="2141280"/>
            <a:ext cx="15582600" cy="50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3920"/>
              </a:lnSpc>
            </a:pPr>
            <a:r>
              <a:rPr lang="en-US" sz="2800" b="1" u="none" strike="noStrike">
                <a:solidFill>
                  <a:srgbClr val="0C2577"/>
                </a:solidFill>
                <a:effectLst/>
                <a:uFillTx/>
                <a:latin typeface="Arimo Bold"/>
                <a:ea typeface="Arimo Bold"/>
              </a:rPr>
              <a:t>Retrieval &amp; matching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9" name="TextBox 19"/>
          <p:cNvSpPr/>
          <p:nvPr/>
        </p:nvSpPr>
        <p:spPr>
          <a:xfrm>
            <a:off x="1733400" y="2743920"/>
            <a:ext cx="115200" cy="45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3640"/>
              </a:lnSpc>
            </a:pPr>
            <a:r>
              <a:rPr lang="en-US" sz="2600" b="1" u="none" strike="noStrike">
                <a:solidFill>
                  <a:srgbClr val="0C2577"/>
                </a:solidFill>
                <a:effectLst/>
                <a:uFillTx/>
                <a:latin typeface="Arimo Bold"/>
                <a:ea typeface="Arimo Bold"/>
              </a:rPr>
              <a:t>•</a:t>
            </a:r>
            <a:endParaRPr lang="en-IN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0" name="TextBox 20"/>
          <p:cNvSpPr/>
          <p:nvPr/>
        </p:nvSpPr>
        <p:spPr>
          <a:xfrm>
            <a:off x="2171880" y="2753280"/>
            <a:ext cx="14763240" cy="44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3509"/>
              </a:lnSpc>
            </a:pPr>
            <a:r>
              <a:rPr lang="en-US" sz="2600" b="0" u="none" strike="noStrike">
                <a:solidFill>
                  <a:srgbClr val="002060"/>
                </a:solidFill>
                <a:effectLst/>
                <a:uFillTx/>
                <a:latin typeface="Arimo"/>
                <a:ea typeface="Arimo"/>
              </a:rPr>
              <a:t>Hybrid recall@6 98.92% vs 10.75% naive vector baseline (117-case benchmark)</a:t>
            </a:r>
            <a:endParaRPr lang="en-IN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1" name="TextBox 21"/>
          <p:cNvSpPr/>
          <p:nvPr/>
        </p:nvSpPr>
        <p:spPr>
          <a:xfrm>
            <a:off x="1733400" y="3360960"/>
            <a:ext cx="115200" cy="45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3640"/>
              </a:lnSpc>
            </a:pPr>
            <a:r>
              <a:rPr lang="en-US" sz="2600" b="1" u="none" strike="noStrike">
                <a:solidFill>
                  <a:srgbClr val="0C2577"/>
                </a:solidFill>
                <a:effectLst/>
                <a:uFillTx/>
                <a:latin typeface="Arimo Bold"/>
                <a:ea typeface="Arimo Bold"/>
              </a:rPr>
              <a:t>•</a:t>
            </a:r>
            <a:endParaRPr lang="en-IN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2" name="TextBox 22"/>
          <p:cNvSpPr/>
          <p:nvPr/>
        </p:nvSpPr>
        <p:spPr>
          <a:xfrm>
            <a:off x="2171880" y="3370680"/>
            <a:ext cx="14763240" cy="44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3509"/>
              </a:lnSpc>
            </a:pPr>
            <a:r>
              <a:rPr lang="en-US" sz="2600" b="0" u="none" strike="noStrike">
                <a:solidFill>
                  <a:srgbClr val="002060"/>
                </a:solidFill>
                <a:effectLst/>
                <a:uFillTx/>
                <a:latin typeface="Arimo"/>
                <a:ea typeface="Arimo"/>
              </a:rPr>
              <a:t>English / Hinglish recall 100% / 100%; exact JoSAA cutoff match 100% on 42 test cases</a:t>
            </a:r>
            <a:endParaRPr lang="en-IN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3" name="TextBox 23"/>
          <p:cNvSpPr/>
          <p:nvPr/>
        </p:nvSpPr>
        <p:spPr>
          <a:xfrm>
            <a:off x="1352520" y="3968640"/>
            <a:ext cx="15582600" cy="50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3920"/>
              </a:lnSpc>
            </a:pPr>
            <a:r>
              <a:rPr lang="en-US" sz="2800" b="1" u="none" strike="noStrike">
                <a:solidFill>
                  <a:srgbClr val="0C2577"/>
                </a:solidFill>
                <a:effectLst/>
                <a:uFillTx/>
                <a:latin typeface="Arimo Bold"/>
                <a:ea typeface="Arimo Bold"/>
              </a:rPr>
              <a:t>Hallucination &amp; testing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4" name="TextBox 24"/>
          <p:cNvSpPr/>
          <p:nvPr/>
        </p:nvSpPr>
        <p:spPr>
          <a:xfrm>
            <a:off x="1733400" y="4571280"/>
            <a:ext cx="115200" cy="45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3640"/>
              </a:lnSpc>
            </a:pPr>
            <a:r>
              <a:rPr lang="en-US" sz="2600" b="1" u="none" strike="noStrike">
                <a:solidFill>
                  <a:srgbClr val="0C2577"/>
                </a:solidFill>
                <a:effectLst/>
                <a:uFillTx/>
                <a:latin typeface="Arimo Bold"/>
                <a:ea typeface="Arimo Bold"/>
              </a:rPr>
              <a:t>•</a:t>
            </a:r>
            <a:endParaRPr lang="en-IN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5" name="TextBox 25"/>
          <p:cNvSpPr/>
          <p:nvPr/>
        </p:nvSpPr>
        <p:spPr>
          <a:xfrm>
            <a:off x="2171880" y="4581000"/>
            <a:ext cx="14763240" cy="44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3509"/>
              </a:lnSpc>
            </a:pPr>
            <a:r>
              <a:rPr lang="en-US" sz="2600" b="0" u="none" strike="noStrike">
                <a:solidFill>
                  <a:srgbClr val="002060"/>
                </a:solidFill>
                <a:effectLst/>
                <a:uFillTx/>
                <a:latin typeface="Arimo"/>
                <a:ea typeface="Arimo"/>
              </a:rPr>
              <a:t>Naive baseline ~18% hallucinations; zero in 120 live turns (reviewed system)</a:t>
            </a:r>
            <a:endParaRPr lang="en-IN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6" name="TextBox 26"/>
          <p:cNvSpPr/>
          <p:nvPr/>
        </p:nvSpPr>
        <p:spPr>
          <a:xfrm>
            <a:off x="1733400" y="5188680"/>
            <a:ext cx="115200" cy="45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3640"/>
              </a:lnSpc>
            </a:pPr>
            <a:r>
              <a:rPr lang="en-US" sz="2600" b="1" u="none" strike="noStrike">
                <a:solidFill>
                  <a:srgbClr val="0C2577"/>
                </a:solidFill>
                <a:effectLst/>
                <a:uFillTx/>
                <a:latin typeface="Arimo Bold"/>
                <a:ea typeface="Arimo Bold"/>
              </a:rPr>
              <a:t>•</a:t>
            </a:r>
            <a:endParaRPr lang="en-IN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7" name="TextBox 27"/>
          <p:cNvSpPr/>
          <p:nvPr/>
        </p:nvSpPr>
        <p:spPr>
          <a:xfrm>
            <a:off x="2171880" y="5198040"/>
            <a:ext cx="14763240" cy="44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3509"/>
              </a:lnSpc>
            </a:pPr>
            <a:r>
              <a:rPr lang="en-US" sz="2600" b="0" u="none" strike="noStrike">
                <a:solidFill>
                  <a:srgbClr val="002060"/>
                </a:solidFill>
                <a:effectLst/>
                <a:uFillTx/>
                <a:latin typeface="Arimo"/>
                <a:ea typeface="Arimo"/>
              </a:rPr>
              <a:t>316/316 tests passing (279 Institute Assistant, 37 Demo 2)</a:t>
            </a:r>
            <a:endParaRPr lang="en-IN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8" name="TextBox 28"/>
          <p:cNvSpPr/>
          <p:nvPr/>
        </p:nvSpPr>
        <p:spPr>
          <a:xfrm>
            <a:off x="1352520" y="5796360"/>
            <a:ext cx="15582600" cy="50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3920"/>
              </a:lnSpc>
            </a:pPr>
            <a:r>
              <a:rPr lang="en-US" sz="2800" b="1" u="none" strike="noStrike">
                <a:solidFill>
                  <a:srgbClr val="0C2577"/>
                </a:solidFill>
                <a:effectLst/>
                <a:uFillTx/>
                <a:latin typeface="Arimo Bold"/>
                <a:ea typeface="Arimo Bold"/>
              </a:rPr>
              <a:t>Latency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9" name="TextBox 29"/>
          <p:cNvSpPr/>
          <p:nvPr/>
        </p:nvSpPr>
        <p:spPr>
          <a:xfrm>
            <a:off x="1733400" y="6399000"/>
            <a:ext cx="115200" cy="45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3640"/>
              </a:lnSpc>
            </a:pPr>
            <a:r>
              <a:rPr lang="en-US" sz="2600" b="1" u="none" strike="noStrike">
                <a:solidFill>
                  <a:srgbClr val="0C2577"/>
                </a:solidFill>
                <a:effectLst/>
                <a:uFillTx/>
                <a:latin typeface="Arimo Bold"/>
                <a:ea typeface="Arimo Bold"/>
              </a:rPr>
              <a:t>•</a:t>
            </a:r>
            <a:endParaRPr lang="en-IN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0" name="TextBox 30"/>
          <p:cNvSpPr/>
          <p:nvPr/>
        </p:nvSpPr>
        <p:spPr>
          <a:xfrm>
            <a:off x="2171880" y="6408360"/>
            <a:ext cx="14763240" cy="44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3509"/>
              </a:lnSpc>
            </a:pPr>
            <a:r>
              <a:rPr lang="en-US" sz="2600" b="0" u="none" strike="noStrike">
                <a:solidFill>
                  <a:srgbClr val="002060"/>
                </a:solidFill>
                <a:effectLst/>
                <a:uFillTx/>
                <a:latin typeface="Arimo"/>
                <a:ea typeface="Arimo"/>
              </a:rPr>
              <a:t>Cold turn 18.68 s; warm-cache perceived text latency 2.64 s; text appears 4–15 s before audio</a:t>
            </a:r>
            <a:endParaRPr lang="en-IN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1" name="TextBox 31"/>
          <p:cNvSpPr/>
          <p:nvPr/>
        </p:nvSpPr>
        <p:spPr>
          <a:xfrm>
            <a:off x="1352520" y="7006680"/>
            <a:ext cx="15582600" cy="50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3920"/>
              </a:lnSpc>
            </a:pPr>
            <a:r>
              <a:rPr lang="en-US" sz="2800" b="1" u="none" strike="noStrike">
                <a:solidFill>
                  <a:srgbClr val="0C2577"/>
                </a:solidFill>
                <a:effectLst/>
                <a:uFillTx/>
                <a:latin typeface="Arimo Bold"/>
                <a:ea typeface="Arimo Bold"/>
              </a:rPr>
              <a:t>Hardware &amp; memory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2" name="TextBox 32"/>
          <p:cNvSpPr/>
          <p:nvPr/>
        </p:nvSpPr>
        <p:spPr>
          <a:xfrm>
            <a:off x="1733400" y="7609320"/>
            <a:ext cx="115200" cy="45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3640"/>
              </a:lnSpc>
            </a:pPr>
            <a:r>
              <a:rPr lang="en-US" sz="2600" b="1" u="none" strike="noStrike">
                <a:solidFill>
                  <a:srgbClr val="0C2577"/>
                </a:solidFill>
                <a:effectLst/>
                <a:uFillTx/>
                <a:latin typeface="Arimo Bold"/>
                <a:ea typeface="Arimo Bold"/>
              </a:rPr>
              <a:t>•</a:t>
            </a:r>
            <a:endParaRPr lang="en-IN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3" name="TextBox 33"/>
          <p:cNvSpPr/>
          <p:nvPr/>
        </p:nvSpPr>
        <p:spPr>
          <a:xfrm>
            <a:off x="2171880" y="7618680"/>
            <a:ext cx="14763240" cy="44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3509"/>
              </a:lnSpc>
            </a:pPr>
            <a:r>
              <a:rPr lang="en-US" sz="2600" b="0" u="none" strike="noStrike">
                <a:solidFill>
                  <a:srgbClr val="002060"/>
                </a:solidFill>
                <a:effectLst/>
                <a:uFillTx/>
                <a:latin typeface="Arimo"/>
                <a:ea typeface="Arimo"/>
              </a:rPr>
              <a:t>Naive stacking needs 9.1 GB (crashes 8 GB GPU); decoupled operation ~7.95 GB, 100% uptime</a:t>
            </a:r>
            <a:endParaRPr lang="en-IN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4" name="TextBox 34"/>
          <p:cNvSpPr/>
          <p:nvPr/>
        </p:nvSpPr>
        <p:spPr>
          <a:xfrm>
            <a:off x="1352520" y="8217000"/>
            <a:ext cx="15582600" cy="50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3920"/>
              </a:lnSpc>
            </a:pPr>
            <a:r>
              <a:rPr lang="en-US" sz="2800" b="1" u="none" strike="noStrike">
                <a:solidFill>
                  <a:srgbClr val="0C2577"/>
                </a:solidFill>
                <a:effectLst/>
                <a:uFillTx/>
                <a:latin typeface="Arimo Bold"/>
                <a:ea typeface="Arimo Bold"/>
              </a:rPr>
              <a:t>Cost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5" name="TextBox 35"/>
          <p:cNvSpPr/>
          <p:nvPr/>
        </p:nvSpPr>
        <p:spPr>
          <a:xfrm>
            <a:off x="1733400" y="8819640"/>
            <a:ext cx="115200" cy="45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3640"/>
              </a:lnSpc>
            </a:pPr>
            <a:r>
              <a:rPr lang="en-US" sz="2600" b="1" u="none" strike="noStrike">
                <a:solidFill>
                  <a:srgbClr val="0C2577"/>
                </a:solidFill>
                <a:effectLst/>
                <a:uFillTx/>
                <a:latin typeface="Arimo Bold"/>
                <a:ea typeface="Arimo Bold"/>
              </a:rPr>
              <a:t>•</a:t>
            </a:r>
            <a:endParaRPr lang="en-IN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6" name="TextBox 36"/>
          <p:cNvSpPr/>
          <p:nvPr/>
        </p:nvSpPr>
        <p:spPr>
          <a:xfrm>
            <a:off x="2171880" y="8829000"/>
            <a:ext cx="14763240" cy="44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3509"/>
              </a:lnSpc>
            </a:pPr>
            <a:r>
              <a:rPr lang="en-US" sz="2600" b="0" u="none" strike="noStrike">
                <a:solidFill>
                  <a:srgbClr val="002060"/>
                </a:solidFill>
                <a:effectLst/>
                <a:uFillTx/>
                <a:latin typeface="Arimo"/>
                <a:ea typeface="Arimo"/>
              </a:rPr>
              <a:t>$409.25/month for 10,000 turns on cloud APIs vs $0.60 local electricity (~682× cheaper)</a:t>
            </a:r>
            <a:endParaRPr lang="en-IN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transition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Freeform 2"/>
          <p:cNvSpPr/>
          <p:nvPr/>
        </p:nvSpPr>
        <p:spPr>
          <a:xfrm>
            <a:off x="0" y="0"/>
            <a:ext cx="18287640" cy="10286640"/>
          </a:xfrm>
          <a:custGeom>
            <a:avLst/>
            <a:gdLst>
              <a:gd name="textAreaLeft" fmla="*/ 0 w 18287640"/>
              <a:gd name="textAreaRight" fmla="*/ 18288000 w 18287640"/>
              <a:gd name="textAreaTop" fmla="*/ 0 h 10286640"/>
              <a:gd name="textAreaBottom" fmla="*/ 10287000 h 10286640"/>
            </a:gdLst>
            <a:ahLst/>
            <a:cxnLst/>
            <a:rect l="textAreaLeft" t="textAreaTop" r="textAreaRight" b="textAreaBottom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8" name="TextBox 3"/>
          <p:cNvSpPr/>
          <p:nvPr/>
        </p:nvSpPr>
        <p:spPr>
          <a:xfrm>
            <a:off x="799560" y="583560"/>
            <a:ext cx="11126520" cy="83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6287"/>
              </a:lnSpc>
            </a:pPr>
            <a:r>
              <a:rPr lang="en-US" sz="6280" b="1" u="none" strike="noStrike">
                <a:solidFill>
                  <a:srgbClr val="0F2766"/>
                </a:solidFill>
                <a:effectLst/>
                <a:uFillTx/>
                <a:latin typeface="TT Rounds Condensed Bold"/>
                <a:ea typeface="TT Rounds Condensed Bold"/>
              </a:rPr>
              <a:t>Conclusion and Future Directions</a:t>
            </a:r>
            <a:endParaRPr lang="en-IN" sz="6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9" name="Freeform 4"/>
          <p:cNvSpPr/>
          <p:nvPr/>
        </p:nvSpPr>
        <p:spPr>
          <a:xfrm>
            <a:off x="15892560" y="207720"/>
            <a:ext cx="2187360" cy="2372040"/>
          </a:xfrm>
          <a:custGeom>
            <a:avLst/>
            <a:gdLst>
              <a:gd name="textAreaLeft" fmla="*/ 0 w 2187360"/>
              <a:gd name="textAreaRight" fmla="*/ 2187720 w 2187360"/>
              <a:gd name="textAreaTop" fmla="*/ 0 h 2372040"/>
              <a:gd name="textAreaBottom" fmla="*/ 2372400 h 2372040"/>
            </a:gdLst>
            <a:ahLst/>
            <a:cxnLst/>
            <a:rect l="textAreaLeft" t="textAreaTop" r="textAreaRight" b="textAreaBottom"/>
            <a:pathLst>
              <a:path w="2187560" h="2372241">
                <a:moveTo>
                  <a:pt x="0" y="0"/>
                </a:moveTo>
                <a:lnTo>
                  <a:pt x="2187560" y="0"/>
                </a:lnTo>
                <a:lnTo>
                  <a:pt x="2187560" y="2372241"/>
                </a:lnTo>
                <a:lnTo>
                  <a:pt x="0" y="2372241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0" name="Freeform 5"/>
          <p:cNvSpPr/>
          <p:nvPr/>
        </p:nvSpPr>
        <p:spPr>
          <a:xfrm>
            <a:off x="645480" y="2568960"/>
            <a:ext cx="8071560" cy="6220080"/>
          </a:xfrm>
          <a:custGeom>
            <a:avLst/>
            <a:gdLst>
              <a:gd name="textAreaLeft" fmla="*/ 0 w 8071560"/>
              <a:gd name="textAreaRight" fmla="*/ 8071920 w 8071560"/>
              <a:gd name="textAreaTop" fmla="*/ 0 h 6220080"/>
              <a:gd name="textAreaBottom" fmla="*/ 6220440 h 6220080"/>
            </a:gdLst>
            <a:ahLst/>
            <a:cxnLst/>
            <a:rect l="textAreaLeft" t="textAreaTop" r="textAreaRight" b="textAreaBottom"/>
            <a:pathLst>
              <a:path w="8072096" h="6220301">
                <a:moveTo>
                  <a:pt x="0" y="0"/>
                </a:moveTo>
                <a:lnTo>
                  <a:pt x="8072096" y="0"/>
                </a:lnTo>
                <a:lnTo>
                  <a:pt x="8072096" y="6220301"/>
                </a:lnTo>
                <a:lnTo>
                  <a:pt x="0" y="6220301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1" name="Freeform 6"/>
          <p:cNvSpPr/>
          <p:nvPr/>
        </p:nvSpPr>
        <p:spPr>
          <a:xfrm>
            <a:off x="645480" y="1924200"/>
            <a:ext cx="1104480" cy="1081800"/>
          </a:xfrm>
          <a:custGeom>
            <a:avLst/>
            <a:gdLst>
              <a:gd name="textAreaLeft" fmla="*/ 0 w 1104480"/>
              <a:gd name="textAreaRight" fmla="*/ 1104840 w 1104480"/>
              <a:gd name="textAreaTop" fmla="*/ 0 h 1081800"/>
              <a:gd name="textAreaBottom" fmla="*/ 1082160 h 1081800"/>
            </a:gdLst>
            <a:ahLst/>
            <a:cxnLst/>
            <a:rect l="textAreaLeft" t="textAreaTop" r="textAreaRight" b="textAreaBottom"/>
            <a:pathLst>
              <a:path w="1104718" h="1082267">
                <a:moveTo>
                  <a:pt x="0" y="0"/>
                </a:moveTo>
                <a:lnTo>
                  <a:pt x="1104718" y="0"/>
                </a:lnTo>
                <a:lnTo>
                  <a:pt x="1104718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4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2" name="Freeform 7"/>
          <p:cNvSpPr/>
          <p:nvPr/>
        </p:nvSpPr>
        <p:spPr>
          <a:xfrm>
            <a:off x="1082880" y="2142720"/>
            <a:ext cx="448200" cy="644760"/>
          </a:xfrm>
          <a:custGeom>
            <a:avLst/>
            <a:gdLst>
              <a:gd name="textAreaLeft" fmla="*/ 0 w 448200"/>
              <a:gd name="textAreaRight" fmla="*/ 448560 w 448200"/>
              <a:gd name="textAreaTop" fmla="*/ 0 h 644760"/>
              <a:gd name="textAreaBottom" fmla="*/ 645120 h 644760"/>
            </a:gdLst>
            <a:ahLst/>
            <a:cxnLst/>
            <a:rect l="textAreaLeft" t="textAreaTop" r="textAreaRight" b="textAreaBottom"/>
            <a:pathLst>
              <a:path w="448450" h="644987">
                <a:moveTo>
                  <a:pt x="0" y="0"/>
                </a:moveTo>
                <a:lnTo>
                  <a:pt x="448450" y="0"/>
                </a:lnTo>
                <a:lnTo>
                  <a:pt x="448450" y="644987"/>
                </a:lnTo>
                <a:lnTo>
                  <a:pt x="0" y="644987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5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3" name="Freeform 8"/>
          <p:cNvSpPr/>
          <p:nvPr/>
        </p:nvSpPr>
        <p:spPr>
          <a:xfrm>
            <a:off x="1520280" y="2142720"/>
            <a:ext cx="2843640" cy="644760"/>
          </a:xfrm>
          <a:custGeom>
            <a:avLst/>
            <a:gdLst>
              <a:gd name="textAreaLeft" fmla="*/ 0 w 2843640"/>
              <a:gd name="textAreaRight" fmla="*/ 2844000 w 2843640"/>
              <a:gd name="textAreaTop" fmla="*/ 0 h 644760"/>
              <a:gd name="textAreaBottom" fmla="*/ 645120 h 644760"/>
            </a:gdLst>
            <a:ahLst/>
            <a:cxnLst/>
            <a:rect l="textAreaLeft" t="textAreaTop" r="textAreaRight" b="textAreaBottom"/>
            <a:pathLst>
              <a:path w="2843828" h="644987">
                <a:moveTo>
                  <a:pt x="0" y="0"/>
                </a:moveTo>
                <a:lnTo>
                  <a:pt x="2843828" y="0"/>
                </a:lnTo>
                <a:lnTo>
                  <a:pt x="2843828" y="644987"/>
                </a:lnTo>
                <a:lnTo>
                  <a:pt x="0" y="644987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6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4" name="TextBox 9"/>
          <p:cNvSpPr/>
          <p:nvPr/>
        </p:nvSpPr>
        <p:spPr>
          <a:xfrm>
            <a:off x="1932840" y="2253600"/>
            <a:ext cx="2261160" cy="41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3348"/>
              </a:lnSpc>
            </a:pPr>
            <a:r>
              <a:rPr lang="en-US" sz="2570" b="1" u="none" strike="noStrike">
                <a:solidFill>
                  <a:srgbClr val="FFFFFF">
                    <a:alpha val="80000"/>
                  </a:srgbClr>
                </a:solidFill>
                <a:effectLst/>
                <a:uFillTx/>
                <a:latin typeface="Arimo Bold"/>
                <a:ea typeface="Arimo Bold"/>
              </a:rPr>
              <a:t>CONCLUSION</a:t>
            </a:r>
            <a:endParaRPr lang="en-IN" sz="25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5" name="TextBox 10"/>
          <p:cNvSpPr/>
          <p:nvPr/>
        </p:nvSpPr>
        <p:spPr>
          <a:xfrm>
            <a:off x="1028880" y="3147120"/>
            <a:ext cx="6964920" cy="514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marL="442080" lvl="1" indent="-221040" defTabSz="914400">
              <a:lnSpc>
                <a:spcPts val="2662"/>
              </a:lnSpc>
              <a:buClr>
                <a:srgbClr val="0F2766"/>
              </a:buClr>
              <a:buFont typeface="Arial"/>
              <a:buChar char="•"/>
            </a:pPr>
            <a:r>
              <a:rPr lang="en-US" sz="2040" b="0" u="none" strike="noStrike">
                <a:solidFill>
                  <a:srgbClr val="0F2766"/>
                </a:solidFill>
                <a:effectLst/>
                <a:uFillTx/>
                <a:latin typeface="Arimo"/>
                <a:ea typeface="Arimo"/>
              </a:rPr>
              <a:t>A reusable edge-native Voice-to-Voice architecture has been implemented for Chhattisgarhi, Hindi, Hinglish, and English interaction.</a:t>
            </a:r>
            <a:endParaRPr lang="en-IN" sz="20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662"/>
              </a:lnSpc>
            </a:pPr>
            <a:endParaRPr lang="en-IN" sz="20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42080" lvl="1" indent="-221040" defTabSz="914400">
              <a:lnSpc>
                <a:spcPts val="2662"/>
              </a:lnSpc>
              <a:buClr>
                <a:srgbClr val="0F2766"/>
              </a:buClr>
              <a:buFont typeface="Arial"/>
              <a:buChar char="•"/>
            </a:pPr>
            <a:r>
              <a:rPr lang="en-US" sz="2040" b="0" u="none" strike="noStrike">
                <a:solidFill>
                  <a:srgbClr val="0F2766"/>
                </a:solidFill>
                <a:effectLst/>
                <a:uFillTx/>
                <a:latin typeface="Arimo"/>
                <a:ea typeface="Arimo"/>
              </a:rPr>
              <a:t>The system combines hybrid retrieval, exact SQL cutoff lookup, verbatim quotation validation, bounded job admission, and release-bound caching.</a:t>
            </a:r>
            <a:endParaRPr lang="en-IN" sz="20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662"/>
              </a:lnSpc>
            </a:pPr>
            <a:endParaRPr lang="en-IN" sz="20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42080" lvl="1" indent="-221040" defTabSz="914400">
              <a:lnSpc>
                <a:spcPts val="2662"/>
              </a:lnSpc>
              <a:buClr>
                <a:srgbClr val="0F2766"/>
              </a:buClr>
              <a:buFont typeface="Arial"/>
              <a:buChar char="•"/>
            </a:pPr>
            <a:r>
              <a:rPr lang="en-US" sz="2040" b="0" u="none" strike="noStrike">
                <a:solidFill>
                  <a:srgbClr val="0F2766"/>
                </a:solidFill>
                <a:effectLst/>
                <a:uFillTx/>
                <a:latin typeface="Arimo"/>
                <a:ea typeface="Arimo"/>
              </a:rPr>
              <a:t>Current measured baseline: answered text turns take 18.7 s at median and 29.9 s at p95; retrieval itself takes about 50 ms.</a:t>
            </a:r>
            <a:endParaRPr lang="en-IN" sz="20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42080" lvl="1" indent="-221040" defTabSz="914400">
              <a:lnSpc>
                <a:spcPts val="2662"/>
              </a:lnSpc>
              <a:buClr>
                <a:srgbClr val="0F2766"/>
              </a:buClr>
              <a:buFont typeface="Arial"/>
              <a:buChar char="•"/>
            </a:pPr>
            <a:r>
              <a:rPr lang="en-US" sz="2040" b="0" u="none" strike="noStrike">
                <a:solidFill>
                  <a:srgbClr val="0F2766"/>
                </a:solidFill>
                <a:effectLst/>
                <a:uFillTx/>
                <a:latin typeface="Arimo"/>
                <a:ea typeface="Arimo"/>
              </a:rPr>
              <a:t>The main bottleneck is sequential 9B-model processing: routing ≥3.8 s, generation ≥7.2 s, and review ≥7.4 s.</a:t>
            </a:r>
            <a:endParaRPr lang="en-IN" sz="20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42080" lvl="1" indent="-221040" defTabSz="914400">
              <a:lnSpc>
                <a:spcPts val="2662"/>
              </a:lnSpc>
              <a:buClr>
                <a:srgbClr val="0F2766"/>
              </a:buClr>
              <a:buFont typeface="Arial"/>
              <a:buChar char="•"/>
            </a:pPr>
            <a:r>
              <a:rPr lang="en-US" sz="2040" b="0" u="none" strike="noStrike">
                <a:solidFill>
                  <a:srgbClr val="0F2766"/>
                </a:solidFill>
                <a:effectLst/>
                <a:uFillTx/>
                <a:latin typeface="Arimo"/>
                <a:ea typeface="Arimo"/>
              </a:rPr>
              <a:t>Current evidence supports rejection of unverifiable quotations; a broader claim-level hallucination audit remains to be completed.</a:t>
            </a:r>
            <a:endParaRPr lang="en-IN" sz="20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6" name="Freeform 11"/>
          <p:cNvSpPr/>
          <p:nvPr/>
        </p:nvSpPr>
        <p:spPr>
          <a:xfrm>
            <a:off x="8706600" y="2568960"/>
            <a:ext cx="8935920" cy="6220080"/>
          </a:xfrm>
          <a:custGeom>
            <a:avLst/>
            <a:gdLst>
              <a:gd name="textAreaLeft" fmla="*/ 0 w 8935920"/>
              <a:gd name="textAreaRight" fmla="*/ 8936280 w 8935920"/>
              <a:gd name="textAreaTop" fmla="*/ 0 h 6220080"/>
              <a:gd name="textAreaBottom" fmla="*/ 6220440 h 6220080"/>
            </a:gdLst>
            <a:ahLst/>
            <a:cxnLst/>
            <a:rect l="textAreaLeft" t="textAreaTop" r="textAreaRight" b="textAreaBottom"/>
            <a:pathLst>
              <a:path w="8936182" h="6220301">
                <a:moveTo>
                  <a:pt x="0" y="0"/>
                </a:moveTo>
                <a:lnTo>
                  <a:pt x="8936182" y="0"/>
                </a:lnTo>
                <a:lnTo>
                  <a:pt x="8936182" y="6220301"/>
                </a:lnTo>
                <a:lnTo>
                  <a:pt x="0" y="6220301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7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7" name="Freeform 12"/>
          <p:cNvSpPr/>
          <p:nvPr/>
        </p:nvSpPr>
        <p:spPr>
          <a:xfrm>
            <a:off x="8706600" y="1924200"/>
            <a:ext cx="1093320" cy="1081800"/>
          </a:xfrm>
          <a:custGeom>
            <a:avLst/>
            <a:gdLst>
              <a:gd name="textAreaLeft" fmla="*/ 0 w 1093320"/>
              <a:gd name="textAreaRight" fmla="*/ 1093680 w 1093320"/>
              <a:gd name="textAreaTop" fmla="*/ 0 h 1081800"/>
              <a:gd name="textAreaBottom" fmla="*/ 1082160 h 1081800"/>
            </a:gdLst>
            <a:ahLst/>
            <a:cxnLst/>
            <a:rect l="textAreaLeft" t="textAreaTop" r="textAreaRight" b="textAreaBottom"/>
            <a:pathLst>
              <a:path w="1093780" h="1082267">
                <a:moveTo>
                  <a:pt x="0" y="0"/>
                </a:moveTo>
                <a:lnTo>
                  <a:pt x="1093780" y="0"/>
                </a:lnTo>
                <a:lnTo>
                  <a:pt x="1093780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8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8" name="Freeform 13"/>
          <p:cNvSpPr/>
          <p:nvPr/>
        </p:nvSpPr>
        <p:spPr>
          <a:xfrm>
            <a:off x="8925120" y="2142720"/>
            <a:ext cx="874800" cy="644760"/>
          </a:xfrm>
          <a:custGeom>
            <a:avLst/>
            <a:gdLst>
              <a:gd name="textAreaLeft" fmla="*/ 0 w 874800"/>
              <a:gd name="textAreaRight" fmla="*/ 875160 w 874800"/>
              <a:gd name="textAreaTop" fmla="*/ 0 h 644760"/>
              <a:gd name="textAreaBottom" fmla="*/ 645120 h 644760"/>
            </a:gdLst>
            <a:ahLst/>
            <a:cxnLst/>
            <a:rect l="textAreaLeft" t="textAreaTop" r="textAreaRight" b="textAreaBottom"/>
            <a:pathLst>
              <a:path w="875024" h="644987">
                <a:moveTo>
                  <a:pt x="0" y="0"/>
                </a:moveTo>
                <a:lnTo>
                  <a:pt x="875024" y="0"/>
                </a:lnTo>
                <a:lnTo>
                  <a:pt x="875024" y="644987"/>
                </a:lnTo>
                <a:lnTo>
                  <a:pt x="0" y="644987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9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9" name="Freeform 14"/>
          <p:cNvSpPr/>
          <p:nvPr/>
        </p:nvSpPr>
        <p:spPr>
          <a:xfrm>
            <a:off x="9570600" y="2142720"/>
            <a:ext cx="4363920" cy="644760"/>
          </a:xfrm>
          <a:custGeom>
            <a:avLst/>
            <a:gdLst>
              <a:gd name="textAreaLeft" fmla="*/ 0 w 4363920"/>
              <a:gd name="textAreaRight" fmla="*/ 4364280 w 4363920"/>
              <a:gd name="textAreaTop" fmla="*/ 0 h 644760"/>
              <a:gd name="textAreaBottom" fmla="*/ 645120 h 644760"/>
            </a:gdLst>
            <a:ahLst/>
            <a:cxnLst/>
            <a:rect l="textAreaLeft" t="textAreaTop" r="textAreaRight" b="textAreaBottom"/>
            <a:pathLst>
              <a:path w="4364182" h="644987">
                <a:moveTo>
                  <a:pt x="0" y="0"/>
                </a:moveTo>
                <a:lnTo>
                  <a:pt x="4364182" y="0"/>
                </a:lnTo>
                <a:lnTo>
                  <a:pt x="4364182" y="644987"/>
                </a:lnTo>
                <a:lnTo>
                  <a:pt x="0" y="644987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0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0" name="TextBox 15"/>
          <p:cNvSpPr/>
          <p:nvPr/>
        </p:nvSpPr>
        <p:spPr>
          <a:xfrm>
            <a:off x="10037520" y="2253600"/>
            <a:ext cx="3531960" cy="41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3348"/>
              </a:lnSpc>
            </a:pPr>
            <a:r>
              <a:rPr lang="en-US" sz="2570" b="1" u="none" strike="noStrike">
                <a:solidFill>
                  <a:srgbClr val="FFFFFF">
                    <a:alpha val="80000"/>
                  </a:srgbClr>
                </a:solidFill>
                <a:effectLst/>
                <a:uFillTx/>
                <a:latin typeface="Arimo Bold"/>
                <a:ea typeface="Arimo Bold"/>
              </a:rPr>
              <a:t>FUTURE DIRECTIONS</a:t>
            </a:r>
            <a:endParaRPr lang="en-IN" sz="25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1" name="TextBox 16"/>
          <p:cNvSpPr/>
          <p:nvPr/>
        </p:nvSpPr>
        <p:spPr>
          <a:xfrm>
            <a:off x="9627840" y="3016080"/>
            <a:ext cx="6980040" cy="516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2489"/>
              </a:lnSpc>
            </a:pPr>
            <a:r>
              <a:rPr lang="en-US" sz="1920" b="1" u="none" strike="noStrike">
                <a:solidFill>
                  <a:srgbClr val="0F2766"/>
                </a:solidFill>
                <a:effectLst/>
                <a:uFillTx/>
                <a:latin typeface="Arimo Bold"/>
                <a:ea typeface="Arimo Bold"/>
              </a:rPr>
              <a:t>Reduce inference cost: </a:t>
            </a:r>
            <a:r>
              <a:rPr lang="en-US" sz="1920" b="0" u="none" strike="noStrike">
                <a:solidFill>
                  <a:srgbClr val="0F2766"/>
                </a:solidFill>
                <a:effectLst/>
                <a:uFillTx/>
                <a:latin typeface="Arimo"/>
                <a:ea typeface="Arimo"/>
              </a:rPr>
              <a:t>free desktop VRAM, use a</a:t>
            </a:r>
            <a:endParaRPr lang="en-IN" sz="19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489"/>
              </a:lnSpc>
            </a:pPr>
            <a:r>
              <a:rPr lang="en-US" sz="1920" b="0" u="none" strike="noStrike">
                <a:solidFill>
                  <a:srgbClr val="0F2766"/>
                </a:solidFill>
                <a:effectLst/>
                <a:uFillTx/>
                <a:latin typeface="Arimo"/>
                <a:ea typeface="Arimo"/>
              </a:rPr>
              <a:t>text-only model, and improve GPU placement.</a:t>
            </a:r>
            <a:endParaRPr lang="en-IN" sz="19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489"/>
              </a:lnSpc>
            </a:pPr>
            <a:endParaRPr lang="en-IN" sz="19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489"/>
              </a:lnSpc>
            </a:pPr>
            <a:r>
              <a:rPr lang="en-US" sz="1920" b="1" u="none" strike="noStrike">
                <a:solidFill>
                  <a:srgbClr val="0F2766"/>
                </a:solidFill>
                <a:effectLst/>
                <a:uFillTx/>
                <a:latin typeface="Arimo Bold"/>
                <a:ea typeface="Arimo Bold"/>
              </a:rPr>
              <a:t>Reduce repeated large-model work: </a:t>
            </a:r>
            <a:r>
              <a:rPr lang="en-US" sz="1920" b="0" u="none" strike="noStrike">
                <a:solidFill>
                  <a:srgbClr val="0F2766"/>
                </a:solidFill>
                <a:effectLst/>
                <a:uFillTx/>
                <a:latin typeface="Arimo"/>
                <a:ea typeface="Arimo"/>
              </a:rPr>
              <a:t>use verified draft-</a:t>
            </a:r>
            <a:endParaRPr lang="en-IN" sz="19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489"/>
              </a:lnSpc>
            </a:pPr>
            <a:r>
              <a:rPr lang="en-US" sz="1920" b="0" u="none" strike="noStrike">
                <a:solidFill>
                  <a:srgbClr val="0F2766"/>
                </a:solidFill>
                <a:effectLst/>
                <a:uFillTx/>
                <a:latin typeface="Arimo"/>
                <a:ea typeface="Arimo"/>
              </a:rPr>
              <a:t>cache hits and a small claim checker with selective 9B review.</a:t>
            </a:r>
            <a:endParaRPr lang="en-IN" sz="19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489"/>
              </a:lnSpc>
            </a:pPr>
            <a:endParaRPr lang="en-IN" sz="19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489"/>
              </a:lnSpc>
            </a:pPr>
            <a:r>
              <a:rPr lang="en-US" sz="1920" b="1" u="none" strike="noStrike">
                <a:solidFill>
                  <a:srgbClr val="0F2766"/>
                </a:solidFill>
                <a:effectLst/>
                <a:uFillTx/>
                <a:latin typeface="Arimo Bold"/>
                <a:ea typeface="Arimo Bold"/>
              </a:rPr>
              <a:t>Stream the interaction: </a:t>
            </a:r>
            <a:r>
              <a:rPr lang="en-US" sz="1920" b="0" u="none" strike="noStrike">
                <a:solidFill>
                  <a:srgbClr val="0F2766"/>
                </a:solidFill>
                <a:effectLst/>
                <a:uFillTx/>
                <a:latin typeface="Arimo"/>
                <a:ea typeface="Arimo"/>
              </a:rPr>
              <a:t>integrate the existing streaming</a:t>
            </a:r>
            <a:endParaRPr lang="en-IN" sz="19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489"/>
              </a:lnSpc>
            </a:pPr>
            <a:r>
              <a:rPr lang="en-US" sz="1920" b="0" u="none" strike="noStrike">
                <a:solidFill>
                  <a:srgbClr val="0F2766"/>
                </a:solidFill>
                <a:effectLst/>
                <a:uFillTx/>
                <a:latin typeface="Arimo"/>
                <a:ea typeface="Arimo"/>
              </a:rPr>
              <a:t>STT service, add semantic end-of-turn detection, and</a:t>
            </a:r>
            <a:endParaRPr lang="en-IN" sz="19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489"/>
              </a:lnSpc>
            </a:pPr>
            <a:r>
              <a:rPr lang="en-US" sz="1920" b="0" u="none" strike="noStrike">
                <a:solidFill>
                  <a:srgbClr val="0F2766"/>
                </a:solidFill>
                <a:effectLst/>
                <a:uFillTx/>
                <a:latin typeface="Arimo"/>
                <a:ea typeface="Arimo"/>
              </a:rPr>
              <a:t>synthesize speech sentence by sentence.</a:t>
            </a:r>
            <a:endParaRPr lang="en-IN" sz="19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489"/>
              </a:lnSpc>
            </a:pPr>
            <a:endParaRPr lang="en-IN" sz="19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489"/>
              </a:lnSpc>
            </a:pPr>
            <a:r>
              <a:rPr lang="en-US" sz="1920" b="1" u="none" strike="noStrike">
                <a:solidFill>
                  <a:srgbClr val="0F2766"/>
                </a:solidFill>
                <a:effectLst/>
                <a:uFillTx/>
                <a:latin typeface="Arimo Bold"/>
                <a:ea typeface="Arimo Bold"/>
              </a:rPr>
              <a:t>Improve retrieval and knowledge quality: </a:t>
            </a:r>
            <a:r>
              <a:rPr lang="en-US" sz="1920" b="0" u="none" strike="noStrike">
                <a:solidFill>
                  <a:srgbClr val="0F2766"/>
                </a:solidFill>
                <a:effectLst/>
                <a:uFillTx/>
                <a:latin typeface="Arimo"/>
                <a:ea typeface="Arimo"/>
              </a:rPr>
              <a:t>add multilingual</a:t>
            </a:r>
            <a:endParaRPr lang="en-IN" sz="19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489"/>
              </a:lnSpc>
            </a:pPr>
            <a:r>
              <a:rPr lang="en-US" sz="1920" b="0" u="none" strike="noStrike">
                <a:solidFill>
                  <a:srgbClr val="0F2766"/>
                </a:solidFill>
                <a:effectLst/>
                <a:uFillTx/>
                <a:latin typeface="Arimo"/>
                <a:ea typeface="Arimo"/>
              </a:rPr>
              <a:t>reranking, Indic BM25 tokenization, and parser-first</a:t>
            </a:r>
            <a:endParaRPr lang="en-IN" sz="19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489"/>
              </a:lnSpc>
            </a:pPr>
            <a:r>
              <a:rPr lang="en-US" sz="1920" b="0" u="none" strike="noStrike">
                <a:solidFill>
                  <a:srgbClr val="0F2766"/>
                </a:solidFill>
                <a:effectLst/>
                <a:uFillTx/>
                <a:latin typeface="Arimo"/>
                <a:ea typeface="Arimo"/>
              </a:rPr>
              <a:t>knowledge-base verification with keyed tables.</a:t>
            </a:r>
            <a:endParaRPr lang="en-IN" sz="19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489"/>
              </a:lnSpc>
            </a:pPr>
            <a:endParaRPr lang="en-IN" sz="19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489"/>
              </a:lnSpc>
            </a:pPr>
            <a:r>
              <a:rPr lang="en-US" sz="1920" b="1" u="none" strike="noStrike">
                <a:solidFill>
                  <a:srgbClr val="0F2766"/>
                </a:solidFill>
                <a:effectLst/>
                <a:uFillTx/>
                <a:latin typeface="Arimo Bold"/>
                <a:ea typeface="Arimo Bold"/>
              </a:rPr>
              <a:t>Strengthen evaluation: </a:t>
            </a:r>
            <a:r>
              <a:rPr lang="en-US" sz="1920" b="0" u="none" strike="noStrike">
                <a:solidFill>
                  <a:srgbClr val="0F2766"/>
                </a:solidFill>
                <a:effectLst/>
                <a:uFillTx/>
                <a:latin typeface="Arimo"/>
                <a:ea typeface="Arimo"/>
              </a:rPr>
              <a:t>collect recorded speech benchmarks,</a:t>
            </a:r>
            <a:endParaRPr lang="en-IN" sz="19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489"/>
              </a:lnSpc>
            </a:pPr>
            <a:r>
              <a:rPr lang="en-US" sz="1920" b="0" u="none" strike="noStrike">
                <a:solidFill>
                  <a:srgbClr val="0F2766"/>
                </a:solidFill>
                <a:effectLst/>
                <a:uFillTx/>
                <a:latin typeface="Arimo"/>
                <a:ea typeface="Arimo"/>
              </a:rPr>
              <a:t>perform claim-level audits, report paired statistics, and</a:t>
            </a:r>
            <a:endParaRPr lang="en-IN" sz="19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489"/>
              </a:lnSpc>
            </a:pPr>
            <a:r>
              <a:rPr lang="en-US" sz="1920" b="0" u="none" strike="noStrike">
                <a:solidFill>
                  <a:srgbClr val="0F2766"/>
                </a:solidFill>
                <a:effectLst/>
                <a:uFillTx/>
                <a:latin typeface="Arimo"/>
                <a:ea typeface="Arimo"/>
              </a:rPr>
              <a:t>log energy use.</a:t>
            </a:r>
            <a:endParaRPr lang="en-IN" sz="19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2" name="Freeform 17"/>
          <p:cNvSpPr/>
          <p:nvPr/>
        </p:nvSpPr>
        <p:spPr>
          <a:xfrm>
            <a:off x="1958040" y="8778240"/>
            <a:ext cx="14371920" cy="874080"/>
          </a:xfrm>
          <a:custGeom>
            <a:avLst/>
            <a:gdLst>
              <a:gd name="textAreaLeft" fmla="*/ 0 w 14371920"/>
              <a:gd name="textAreaRight" fmla="*/ 14372280 w 14371920"/>
              <a:gd name="textAreaTop" fmla="*/ 0 h 874080"/>
              <a:gd name="textAreaBottom" fmla="*/ 874440 h 874080"/>
            </a:gdLst>
            <a:ahLst/>
            <a:cxnLst/>
            <a:rect l="textAreaLeft" t="textAreaTop" r="textAreaRight" b="textAreaBottom"/>
            <a:pathLst>
              <a:path w="14372268" h="874559">
                <a:moveTo>
                  <a:pt x="0" y="0"/>
                </a:moveTo>
                <a:lnTo>
                  <a:pt x="14372268" y="0"/>
                </a:lnTo>
                <a:lnTo>
                  <a:pt x="14372268" y="874559"/>
                </a:lnTo>
                <a:lnTo>
                  <a:pt x="0" y="874559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3" name="Freeform 18"/>
          <p:cNvSpPr/>
          <p:nvPr/>
        </p:nvSpPr>
        <p:spPr>
          <a:xfrm>
            <a:off x="2384280" y="8778240"/>
            <a:ext cx="885600" cy="874080"/>
          </a:xfrm>
          <a:custGeom>
            <a:avLst/>
            <a:gdLst>
              <a:gd name="textAreaLeft" fmla="*/ 0 w 885600"/>
              <a:gd name="textAreaRight" fmla="*/ 885960 w 885600"/>
              <a:gd name="textAreaTop" fmla="*/ 0 h 874080"/>
              <a:gd name="textAreaBottom" fmla="*/ 874440 h 874080"/>
            </a:gdLst>
            <a:ahLst/>
            <a:cxnLst/>
            <a:rect l="textAreaLeft" t="textAreaTop" r="textAreaRight" b="textAreaBottom"/>
            <a:pathLst>
              <a:path w="885962" h="874559">
                <a:moveTo>
                  <a:pt x="0" y="0"/>
                </a:moveTo>
                <a:lnTo>
                  <a:pt x="885962" y="0"/>
                </a:lnTo>
                <a:lnTo>
                  <a:pt x="885962" y="874559"/>
                </a:lnTo>
                <a:lnTo>
                  <a:pt x="0" y="874559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4" name="TextBox 19"/>
          <p:cNvSpPr/>
          <p:nvPr/>
        </p:nvSpPr>
        <p:spPr>
          <a:xfrm>
            <a:off x="3402360" y="9055440"/>
            <a:ext cx="12724560" cy="36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2931"/>
              </a:lnSpc>
            </a:pPr>
            <a:r>
              <a:rPr lang="en-US" sz="2260" b="1" u="none" strike="noStrike">
                <a:solidFill>
                  <a:srgbClr val="0F2766"/>
                </a:solidFill>
                <a:effectLst/>
                <a:uFillTx/>
                <a:latin typeface="Arimo Bold"/>
                <a:ea typeface="Arimo Bold"/>
              </a:rPr>
              <a:t>Goal: faster, cheaper, reliable local voice interaction without weakening evidence grounding.</a:t>
            </a:r>
            <a:endParaRPr lang="en-IN" sz="2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5" name="Freeform 20"/>
          <p:cNvSpPr/>
          <p:nvPr/>
        </p:nvSpPr>
        <p:spPr>
          <a:xfrm>
            <a:off x="0" y="9641880"/>
            <a:ext cx="18287640" cy="644760"/>
          </a:xfrm>
          <a:custGeom>
            <a:avLst/>
            <a:gdLst>
              <a:gd name="textAreaLeft" fmla="*/ 0 w 18287640"/>
              <a:gd name="textAreaRight" fmla="*/ 18288000 w 18287640"/>
              <a:gd name="textAreaTop" fmla="*/ 0 h 644760"/>
              <a:gd name="textAreaBottom" fmla="*/ 645120 h 644760"/>
            </a:gdLst>
            <a:ahLst/>
            <a:cxnLst/>
            <a:rect l="textAreaLeft" t="textAreaTop" r="textAreaRight" b="textAreaBottom"/>
            <a:pathLst>
              <a:path w="18288000" h="644987">
                <a:moveTo>
                  <a:pt x="0" y="0"/>
                </a:moveTo>
                <a:lnTo>
                  <a:pt x="18288000" y="0"/>
                </a:lnTo>
                <a:lnTo>
                  <a:pt x="18288000" y="644987"/>
                </a:lnTo>
                <a:lnTo>
                  <a:pt x="0" y="644987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3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6" name="TextBox 21"/>
          <p:cNvSpPr/>
          <p:nvPr/>
        </p:nvSpPr>
        <p:spPr>
          <a:xfrm>
            <a:off x="5591880" y="9833400"/>
            <a:ext cx="7081560" cy="29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14400">
              <a:lnSpc>
                <a:spcPts val="2489"/>
              </a:lnSpc>
            </a:pPr>
            <a:r>
              <a:rPr lang="en-US" sz="1920" b="0" u="none" strike="noStrike">
                <a:solidFill>
                  <a:srgbClr val="FFFFFF">
                    <a:alpha val="80000"/>
                  </a:srgbClr>
                </a:solidFill>
                <a:effectLst/>
                <a:uFillTx/>
                <a:latin typeface="Georgia Pro"/>
                <a:ea typeface="Georgia Pro"/>
              </a:rPr>
              <a:t>International Institute of Information Technology, Naya Raipur</a:t>
            </a:r>
            <a:endParaRPr lang="en-IN" sz="19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7" name="TextBox 22"/>
          <p:cNvSpPr/>
          <p:nvPr/>
        </p:nvSpPr>
        <p:spPr>
          <a:xfrm>
            <a:off x="393120" y="9889560"/>
            <a:ext cx="872280" cy="28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2205"/>
              </a:lnSpc>
            </a:pPr>
            <a:r>
              <a:rPr lang="en-US" sz="1700" b="0" u="none" strike="noStrike">
                <a:solidFill>
                  <a:srgbClr val="FFFFFF">
                    <a:alpha val="80000"/>
                  </a:srgbClr>
                </a:solidFill>
                <a:effectLst/>
                <a:uFillTx/>
                <a:latin typeface="Arimo"/>
                <a:ea typeface="Arimo"/>
              </a:rPr>
              <a:t>05/10/26</a:t>
            </a:r>
            <a:endParaRPr lang="en-IN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8" name="TextBox 23"/>
          <p:cNvSpPr/>
          <p:nvPr/>
        </p:nvSpPr>
        <p:spPr>
          <a:xfrm>
            <a:off x="17127360" y="9829440"/>
            <a:ext cx="249120" cy="28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 defTabSz="914400">
              <a:lnSpc>
                <a:spcPts val="2205"/>
              </a:lnSpc>
            </a:pPr>
            <a:r>
              <a:rPr lang="en-US" sz="1700" b="0" u="none" strike="noStrike">
                <a:solidFill>
                  <a:srgbClr val="FFFFFF">
                    <a:alpha val="80000"/>
                  </a:srgbClr>
                </a:solidFill>
                <a:effectLst/>
                <a:uFillTx/>
                <a:latin typeface="Arimo"/>
                <a:ea typeface="Arimo"/>
              </a:rPr>
              <a:t>12</a:t>
            </a:r>
            <a:endParaRPr lang="en-IN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transition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9" name="Group 2"/>
          <p:cNvGrpSpPr/>
          <p:nvPr/>
        </p:nvGrpSpPr>
        <p:grpSpPr>
          <a:xfrm>
            <a:off x="0" y="9698760"/>
            <a:ext cx="18288000" cy="606600"/>
            <a:chOff x="0" y="9698760"/>
            <a:chExt cx="18288000" cy="606600"/>
          </a:xfrm>
        </p:grpSpPr>
        <p:sp>
          <p:nvSpPr>
            <p:cNvPr id="500" name="Freeform 3"/>
            <p:cNvSpPr/>
            <p:nvPr/>
          </p:nvSpPr>
          <p:spPr>
            <a:xfrm>
              <a:off x="0" y="9698760"/>
              <a:ext cx="18288000" cy="606600"/>
            </a:xfrm>
            <a:custGeom>
              <a:avLst/>
              <a:gdLst>
                <a:gd name="textAreaLeft" fmla="*/ 0 w 18288000"/>
                <a:gd name="textAreaRight" fmla="*/ 18288360 w 18288000"/>
                <a:gd name="textAreaTop" fmla="*/ 0 h 606600"/>
                <a:gd name="textAreaBottom" fmla="*/ 606960 h 606600"/>
              </a:gdLst>
              <a:ahLst/>
              <a:cxnLst/>
              <a:rect l="textAreaLeft" t="textAreaTop" r="textAreaRight" b="textAreaBottom"/>
              <a:pathLst>
                <a:path w="24384254" h="809244">
                  <a:moveTo>
                    <a:pt x="0" y="0"/>
                  </a:moveTo>
                  <a:lnTo>
                    <a:pt x="24384254" y="0"/>
                  </a:lnTo>
                  <a:lnTo>
                    <a:pt x="24384254" y="809244"/>
                  </a:lnTo>
                  <a:lnTo>
                    <a:pt x="0" y="809244"/>
                  </a:lnTo>
                  <a:close/>
                </a:path>
              </a:pathLst>
            </a:custGeom>
            <a:solidFill>
              <a:srgbClr val="0C2577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501" name="Group 4"/>
          <p:cNvGrpSpPr/>
          <p:nvPr/>
        </p:nvGrpSpPr>
        <p:grpSpPr>
          <a:xfrm>
            <a:off x="15935400" y="345240"/>
            <a:ext cx="2190240" cy="2190240"/>
            <a:chOff x="15935400" y="345240"/>
            <a:chExt cx="2190240" cy="2190240"/>
          </a:xfrm>
        </p:grpSpPr>
        <p:sp>
          <p:nvSpPr>
            <p:cNvPr id="502" name="Freeform 5"/>
            <p:cNvSpPr/>
            <p:nvPr/>
          </p:nvSpPr>
          <p:spPr>
            <a:xfrm>
              <a:off x="15935400" y="345240"/>
              <a:ext cx="2190240" cy="2190240"/>
            </a:xfrm>
            <a:custGeom>
              <a:avLst/>
              <a:gdLst>
                <a:gd name="textAreaLeft" fmla="*/ 0 w 2190240"/>
                <a:gd name="textAreaRight" fmla="*/ 2190600 w 2190240"/>
                <a:gd name="textAreaTop" fmla="*/ 0 h 2190240"/>
                <a:gd name="textAreaBottom" fmla="*/ 2190600 h 2190240"/>
              </a:gdLst>
              <a:ahLst/>
              <a:cxnLst/>
              <a:rect l="textAreaLeft" t="textAreaTop" r="textAreaRight" b="textAreaBottom"/>
              <a:pathLst>
                <a:path w="2921000" h="2921000">
                  <a:moveTo>
                    <a:pt x="0" y="0"/>
                  </a:moveTo>
                  <a:lnTo>
                    <a:pt x="2921000" y="0"/>
                  </a:lnTo>
                  <a:lnTo>
                    <a:pt x="2921000" y="2921000"/>
                  </a:lnTo>
                  <a:lnTo>
                    <a:pt x="0" y="2921000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1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503" name="Group 6"/>
          <p:cNvGrpSpPr/>
          <p:nvPr/>
        </p:nvGrpSpPr>
        <p:grpSpPr>
          <a:xfrm>
            <a:off x="0" y="4680"/>
            <a:ext cx="18288000" cy="7090920"/>
            <a:chOff x="0" y="4680"/>
            <a:chExt cx="18288000" cy="7090920"/>
          </a:xfrm>
        </p:grpSpPr>
        <p:sp>
          <p:nvSpPr>
            <p:cNvPr id="504" name="Freeform 7"/>
            <p:cNvSpPr/>
            <p:nvPr/>
          </p:nvSpPr>
          <p:spPr>
            <a:xfrm>
              <a:off x="0" y="4680"/>
              <a:ext cx="18288000" cy="7090920"/>
            </a:xfrm>
            <a:custGeom>
              <a:avLst/>
              <a:gdLst>
                <a:gd name="textAreaLeft" fmla="*/ 0 w 18288000"/>
                <a:gd name="textAreaRight" fmla="*/ 18288360 w 18288000"/>
                <a:gd name="textAreaTop" fmla="*/ 0 h 7090920"/>
                <a:gd name="textAreaBottom" fmla="*/ 7091280 h 7090920"/>
              </a:gdLst>
              <a:ahLst/>
              <a:cxnLst/>
              <a:rect l="textAreaLeft" t="textAreaTop" r="textAreaRight" b="textAreaBottom"/>
              <a:pathLst>
                <a:path w="24384254" h="9455028">
                  <a:moveTo>
                    <a:pt x="0" y="0"/>
                  </a:moveTo>
                  <a:lnTo>
                    <a:pt x="24384254" y="0"/>
                  </a:lnTo>
                  <a:lnTo>
                    <a:pt x="24384254" y="9455028"/>
                  </a:lnTo>
                  <a:lnTo>
                    <a:pt x="0" y="9455028"/>
                  </a:lnTo>
                  <a:close/>
                </a:path>
              </a:pathLst>
            </a:custGeom>
            <a:solidFill>
              <a:srgbClr val="0C2577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05" name="TextBox 8"/>
            <p:cNvSpPr/>
            <p:nvPr/>
          </p:nvSpPr>
          <p:spPr>
            <a:xfrm>
              <a:off x="0" y="4680"/>
              <a:ext cx="18288000" cy="7090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tIns="50760" rIns="50760" bIns="50760" anchor="t">
              <a:noAutofit/>
            </a:bodyPr>
            <a:p>
              <a:pPr defTabSz="914400">
                <a:lnSpc>
                  <a:spcPts val="162"/>
                </a:lnSpc>
                <a:tabLst>
                  <a:tab pos="0" algn="l"/>
                </a:tabLst>
              </a:pPr>
              <a:r>
                <a:rPr lang="en-US" sz="150" b="0" u="none" strike="noStrike">
                  <a:solidFill>
                    <a:srgbClr val="0C2577"/>
                  </a:solidFill>
                  <a:effectLst/>
                  <a:uFillTx/>
                  <a:latin typeface="Georgia"/>
                  <a:ea typeface="Georgia"/>
                </a:rPr>
                <a:t>..</a:t>
              </a:r>
              <a:endParaRPr lang="en-IN" sz="1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506" name="Group 9"/>
          <p:cNvGrpSpPr/>
          <p:nvPr/>
        </p:nvGrpSpPr>
        <p:grpSpPr>
          <a:xfrm>
            <a:off x="1398240" y="2305440"/>
            <a:ext cx="15773040" cy="1987920"/>
            <a:chOff x="1398240" y="2305440"/>
            <a:chExt cx="15773040" cy="1987920"/>
          </a:xfrm>
        </p:grpSpPr>
        <p:sp>
          <p:nvSpPr>
            <p:cNvPr id="507" name="Freeform 10"/>
            <p:cNvSpPr/>
            <p:nvPr/>
          </p:nvSpPr>
          <p:spPr>
            <a:xfrm>
              <a:off x="1398240" y="2305440"/>
              <a:ext cx="15773040" cy="1987920"/>
            </a:xfrm>
            <a:custGeom>
              <a:avLst/>
              <a:gdLst>
                <a:gd name="textAreaLeft" fmla="*/ 0 w 15773040"/>
                <a:gd name="textAreaRight" fmla="*/ 15773400 w 15773040"/>
                <a:gd name="textAreaTop" fmla="*/ 0 h 1987920"/>
                <a:gd name="textAreaBottom" fmla="*/ 1988280 h 1987920"/>
              </a:gdLst>
              <a:ahLst/>
              <a:cxnLst/>
              <a:rect l="textAreaLeft" t="textAreaTop" r="textAreaRight" b="textAreaBottom"/>
              <a:pathLst>
                <a:path w="21031200" h="2651044">
                  <a:moveTo>
                    <a:pt x="0" y="0"/>
                  </a:moveTo>
                  <a:lnTo>
                    <a:pt x="21031200" y="0"/>
                  </a:lnTo>
                  <a:lnTo>
                    <a:pt x="21031200" y="2651044"/>
                  </a:lnTo>
                  <a:lnTo>
                    <a:pt x="0" y="2651044"/>
                  </a:lnTo>
                  <a:close/>
                </a:path>
              </a:pathLst>
            </a:custGeom>
            <a:blipFill rotWithShape="0">
              <a:blip r:embed="rId2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08" name="TextBox 11"/>
            <p:cNvSpPr/>
            <p:nvPr/>
          </p:nvSpPr>
          <p:spPr>
            <a:xfrm>
              <a:off x="1398240" y="2348280"/>
              <a:ext cx="15773040" cy="194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algn="ctr" defTabSz="914400">
                <a:lnSpc>
                  <a:spcPts val="6041"/>
                </a:lnSpc>
                <a:tabLst>
                  <a:tab pos="0" algn="l"/>
                </a:tabLst>
              </a:pPr>
              <a:r>
                <a:rPr lang="en-US" sz="5600" b="1" u="none" strike="noStrike">
                  <a:solidFill>
                    <a:srgbClr val="FFFFFF"/>
                  </a:solidFill>
                  <a:effectLst/>
                  <a:uFillTx/>
                  <a:latin typeface="Georgia Bold"/>
                  <a:ea typeface="Georgia Bold"/>
                </a:rPr>
                <a:t>Thank You</a:t>
              </a:r>
              <a:endParaRPr lang="en-IN" sz="5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509" name="Group 12"/>
          <p:cNvGrpSpPr/>
          <p:nvPr/>
        </p:nvGrpSpPr>
        <p:grpSpPr>
          <a:xfrm>
            <a:off x="324000" y="7503480"/>
            <a:ext cx="1866600" cy="1866600"/>
            <a:chOff x="324000" y="7503480"/>
            <a:chExt cx="1866600" cy="1866600"/>
          </a:xfrm>
        </p:grpSpPr>
        <p:sp>
          <p:nvSpPr>
            <p:cNvPr id="510" name="Freeform 13"/>
            <p:cNvSpPr/>
            <p:nvPr/>
          </p:nvSpPr>
          <p:spPr>
            <a:xfrm>
              <a:off x="324000" y="7503480"/>
              <a:ext cx="1866600" cy="1866600"/>
            </a:xfrm>
            <a:custGeom>
              <a:avLst/>
              <a:gdLst>
                <a:gd name="textAreaLeft" fmla="*/ 0 w 1866600"/>
                <a:gd name="textAreaRight" fmla="*/ 1866960 w 1866600"/>
                <a:gd name="textAreaTop" fmla="*/ 0 h 1866600"/>
                <a:gd name="textAreaBottom" fmla="*/ 1866960 h 1866600"/>
              </a:gdLst>
              <a:ahLst/>
              <a:cxnLst/>
              <a:rect l="textAreaLeft" t="textAreaTop" r="textAreaRight" b="textAreaBottom"/>
              <a:pathLst>
                <a:path w="2489073" h="2489073">
                  <a:moveTo>
                    <a:pt x="0" y="0"/>
                  </a:moveTo>
                  <a:lnTo>
                    <a:pt x="2489073" y="0"/>
                  </a:lnTo>
                  <a:lnTo>
                    <a:pt x="2489073" y="2489073"/>
                  </a:lnTo>
                  <a:lnTo>
                    <a:pt x="0" y="2489073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3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511" name="Group 14"/>
          <p:cNvGrpSpPr/>
          <p:nvPr/>
        </p:nvGrpSpPr>
        <p:grpSpPr>
          <a:xfrm>
            <a:off x="399960" y="9748800"/>
            <a:ext cx="3314160" cy="478440"/>
            <a:chOff x="399960" y="9748800"/>
            <a:chExt cx="3314160" cy="478440"/>
          </a:xfrm>
        </p:grpSpPr>
        <p:sp>
          <p:nvSpPr>
            <p:cNvPr id="512" name="Freeform 15"/>
            <p:cNvSpPr/>
            <p:nvPr/>
          </p:nvSpPr>
          <p:spPr>
            <a:xfrm>
              <a:off x="399960" y="9777240"/>
              <a:ext cx="3314160" cy="450000"/>
            </a:xfrm>
            <a:custGeom>
              <a:avLst/>
              <a:gdLst>
                <a:gd name="textAreaLeft" fmla="*/ 0 w 3314160"/>
                <a:gd name="textAreaRight" fmla="*/ 3314520 w 3314160"/>
                <a:gd name="textAreaTop" fmla="*/ 0 h 450000"/>
                <a:gd name="textAreaBottom" fmla="*/ 450360 h 450000"/>
              </a:gdLst>
              <a:ahLst/>
              <a:cxnLst/>
              <a:rect l="textAreaLeft" t="textAreaTop" r="textAreaRight" b="textAreaBottom"/>
              <a:pathLst>
                <a:path w="4419360" h="600479">
                  <a:moveTo>
                    <a:pt x="0" y="0"/>
                  </a:moveTo>
                  <a:lnTo>
                    <a:pt x="4419360" y="0"/>
                  </a:lnTo>
                  <a:lnTo>
                    <a:pt x="4419360" y="600479"/>
                  </a:lnTo>
                  <a:lnTo>
                    <a:pt x="0" y="600479"/>
                  </a:lnTo>
                  <a:close/>
                </a:path>
              </a:pathLst>
            </a:custGeom>
            <a:blipFill rotWithShape="0">
              <a:blip r:embed="rId4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13" name="TextBox 16"/>
            <p:cNvSpPr/>
            <p:nvPr/>
          </p:nvSpPr>
          <p:spPr>
            <a:xfrm>
              <a:off x="399960" y="9748800"/>
              <a:ext cx="3314160" cy="478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defTabSz="914400">
                <a:lnSpc>
                  <a:spcPts val="1831"/>
                </a:lnSpc>
                <a:tabLst>
                  <a:tab pos="0" algn="l"/>
                </a:tabLst>
              </a:pPr>
              <a:r>
                <a:rPr lang="en-US" sz="1530" b="0" u="none" strike="noStrike">
                  <a:solidFill>
                    <a:srgbClr val="FFFFFF"/>
                  </a:solidFill>
                  <a:effectLst/>
                  <a:uFillTx/>
                  <a:latin typeface="Calibri (MS)"/>
                  <a:ea typeface="Calibri (MS)"/>
                </a:rPr>
                <a:t>05/10/26</a:t>
              </a:r>
              <a:endParaRPr lang="en-IN" sz="153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514" name="Group 17"/>
          <p:cNvGrpSpPr/>
          <p:nvPr/>
        </p:nvGrpSpPr>
        <p:grpSpPr>
          <a:xfrm>
            <a:off x="14411520" y="9651600"/>
            <a:ext cx="2969280" cy="575640"/>
            <a:chOff x="14411520" y="9651600"/>
            <a:chExt cx="2969280" cy="575640"/>
          </a:xfrm>
        </p:grpSpPr>
        <p:sp>
          <p:nvSpPr>
            <p:cNvPr id="515" name="Freeform 18"/>
            <p:cNvSpPr/>
            <p:nvPr/>
          </p:nvSpPr>
          <p:spPr>
            <a:xfrm>
              <a:off x="14411520" y="9680040"/>
              <a:ext cx="2969280" cy="547200"/>
            </a:xfrm>
            <a:custGeom>
              <a:avLst/>
              <a:gdLst>
                <a:gd name="textAreaLeft" fmla="*/ 0 w 2969280"/>
                <a:gd name="textAreaRight" fmla="*/ 2969640 w 2969280"/>
                <a:gd name="textAreaTop" fmla="*/ 0 h 547200"/>
                <a:gd name="textAreaBottom" fmla="*/ 547560 h 547200"/>
              </a:gdLst>
              <a:ahLst/>
              <a:cxnLst/>
              <a:rect l="textAreaLeft" t="textAreaTop" r="textAreaRight" b="textAreaBottom"/>
              <a:pathLst>
                <a:path w="3959280" h="730075">
                  <a:moveTo>
                    <a:pt x="0" y="0"/>
                  </a:moveTo>
                  <a:lnTo>
                    <a:pt x="3959280" y="0"/>
                  </a:lnTo>
                  <a:lnTo>
                    <a:pt x="3959280" y="730075"/>
                  </a:lnTo>
                  <a:lnTo>
                    <a:pt x="0" y="730075"/>
                  </a:lnTo>
                  <a:close/>
                </a:path>
              </a:pathLst>
            </a:custGeom>
            <a:blipFill rotWithShape="0">
              <a:blip r:embed="rId5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16" name="TextBox 19"/>
            <p:cNvSpPr/>
            <p:nvPr/>
          </p:nvSpPr>
          <p:spPr>
            <a:xfrm>
              <a:off x="14411520" y="9651600"/>
              <a:ext cx="2968920" cy="5756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algn="r" defTabSz="914400">
                <a:lnSpc>
                  <a:spcPts val="1831"/>
                </a:lnSpc>
                <a:tabLst>
                  <a:tab pos="0" algn="l"/>
                </a:tabLst>
              </a:pPr>
              <a:r>
                <a:rPr lang="en-US" sz="1530" b="0" u="none" strike="noStrike">
                  <a:solidFill>
                    <a:srgbClr val="FFFFFF"/>
                  </a:solidFill>
                  <a:effectLst/>
                  <a:uFillTx/>
                  <a:latin typeface="Calibri (MS)"/>
                  <a:ea typeface="Calibri (MS)"/>
                </a:rPr>
                <a:t>14</a:t>
              </a:r>
              <a:endParaRPr lang="en-IN" sz="153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517" name="Group 20"/>
          <p:cNvGrpSpPr/>
          <p:nvPr/>
        </p:nvGrpSpPr>
        <p:grpSpPr>
          <a:xfrm>
            <a:off x="4288680" y="9732240"/>
            <a:ext cx="9896400" cy="554400"/>
            <a:chOff x="4288680" y="9732240"/>
            <a:chExt cx="9896400" cy="554400"/>
          </a:xfrm>
        </p:grpSpPr>
        <p:sp>
          <p:nvSpPr>
            <p:cNvPr id="518" name="Freeform 21"/>
            <p:cNvSpPr/>
            <p:nvPr/>
          </p:nvSpPr>
          <p:spPr>
            <a:xfrm>
              <a:off x="4288680" y="9739440"/>
              <a:ext cx="9896400" cy="547200"/>
            </a:xfrm>
            <a:custGeom>
              <a:avLst/>
              <a:gdLst>
                <a:gd name="textAreaLeft" fmla="*/ 0 w 9896400"/>
                <a:gd name="textAreaRight" fmla="*/ 9896760 w 9896400"/>
                <a:gd name="textAreaTop" fmla="*/ 0 h 547200"/>
                <a:gd name="textAreaBottom" fmla="*/ 547560 h 547200"/>
              </a:gdLst>
              <a:ahLst/>
              <a:cxnLst/>
              <a:rect l="textAreaLeft" t="textAreaTop" r="textAreaRight" b="textAreaBottom"/>
              <a:pathLst>
                <a:path w="13195440" h="730075">
                  <a:moveTo>
                    <a:pt x="0" y="0"/>
                  </a:moveTo>
                  <a:lnTo>
                    <a:pt x="13195440" y="0"/>
                  </a:lnTo>
                  <a:lnTo>
                    <a:pt x="13195440" y="730075"/>
                  </a:lnTo>
                  <a:lnTo>
                    <a:pt x="0" y="730075"/>
                  </a:lnTo>
                  <a:close/>
                </a:path>
              </a:pathLst>
            </a:custGeom>
            <a:blipFill rotWithShape="0">
              <a:blip r:embed="rId6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19" name="TextBox 22"/>
            <p:cNvSpPr/>
            <p:nvPr/>
          </p:nvSpPr>
          <p:spPr>
            <a:xfrm>
              <a:off x="4288680" y="9732240"/>
              <a:ext cx="9896400" cy="554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algn="ctr" defTabSz="914400">
                <a:lnSpc>
                  <a:spcPts val="2134"/>
                </a:lnSpc>
                <a:tabLst>
                  <a:tab pos="0" algn="l"/>
                </a:tabLst>
              </a:pPr>
              <a:r>
                <a:rPr lang="en-US" sz="1779" b="0" u="none" strike="noStrike">
                  <a:solidFill>
                    <a:srgbClr val="FFFFFF"/>
                  </a:solidFill>
                  <a:effectLst/>
                  <a:uFillTx/>
                  <a:latin typeface="Georgia"/>
                  <a:ea typeface="Georgia"/>
                </a:rPr>
                <a:t>International Institute of Information Technology, Naya Raipur</a:t>
              </a:r>
              <a:endParaRPr lang="en-IN" sz="1779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520" name="TextBox 23"/>
          <p:cNvSpPr/>
          <p:nvPr/>
        </p:nvSpPr>
        <p:spPr>
          <a:xfrm>
            <a:off x="2571840" y="7553160"/>
            <a:ext cx="10477080" cy="91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3640"/>
              </a:lnSpc>
            </a:pPr>
            <a:r>
              <a:rPr lang="en-US" sz="2600" b="0" u="none" strike="noStrike">
                <a:solidFill>
                  <a:srgbClr val="23298A"/>
                </a:solidFill>
                <a:effectLst/>
                <a:uFillTx/>
                <a:latin typeface="Arimo"/>
                <a:ea typeface="Arimo"/>
              </a:rPr>
              <a:t>Edge-Optimized Low-Latency Voice-to-Voice</a:t>
            </a:r>
            <a:endParaRPr lang="en-IN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3640"/>
              </a:lnSpc>
            </a:pPr>
            <a:r>
              <a:rPr lang="en-US" sz="2600" b="0" u="none" strike="noStrike">
                <a:solidFill>
                  <a:srgbClr val="23298A"/>
                </a:solidFill>
                <a:effectLst/>
                <a:uFillTx/>
                <a:latin typeface="Arimo"/>
                <a:ea typeface="Arimo"/>
              </a:rPr>
              <a:t>Conversational Agent for Low-Resource Vernacular Dialects</a:t>
            </a:r>
            <a:endParaRPr lang="en-IN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1" name="TextBox 24"/>
          <p:cNvSpPr/>
          <p:nvPr/>
        </p:nvSpPr>
        <p:spPr>
          <a:xfrm>
            <a:off x="2571840" y="8715960"/>
            <a:ext cx="10477080" cy="41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3359"/>
              </a:lnSpc>
            </a:pPr>
            <a:r>
              <a:rPr lang="en-US" sz="2400" b="0" i="1" u="none" strike="noStrike">
                <a:solidFill>
                  <a:srgbClr val="FFFFFF"/>
                </a:solidFill>
                <a:effectLst/>
                <a:uFillTx/>
                <a:latin typeface="Arimo Italics"/>
                <a:ea typeface="Arimo Italics"/>
              </a:rPr>
              <a:t>Questions?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 pitchFamily="0" charset="1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</TotalTime>
  <Application>LibreOffice/26.8.0.3$Linux_X86_64 LibreOffice_project/e34ffb33db0c92181c79084d759a90d6bf45d9b3</Application>
  <AppVersion>15.0000</AppVersion>
  <Words>1471</Words>
  <Paragraphs>251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/>
  <dc:description/>
  <dc:identifier>DAHXHSBo5jY</dc:identifier>
  <dc:language>en-IN</dc:language>
  <cp:lastModifiedBy/>
  <dcterms:modified xsi:type="dcterms:W3CDTF">2026-10-05T22:00:33Z</dcterms:modified>
  <cp:revision>3</cp:revision>
  <dc:subject/>
  <dc:title>Progress PPT.ppt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Custom</vt:lpwstr>
  </property>
  <property fmtid="{D5CDD505-2E9C-101B-9397-08002B2CF9AE}" pid="3" name="Slides">
    <vt:i4>12</vt:i4>
  </property>
</Properties>
</file>