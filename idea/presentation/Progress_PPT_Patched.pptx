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7559675" cy="10691813"/>
  <p:embeddedFontLst>
    <p:embeddedFont>
      <p:font typeface="Calibri (MS) Bold"/>
      <p:bold r:id="rId15"/>
    </p:embeddedFont>
    <p:embeddedFont>
      <p:font typeface="Georgia"/>
      <p:regular r:id="rId16"/>
      <p:bold r:id="rId17"/>
      <p:italic r:id="rId18"/>
      <p:boldItalic r:id="rId19"/>
    </p:embeddedFont>
    <p:embeddedFont>
      <p:font typeface="TT Rounds Condensed Bold"/>
      <p:bold r:id="rId20"/>
    </p:embeddedFont>
    <p:embeddedFont>
      <p:font typeface="Arimo Bold"/>
      <p:bold r:id="rId21"/>
    </p:embeddedFont>
    <p:embeddedFont>
      <p:font typeface="Georgia Bold"/>
      <p:bold r:id="rId17"/>
    </p:embeddedFont>
    <p:embeddedFont>
      <p:font typeface="Georgia Pro"/>
      <p:regular r:id="rId22"/>
    </p:embeddedFont>
    <p:embeddedFont>
      <p:font typeface="Calibri (MS)"/>
      <p:regular r:id="rId23"/>
    </p:embeddedFont>
    <p:embeddedFont>
      <p:font typeface="Arimo"/>
      <p:regular r:id="rId24"/>
    </p:embeddedFont>
    <p:embeddedFont>
      <p:font typeface="Arimo Italics"/>
      <p:italic r:id="rId25"/>
    </p:embeddedFont>
    <p:embeddedFont>
      <p:font typeface="TT Rounds Condense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_1_Calibri_(MS)_Bold_Bold.fntdata"/><Relationship Id="rId16" Type="http://schemas.openxmlformats.org/officeDocument/2006/relationships/font" Target="fonts/Font_2_Georgia_Regular.fntdata"/><Relationship Id="rId17" Type="http://schemas.openxmlformats.org/officeDocument/2006/relationships/font" Target="fonts/Font_3_Georgia_Bold.fntdata"/><Relationship Id="rId18" Type="http://schemas.openxmlformats.org/officeDocument/2006/relationships/font" Target="fonts/Font_4_Georgia_Italic.fntdata"/><Relationship Id="rId19" Type="http://schemas.openxmlformats.org/officeDocument/2006/relationships/font" Target="fonts/Font_5_Georgia_BoldItalic.fntdata"/><Relationship Id="rId20" Type="http://schemas.openxmlformats.org/officeDocument/2006/relationships/font" Target="fonts/Font_6_TT_Rounds_Condensed_Bold_Bold.fntdata"/><Relationship Id="rId21" Type="http://schemas.openxmlformats.org/officeDocument/2006/relationships/font" Target="fonts/Font_7_Arimo_Bold_Bold.fntdata"/><Relationship Id="rId22" Type="http://schemas.openxmlformats.org/officeDocument/2006/relationships/font" Target="fonts/Font_8_Georgia_Pro_Regular.fntdata"/><Relationship Id="rId23" Type="http://schemas.openxmlformats.org/officeDocument/2006/relationships/font" Target="fonts/Font_9_Calibri_(MS)_Regular.fntdata"/><Relationship Id="rId24" Type="http://schemas.openxmlformats.org/officeDocument/2006/relationships/font" Target="fonts/Font_10_Arimo_Regular.fntdata"/><Relationship Id="rId25" Type="http://schemas.openxmlformats.org/officeDocument/2006/relationships/font" Target="fonts/Font_11_Arimo_Italics_Italic.fntdata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9796AD-6B5F-41BA-97E1-5B4F7F2F0C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76F9B3-A964-48B5-B0B7-334DFD53DC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B64594-37CF-4A88-ADC9-6174C9D15D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9288BD-3400-4AF9-82E9-54A73B5EC3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625F8C-0505-4AAA-85E9-30D1433C3B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3EDBE8-A796-4671-A0E8-A3B5FD047A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237D46-DC84-4B2E-A44E-EDDA4A6A9C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996086-1D92-469C-A71A-4ACBE63527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1056BB-D262-4B62-988B-013A6DDC4C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8FBFF-E60D-4D77-AE36-7EADF894B1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D680F8-569C-47DF-B972-2D59684028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62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64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Group 6"/>
          <p:cNvGrpSpPr/>
          <p:nvPr/>
        </p:nvGrpSpPr>
        <p:grpSpPr>
          <a:xfrm>
            <a:off x="0" y="0"/>
            <a:ext cx="18288000" cy="5264640"/>
            <a:chOff x="0" y="0"/>
            <a:chExt cx="18288000" cy="5264640"/>
          </a:xfrm>
        </p:grpSpPr>
        <p:sp>
          <p:nvSpPr>
            <p:cNvPr id="66" name="Freeform 7"/>
            <p:cNvSpPr/>
            <p:nvPr/>
          </p:nvSpPr>
          <p:spPr>
            <a:xfrm>
              <a:off x="0" y="0"/>
              <a:ext cx="18288000" cy="526464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5264640"/>
                <a:gd name="textAreaBottom" fmla="*/ 5265000 h 5264640"/>
              </a:gdLst>
              <a:ahLst/>
              <a:cxnLst/>
              <a:rect l="textAreaLeft" t="textAreaTop" r="textAreaRight" b="textAreaBottom"/>
              <a:pathLst>
                <a:path w="24384254" h="7020051">
                  <a:moveTo>
                    <a:pt x="0" y="0"/>
                  </a:moveTo>
                  <a:lnTo>
                    <a:pt x="24384254" y="0"/>
                  </a:lnTo>
                  <a:lnTo>
                    <a:pt x="24384254" y="7020051"/>
                  </a:lnTo>
                  <a:lnTo>
                    <a:pt x="0" y="7020051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8"/>
            <p:cNvSpPr/>
            <p:nvPr/>
          </p:nvSpPr>
          <p:spPr>
            <a:xfrm>
              <a:off x="0" y="0"/>
              <a:ext cx="18288000" cy="526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t">
              <a:noAutofit/>
            </a:bodyPr>
            <a:p>
              <a:pPr defTabSz="914400">
                <a:lnSpc>
                  <a:spcPts val="162"/>
                </a:lnSpc>
                <a:tabLst>
                  <a:tab pos="0" algn="l"/>
                </a:tabLst>
              </a:pPr>
              <a:r>
                <a:rPr lang="en-US" sz="150" b="0" u="none" strike="noStrike">
                  <a:solidFill>
                    <a:srgbClr val="0C2577"/>
                  </a:solidFill>
                  <a:effectLst/>
                  <a:uFillTx/>
                  <a:latin typeface="Georgia"/>
                  <a:ea typeface="Georgia"/>
                </a:rPr>
                <a:t/>
              </a:r>
              <a:endParaRPr lang="en-IN" sz="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oup 9"/>
          <p:cNvGrpSpPr/>
          <p:nvPr/>
        </p:nvGrpSpPr>
        <p:grpSpPr>
          <a:xfrm>
            <a:off x="226080" y="7279560"/>
            <a:ext cx="1866600" cy="1866600"/>
            <a:chOff x="226080" y="7279560"/>
            <a:chExt cx="1866600" cy="1866600"/>
          </a:xfrm>
        </p:grpSpPr>
        <p:sp>
          <p:nvSpPr>
            <p:cNvPr id="69" name="Freeform 10"/>
            <p:cNvSpPr/>
            <p:nvPr/>
          </p:nvSpPr>
          <p:spPr>
            <a:xfrm>
              <a:off x="226080" y="7279560"/>
              <a:ext cx="1866600" cy="1866600"/>
            </a:xfrm>
            <a:custGeom>
              <a:avLst/>
              <a:gdLst>
                <a:gd name="textAreaLeft" fmla="*/ 0 w 1866600"/>
                <a:gd name="textAreaRight" fmla="*/ 1866960 w 1866600"/>
                <a:gd name="textAreaTop" fmla="*/ 0 h 1866600"/>
                <a:gd name="textAreaBottom" fmla="*/ 1866960 h 1866600"/>
              </a:gdLst>
              <a:ahLst/>
              <a:cxnLst/>
              <a:rect l="textAreaLeft" t="textAreaTop" r="textAreaRight" b="textAreaBottom"/>
              <a:pathLst>
                <a:path w="2489073" h="2489073">
                  <a:moveTo>
                    <a:pt x="0" y="0"/>
                  </a:moveTo>
                  <a:lnTo>
                    <a:pt x="2489073" y="0"/>
                  </a:lnTo>
                  <a:lnTo>
                    <a:pt x="2489073" y="2489073"/>
                  </a:lnTo>
                  <a:lnTo>
                    <a:pt x="0" y="248907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11"/>
          <p:cNvSpPr/>
          <p:nvPr/>
        </p:nvSpPr>
        <p:spPr>
          <a:xfrm>
            <a:off x="2518920" y="7557480"/>
            <a:ext cx="815904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23298A"/>
                </a:solidFill>
                <a:effectLst/>
                <a:uFillTx/>
                <a:latin typeface="Georgia Bold"/>
                <a:ea typeface="Georgia Bold"/>
              </a:rPr>
              <a:t>B.Tech in Artificial Intelligence &amp; Data Science, Semester 5 / 3rd Year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23298A"/>
                </a:solidFill>
                <a:effectLst/>
                <a:uFillTx/>
                <a:latin typeface="Georgia Bold"/>
                <a:ea typeface="Georgia Bold"/>
              </a:rPr>
              <a:t>Minor Project, AI-301, 4 Credits</a:t>
            </a:r>
            <a:endParaRPr lang="en-IN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12651120" y="5738040"/>
            <a:ext cx="45777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100"/>
              </a:lnSpc>
              <a:tabLst>
                <a:tab pos="0" algn="l"/>
              </a:tabLst>
            </a:pPr>
            <a:r>
              <a:rPr lang="en-US" sz="194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 October 2026</a:t>
            </a:r>
            <a:endParaRPr lang="en-IN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Group 13"/>
          <p:cNvGrpSpPr/>
          <p:nvPr/>
        </p:nvGrpSpPr>
        <p:grpSpPr>
          <a:xfrm>
            <a:off x="-720" y="5264280"/>
            <a:ext cx="18288000" cy="1516320"/>
            <a:chOff x="-720" y="5264280"/>
            <a:chExt cx="18288000" cy="1516320"/>
          </a:xfrm>
        </p:grpSpPr>
        <p:sp>
          <p:nvSpPr>
            <p:cNvPr id="73" name="Freeform 14"/>
            <p:cNvSpPr/>
            <p:nvPr/>
          </p:nvSpPr>
          <p:spPr>
            <a:xfrm>
              <a:off x="-720" y="5264280"/>
              <a:ext cx="18288000" cy="151632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1516320"/>
                <a:gd name="textAreaBottom" fmla="*/ 1516680 h 1516320"/>
              </a:gdLst>
              <a:ahLst/>
              <a:cxnLst/>
              <a:rect l="textAreaLeft" t="textAreaTop" r="textAreaRight" b="textAreaBottom"/>
              <a:pathLst>
                <a:path w="24384254" h="2022475">
                  <a:moveTo>
                    <a:pt x="0" y="0"/>
                  </a:moveTo>
                  <a:lnTo>
                    <a:pt x="24384254" y="0"/>
                  </a:lnTo>
                  <a:lnTo>
                    <a:pt x="24384254" y="2022475"/>
                  </a:lnTo>
                  <a:lnTo>
                    <a:pt x="0" y="2022475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" name="Group 15"/>
          <p:cNvGrpSpPr/>
          <p:nvPr/>
        </p:nvGrpSpPr>
        <p:grpSpPr>
          <a:xfrm>
            <a:off x="2285640" y="1683720"/>
            <a:ext cx="13715640" cy="2452320"/>
            <a:chOff x="2285640" y="1683720"/>
            <a:chExt cx="13715640" cy="2452320"/>
          </a:xfrm>
        </p:grpSpPr>
        <p:sp>
          <p:nvSpPr>
            <p:cNvPr id="75" name="Freeform 16"/>
            <p:cNvSpPr/>
            <p:nvPr/>
          </p:nvSpPr>
          <p:spPr>
            <a:xfrm>
              <a:off x="2285640" y="1683720"/>
              <a:ext cx="13715640" cy="2452320"/>
            </a:xfrm>
            <a:custGeom>
              <a:avLst/>
              <a:gdLst>
                <a:gd name="textAreaLeft" fmla="*/ 0 w 13715640"/>
                <a:gd name="textAreaRight" fmla="*/ 13716000 w 13715640"/>
                <a:gd name="textAreaTop" fmla="*/ 0 h 2452320"/>
                <a:gd name="textAreaBottom" fmla="*/ 2452680 h 2452320"/>
              </a:gdLst>
              <a:ahLst/>
              <a:cxnLst/>
              <a:rect l="textAreaLeft" t="textAreaTop" r="textAreaRight" b="textAreaBottom"/>
              <a:pathLst>
                <a:path w="18288000" h="3270243">
                  <a:moveTo>
                    <a:pt x="0" y="0"/>
                  </a:moveTo>
                  <a:lnTo>
                    <a:pt x="18288000" y="0"/>
                  </a:lnTo>
                  <a:lnTo>
                    <a:pt x="18288000" y="3270243"/>
                  </a:lnTo>
                  <a:lnTo>
                    <a:pt x="0" y="3270243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17"/>
            <p:cNvSpPr/>
            <p:nvPr/>
          </p:nvSpPr>
          <p:spPr>
            <a:xfrm>
              <a:off x="2285640" y="1712160"/>
              <a:ext cx="13715640" cy="242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b">
              <a:noAutofit/>
            </a:bodyPr>
            <a:p>
              <a:pPr algn="ctr" defTabSz="914400">
                <a:lnSpc>
                  <a:spcPts val="5043"/>
                </a:lnSpc>
                <a:tabLst>
                  <a:tab pos="0" algn="l"/>
                </a:tabLst>
              </a:pPr>
              <a:r>
                <a:rPr lang="en-US" sz="4670" b="1" u="none" strike="noStrike">
                  <a:solidFill>
                    <a:srgbClr val="FFFFFF"/>
                  </a:solidFill>
                  <a:effectLst/>
                  <a:uFillTx/>
                  <a:latin typeface="Georgia Bold"/>
                  <a:ea typeface="Georgia Bold"/>
                </a:rPr>
                <a:t>Architecture of an Edge-Optimized, Low-Latency Voice-to-Voice Conversational Agent for Low-Resource Vernacular Dialects</a:t>
              </a:r>
              <a:endParaRPr lang="en-IN" sz="46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TextBox 18"/>
          <p:cNvSpPr/>
          <p:nvPr/>
        </p:nvSpPr>
        <p:spPr>
          <a:xfrm>
            <a:off x="1183680" y="6227640"/>
            <a:ext cx="66650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520"/>
              </a:lnSpc>
              <a:tabLst>
                <a:tab pos="0" algn="l"/>
              </a:tabLst>
            </a:pPr>
            <a:r>
              <a:rPr lang="en-US" sz="2340" b="0" u="none" strike="noStrike">
                <a:solidFill>
                  <a:srgbClr val="002060"/>
                </a:solidFill>
                <a:effectLst/>
                <a:uFillTx/>
                <a:latin typeface="Georgia"/>
                <a:ea typeface="Georgia"/>
              </a:rPr>
              <a:t>Supervisor: Prof. Santosh Kumar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9"/>
          <p:cNvSpPr/>
          <p:nvPr/>
        </p:nvSpPr>
        <p:spPr>
          <a:xfrm>
            <a:off x="4604760" y="9776880"/>
            <a:ext cx="8827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868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International Institute of Information Technology, Naya Raipur</a:t>
            </a:r>
            <a:endParaRPr lang="en-IN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0"/>
          <p:cNvSpPr/>
          <p:nvPr/>
        </p:nvSpPr>
        <p:spPr>
          <a:xfrm>
            <a:off x="1180800" y="5487840"/>
            <a:ext cx="66679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520"/>
              </a:lnSpc>
              <a:tabLst>
                <a:tab pos="0" algn="l"/>
              </a:tabLst>
            </a:pPr>
            <a:r>
              <a:rPr lang="en-US" sz="234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Punyansh Thakur, Harsh Dadsena, Aakash Sen</a:t>
            </a:r>
            <a:endParaRPr lang="en-IN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ns3:AlternateContent>
    <ns3:Choice Requires="p14">
      <p:transition spd="slow" ns4:dur="2000"/>
    </ns3:Choice>
    <ns3:Fallback>
      <p:transition spd="slow"/>
    </ns3:Fallback>
  </ns3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81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83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" name="Group 6"/>
          <p:cNvGrpSpPr/>
          <p:nvPr/>
        </p:nvGrpSpPr>
        <p:grpSpPr>
          <a:xfrm>
            <a:off x="1257120" y="547560"/>
            <a:ext cx="15773040" cy="1566720"/>
            <a:chOff x="1257120" y="547560"/>
            <a:chExt cx="15773040" cy="1566720"/>
          </a:xfrm>
        </p:grpSpPr>
        <p:sp>
          <p:nvSpPr>
            <p:cNvPr id="85" name="Freeform 7"/>
            <p:cNvSpPr/>
            <p:nvPr/>
          </p:nvSpPr>
          <p:spPr>
            <a:xfrm>
              <a:off x="1257120" y="547560"/>
              <a:ext cx="15773040" cy="15667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566720"/>
                <a:gd name="textAreaBottom" fmla="*/ 1567080 h 1566720"/>
              </a:gdLst>
              <a:ahLst/>
              <a:cxnLst/>
              <a:rect l="textAreaLeft" t="textAreaTop" r="textAreaRight" b="textAreaBottom"/>
              <a:pathLst>
                <a:path w="21031200" h="2089438">
                  <a:moveTo>
                    <a:pt x="0" y="0"/>
                  </a:moveTo>
                  <a:lnTo>
                    <a:pt x="21031200" y="0"/>
                  </a:lnTo>
                  <a:lnTo>
                    <a:pt x="21031200" y="2089438"/>
                  </a:lnTo>
                  <a:lnTo>
                    <a:pt x="0" y="2089438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8"/>
            <p:cNvSpPr/>
            <p:nvPr/>
          </p:nvSpPr>
          <p:spPr>
            <a:xfrm>
              <a:off x="1257120" y="597600"/>
              <a:ext cx="15773040" cy="151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"/>
                </a:rPr>
                <a:t>01  Introduction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" name="Group 9"/>
          <p:cNvGrpSpPr/>
          <p:nvPr/>
        </p:nvGrpSpPr>
        <p:grpSpPr>
          <a:xfrm>
            <a:off x="399960" y="9808560"/>
            <a:ext cx="3314160" cy="478080"/>
            <a:chOff x="399960" y="9808560"/>
            <a:chExt cx="3314160" cy="478080"/>
          </a:xfrm>
        </p:grpSpPr>
        <p:sp>
          <p:nvSpPr>
            <p:cNvPr id="88" name="Freeform 10"/>
            <p:cNvSpPr/>
            <p:nvPr/>
          </p:nvSpPr>
          <p:spPr>
            <a:xfrm>
              <a:off x="399960" y="9837360"/>
              <a:ext cx="3314160" cy="44928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4419360" h="599760">
                  <a:moveTo>
                    <a:pt x="0" y="0"/>
                  </a:moveTo>
                  <a:lnTo>
                    <a:pt x="4419360" y="0"/>
                  </a:lnTo>
                  <a:lnTo>
                    <a:pt x="4419360" y="599760"/>
                  </a:lnTo>
                  <a:lnTo>
                    <a:pt x="0" y="59976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11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" name="Group 12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91" name="Freeform 13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80">
                  <a:moveTo>
                    <a:pt x="0" y="0"/>
                  </a:moveTo>
                  <a:lnTo>
                    <a:pt x="13195440" y="0"/>
                  </a:lnTo>
                  <a:lnTo>
                    <a:pt x="13195440" y="730080"/>
                  </a:lnTo>
                  <a:lnTo>
                    <a:pt x="0" y="73008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TextBox 14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" name="Group 15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94" name="Freeform 16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80">
                  <a:moveTo>
                    <a:pt x="0" y="0"/>
                  </a:moveTo>
                  <a:lnTo>
                    <a:pt x="3959280" y="0"/>
                  </a:lnTo>
                  <a:lnTo>
                    <a:pt x="3959280" y="730080"/>
                  </a:lnTo>
                  <a:lnTo>
                    <a:pt x="0" y="73008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TextBox 17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2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TextBox 18"/>
          <p:cNvSpPr/>
          <p:nvPr/>
        </p:nvSpPr>
        <p:spPr>
          <a:xfrm>
            <a:off x="1352520" y="2602080"/>
            <a:ext cx="75052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779"/>
              </a:lnSpc>
            </a:pPr>
            <a:r>
              <a:rPr lang="en-US" sz="27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Project focus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9"/>
          <p:cNvSpPr/>
          <p:nvPr/>
        </p:nvSpPr>
        <p:spPr>
          <a:xfrm>
            <a:off x="1352520" y="329580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0"/>
          <p:cNvSpPr/>
          <p:nvPr/>
        </p:nvSpPr>
        <p:spPr>
          <a:xfrm>
            <a:off x="1790640" y="3305160"/>
            <a:ext cx="7067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Edge-native agent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a zero-cloud Voice-to-Voice conversational agent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1352520" y="408636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2"/>
          <p:cNvSpPr/>
          <p:nvPr/>
        </p:nvSpPr>
        <p:spPr>
          <a:xfrm>
            <a:off x="1790640" y="4095720"/>
            <a:ext cx="7067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Vernacular coverage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Chhattisgarhi (hne), Hindi, Hinglish and English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3"/>
          <p:cNvSpPr/>
          <p:nvPr/>
        </p:nvSpPr>
        <p:spPr>
          <a:xfrm>
            <a:off x="1352520" y="487692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4"/>
          <p:cNvSpPr/>
          <p:nvPr/>
        </p:nvSpPr>
        <p:spPr>
          <a:xfrm>
            <a:off x="1790640" y="4886280"/>
            <a:ext cx="706716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Consumer hardware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Runs On a single machine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5"/>
          <p:cNvSpPr/>
          <p:nvPr/>
        </p:nvSpPr>
        <p:spPr>
          <a:xfrm>
            <a:off x="9429840" y="2602080"/>
            <a:ext cx="75052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779"/>
              </a:lnSpc>
            </a:pPr>
            <a:r>
              <a:rPr lang="en-US" sz="27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Application validation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6"/>
          <p:cNvSpPr/>
          <p:nvPr/>
        </p:nvSpPr>
        <p:spPr>
          <a:xfrm>
            <a:off x="9429840" y="329580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7"/>
          <p:cNvSpPr/>
          <p:nvPr/>
        </p:nvSpPr>
        <p:spPr>
          <a:xfrm>
            <a:off x="9867960" y="3305160"/>
            <a:ext cx="7067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Kisan Saathi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voice shopping and structured task execution for agricultural inputs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8"/>
          <p:cNvSpPr/>
          <p:nvPr/>
        </p:nvSpPr>
        <p:spPr>
          <a:xfrm>
            <a:off x="9429840" y="436716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9"/>
          <p:cNvSpPr/>
          <p:nvPr/>
        </p:nvSpPr>
        <p:spPr>
          <a:xfrm>
            <a:off x="9867960" y="4376880"/>
            <a:ext cx="706716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IIIT-NR Voice Helpdesk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grounded institutional question answering for admissions and campus policies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Group 30"/>
          <p:cNvGrpSpPr/>
          <p:nvPr/>
        </p:nvGrpSpPr>
        <p:grpSpPr>
          <a:xfrm>
            <a:off x="1352520" y="5872320"/>
            <a:ext cx="15582600" cy="830160"/>
            <a:chOff x="1352520" y="5872320"/>
            <a:chExt cx="15582600" cy="830160"/>
          </a:xfrm>
        </p:grpSpPr>
        <p:sp>
          <p:nvSpPr>
            <p:cNvPr id="109" name="Freeform 31"/>
            <p:cNvSpPr/>
            <p:nvPr/>
          </p:nvSpPr>
          <p:spPr>
            <a:xfrm>
              <a:off x="1352520" y="5915160"/>
              <a:ext cx="15582600" cy="787320"/>
            </a:xfrm>
            <a:custGeom>
              <a:avLst/>
              <a:gdLst>
                <a:gd name="textAreaLeft" fmla="*/ 0 w 15582600"/>
                <a:gd name="textAreaRight" fmla="*/ 15582960 w 15582600"/>
                <a:gd name="textAreaTop" fmla="*/ 0 h 787320"/>
                <a:gd name="textAreaBottom" fmla="*/ 787680 h 787320"/>
              </a:gdLst>
              <a:ahLst/>
              <a:cxnLst/>
              <a:rect l="textAreaLeft" t="textAreaTop" r="textAreaRight" b="textAreaBottom"/>
              <a:pathLst>
                <a:path w="20777200" h="1050409">
                  <a:moveTo>
                    <a:pt x="127000" y="0"/>
                  </a:moveTo>
                  <a:lnTo>
                    <a:pt x="20650200" y="0"/>
                  </a:lnTo>
                  <a:cubicBezTo>
                    <a:pt x="20720340" y="0"/>
                    <a:pt x="20777200" y="61879"/>
                    <a:pt x="20777200" y="138212"/>
                  </a:cubicBezTo>
                  <a:lnTo>
                    <a:pt x="20777200" y="912197"/>
                  </a:lnTo>
                  <a:cubicBezTo>
                    <a:pt x="20777200" y="988530"/>
                    <a:pt x="20720340" y="1050409"/>
                    <a:pt x="20650200" y="1050409"/>
                  </a:cubicBezTo>
                  <a:lnTo>
                    <a:pt x="127000" y="1050409"/>
                  </a:lnTo>
                  <a:cubicBezTo>
                    <a:pt x="56860" y="1050409"/>
                    <a:pt x="0" y="988530"/>
                    <a:pt x="0" y="912197"/>
                  </a:cubicBezTo>
                  <a:lnTo>
                    <a:pt x="0" y="138212"/>
                  </a:lnTo>
                  <a:cubicBezTo>
                    <a:pt x="0" y="61879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TextBox 32"/>
            <p:cNvSpPr/>
            <p:nvPr/>
          </p:nvSpPr>
          <p:spPr>
            <a:xfrm>
              <a:off x="1352520" y="5872320"/>
              <a:ext cx="15582600" cy="83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7840" tIns="177840" rIns="177840" bIns="177840" anchor="ctr">
              <a:noAutofit/>
            </a:bodyPr>
            <a:p>
              <a:pPr algn="ctr" defTabSz="914400">
                <a:lnSpc>
                  <a:spcPts val="3359"/>
                </a:lnSpc>
              </a:pPr>
              <a:r>
                <a:rPr lang="en-US" sz="2400" b="1" u="none" strike="noStrike">
                  <a:solidFill>
                    <a:srgbClr val="0C2577"/>
                  </a:solidFill>
                  <a:effectLst/>
                  <a:uFillTx/>
                  <a:latin typeface="Arimo Bold"/>
                  <a:ea typeface="Arimo Bold"/>
                </a:rPr>
                <a:t>Key idea: local speech processing  +  verified reasoning  +  safe task execution</a:t>
              </a:r>
              <a:endPara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" name="Group 33"/>
          <p:cNvGrpSpPr/>
          <p:nvPr/>
        </p:nvGrpSpPr>
        <p:grpSpPr>
          <a:xfrm>
            <a:off x="2571840" y="7059240"/>
            <a:ext cx="3809520" cy="956880"/>
            <a:chOff x="2571840" y="7059240"/>
            <a:chExt cx="3809520" cy="956880"/>
          </a:xfrm>
        </p:grpSpPr>
        <p:sp>
          <p:nvSpPr>
            <p:cNvPr id="112" name="Freeform 34"/>
            <p:cNvSpPr/>
            <p:nvPr/>
          </p:nvSpPr>
          <p:spPr>
            <a:xfrm>
              <a:off x="2571840" y="7102080"/>
              <a:ext cx="3809520" cy="91404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5080000" h="1219200">
                  <a:moveTo>
                    <a:pt x="127000" y="0"/>
                  </a:moveTo>
                  <a:lnTo>
                    <a:pt x="4953000" y="0"/>
                  </a:lnTo>
                  <a:cubicBezTo>
                    <a:pt x="5023140" y="0"/>
                    <a:pt x="5080000" y="56860"/>
                    <a:pt x="5080000" y="127000"/>
                  </a:cubicBezTo>
                  <a:lnTo>
                    <a:pt x="5080000" y="1092200"/>
                  </a:lnTo>
                  <a:cubicBezTo>
                    <a:pt x="5080000" y="1162340"/>
                    <a:pt x="5023140" y="1219200"/>
                    <a:pt x="4953000" y="1219200"/>
                  </a:cubicBezTo>
                  <a:lnTo>
                    <a:pt x="127000" y="1219200"/>
                  </a:lnTo>
                  <a:cubicBezTo>
                    <a:pt x="56860" y="1219200"/>
                    <a:pt x="0" y="1162340"/>
                    <a:pt x="0" y="10922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TextBox 35"/>
            <p:cNvSpPr/>
            <p:nvPr/>
          </p:nvSpPr>
          <p:spPr>
            <a:xfrm>
              <a:off x="2571840" y="7059240"/>
              <a:ext cx="3809520" cy="95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359"/>
                </a:lnSpc>
              </a:pPr>
              <a:r>
                <a:rPr lang="en-US" sz="24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Input</a:t>
              </a:r>
              <a:endPara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" name="AutoShape 36"/>
          <p:cNvSpPr/>
          <p:nvPr/>
        </p:nvSpPr>
        <p:spPr>
          <a:xfrm>
            <a:off x="6476760" y="7559280"/>
            <a:ext cx="66672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5" name="Group 37"/>
          <p:cNvGrpSpPr/>
          <p:nvPr/>
        </p:nvGrpSpPr>
        <p:grpSpPr>
          <a:xfrm>
            <a:off x="7238880" y="7059240"/>
            <a:ext cx="3809520" cy="956880"/>
            <a:chOff x="7238880" y="7059240"/>
            <a:chExt cx="3809520" cy="956880"/>
          </a:xfrm>
        </p:grpSpPr>
        <p:sp>
          <p:nvSpPr>
            <p:cNvPr id="116" name="Freeform 38"/>
            <p:cNvSpPr/>
            <p:nvPr/>
          </p:nvSpPr>
          <p:spPr>
            <a:xfrm>
              <a:off x="7238880" y="7102080"/>
              <a:ext cx="3809520" cy="91404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5080000" h="1219200">
                  <a:moveTo>
                    <a:pt x="127000" y="0"/>
                  </a:moveTo>
                  <a:lnTo>
                    <a:pt x="4953000" y="0"/>
                  </a:lnTo>
                  <a:cubicBezTo>
                    <a:pt x="5023140" y="0"/>
                    <a:pt x="5080000" y="56860"/>
                    <a:pt x="5080000" y="127000"/>
                  </a:cubicBezTo>
                  <a:lnTo>
                    <a:pt x="5080000" y="1092200"/>
                  </a:lnTo>
                  <a:cubicBezTo>
                    <a:pt x="5080000" y="1162340"/>
                    <a:pt x="5023140" y="1219200"/>
                    <a:pt x="4953000" y="1219200"/>
                  </a:cubicBezTo>
                  <a:lnTo>
                    <a:pt x="127000" y="1219200"/>
                  </a:lnTo>
                  <a:cubicBezTo>
                    <a:pt x="56860" y="1219200"/>
                    <a:pt x="0" y="1162340"/>
                    <a:pt x="0" y="10922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TextBox 39"/>
            <p:cNvSpPr/>
            <p:nvPr/>
          </p:nvSpPr>
          <p:spPr>
            <a:xfrm>
              <a:off x="7238880" y="7059240"/>
              <a:ext cx="3809520" cy="95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359"/>
                </a:lnSpc>
              </a:pPr>
              <a:r>
                <a:rPr lang="en-US" sz="24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Edge Processing</a:t>
              </a:r>
              <a:endPara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" name="AutoShape 40"/>
          <p:cNvSpPr/>
          <p:nvPr/>
        </p:nvSpPr>
        <p:spPr>
          <a:xfrm>
            <a:off x="11144160" y="7559280"/>
            <a:ext cx="66672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" name="Group 41"/>
          <p:cNvGrpSpPr/>
          <p:nvPr/>
        </p:nvGrpSpPr>
        <p:grpSpPr>
          <a:xfrm>
            <a:off x="11906280" y="7059240"/>
            <a:ext cx="3809520" cy="956880"/>
            <a:chOff x="11906280" y="7059240"/>
            <a:chExt cx="3809520" cy="956880"/>
          </a:xfrm>
        </p:grpSpPr>
        <p:sp>
          <p:nvSpPr>
            <p:cNvPr id="120" name="Freeform 42"/>
            <p:cNvSpPr/>
            <p:nvPr/>
          </p:nvSpPr>
          <p:spPr>
            <a:xfrm>
              <a:off x="11906280" y="7102080"/>
              <a:ext cx="3809520" cy="91404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5080000" h="1219200">
                  <a:moveTo>
                    <a:pt x="127000" y="0"/>
                  </a:moveTo>
                  <a:lnTo>
                    <a:pt x="4953000" y="0"/>
                  </a:lnTo>
                  <a:cubicBezTo>
                    <a:pt x="5023140" y="0"/>
                    <a:pt x="5080000" y="56860"/>
                    <a:pt x="5080000" y="127000"/>
                  </a:cubicBezTo>
                  <a:lnTo>
                    <a:pt x="5080000" y="1092200"/>
                  </a:lnTo>
                  <a:cubicBezTo>
                    <a:pt x="5080000" y="1162340"/>
                    <a:pt x="5023140" y="1219200"/>
                    <a:pt x="4953000" y="1219200"/>
                  </a:cubicBezTo>
                  <a:lnTo>
                    <a:pt x="127000" y="1219200"/>
                  </a:lnTo>
                  <a:cubicBezTo>
                    <a:pt x="56860" y="1219200"/>
                    <a:pt x="0" y="1162340"/>
                    <a:pt x="0" y="10922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43"/>
            <p:cNvSpPr/>
            <p:nvPr/>
          </p:nvSpPr>
          <p:spPr>
            <a:xfrm>
              <a:off x="11906280" y="7059240"/>
              <a:ext cx="3809520" cy="95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3359"/>
                </a:lnSpc>
              </a:pPr>
              <a:r>
                <a:rPr lang="en-US" sz="24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Verified Output</a:t>
              </a:r>
              <a:endPara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123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125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6" name="Group 6"/>
          <p:cNvGrpSpPr/>
          <p:nvPr/>
        </p:nvGrpSpPr>
        <p:grpSpPr>
          <a:xfrm>
            <a:off x="1257120" y="547560"/>
            <a:ext cx="14642280" cy="1987920"/>
            <a:chOff x="1257120" y="547560"/>
            <a:chExt cx="14642280" cy="1987920"/>
          </a:xfrm>
        </p:grpSpPr>
        <p:sp>
          <p:nvSpPr>
            <p:cNvPr id="127" name="Freeform 7"/>
            <p:cNvSpPr/>
            <p:nvPr/>
          </p:nvSpPr>
          <p:spPr>
            <a:xfrm>
              <a:off x="1257120" y="547560"/>
              <a:ext cx="14642280" cy="1987920"/>
            </a:xfrm>
            <a:custGeom>
              <a:avLst/>
              <a:gdLst>
                <a:gd name="textAreaLeft" fmla="*/ 0 w 14642280"/>
                <a:gd name="textAreaRight" fmla="*/ 14642640 w 1464228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19523520" h="2651044">
                  <a:moveTo>
                    <a:pt x="0" y="0"/>
                  </a:moveTo>
                  <a:lnTo>
                    <a:pt x="19523520" y="0"/>
                  </a:lnTo>
                  <a:lnTo>
                    <a:pt x="1952352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Box 8"/>
            <p:cNvSpPr/>
            <p:nvPr/>
          </p:nvSpPr>
          <p:spPr>
            <a:xfrm>
              <a:off x="1257120" y="597600"/>
              <a:ext cx="14642280" cy="19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02  Motivation: Issues and Challenges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9" name="Group 9"/>
          <p:cNvGrpSpPr/>
          <p:nvPr/>
        </p:nvGrpSpPr>
        <p:grpSpPr>
          <a:xfrm>
            <a:off x="399960" y="9748800"/>
            <a:ext cx="3314160" cy="478440"/>
            <a:chOff x="399960" y="9748800"/>
            <a:chExt cx="3314160" cy="478440"/>
          </a:xfrm>
        </p:grpSpPr>
        <p:sp>
          <p:nvSpPr>
            <p:cNvPr id="130" name="Freeform 10"/>
            <p:cNvSpPr/>
            <p:nvPr/>
          </p:nvSpPr>
          <p:spPr>
            <a:xfrm>
              <a:off x="399960" y="9777240"/>
              <a:ext cx="3314160" cy="45000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50000"/>
                <a:gd name="textAreaBottom" fmla="*/ 450360 h 450000"/>
              </a:gdLst>
              <a:ahLst/>
              <a:cxnLst/>
              <a:rect l="textAreaLeft" t="textAreaTop" r="textAreaRight" b="textAreaBottom"/>
              <a:pathLst>
                <a:path w="4419360" h="600479">
                  <a:moveTo>
                    <a:pt x="0" y="0"/>
                  </a:moveTo>
                  <a:lnTo>
                    <a:pt x="4419360" y="0"/>
                  </a:lnTo>
                  <a:lnTo>
                    <a:pt x="4419360" y="600479"/>
                  </a:lnTo>
                  <a:lnTo>
                    <a:pt x="0" y="600479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TextBox 11"/>
            <p:cNvSpPr/>
            <p:nvPr/>
          </p:nvSpPr>
          <p:spPr>
            <a:xfrm>
              <a:off x="399960" y="9748800"/>
              <a:ext cx="3314160" cy="47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2" name="Group 12"/>
          <p:cNvGrpSpPr/>
          <p:nvPr/>
        </p:nvGrpSpPr>
        <p:grpSpPr>
          <a:xfrm>
            <a:off x="14411520" y="9651600"/>
            <a:ext cx="2969280" cy="575640"/>
            <a:chOff x="14411520" y="9651600"/>
            <a:chExt cx="2969280" cy="575640"/>
          </a:xfrm>
        </p:grpSpPr>
        <p:sp>
          <p:nvSpPr>
            <p:cNvPr id="133" name="Freeform 13"/>
            <p:cNvSpPr/>
            <p:nvPr/>
          </p:nvSpPr>
          <p:spPr>
            <a:xfrm>
              <a:off x="14411520" y="96800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TextBox 14"/>
            <p:cNvSpPr/>
            <p:nvPr/>
          </p:nvSpPr>
          <p:spPr>
            <a:xfrm>
              <a:off x="14411520" y="96516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3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5" name="Group 15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136" name="Freeform 16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TextBox 17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8" name="Group 18"/>
          <p:cNvGrpSpPr/>
          <p:nvPr/>
        </p:nvGrpSpPr>
        <p:grpSpPr>
          <a:xfrm>
            <a:off x="1352520" y="2828880"/>
            <a:ext cx="7600680" cy="1285920"/>
            <a:chOff x="1352520" y="2828880"/>
            <a:chExt cx="7600680" cy="1285920"/>
          </a:xfrm>
        </p:grpSpPr>
        <p:sp>
          <p:nvSpPr>
            <p:cNvPr id="139" name="Freeform 19"/>
            <p:cNvSpPr/>
            <p:nvPr/>
          </p:nvSpPr>
          <p:spPr>
            <a:xfrm>
              <a:off x="1352520" y="2857680"/>
              <a:ext cx="7600680" cy="1257120"/>
            </a:xfrm>
            <a:custGeom>
              <a:avLst/>
              <a:gdLst>
                <a:gd name="textAreaLeft" fmla="*/ 0 w 7600680"/>
                <a:gd name="textAreaRight" fmla="*/ 7601040 w 7600680"/>
                <a:gd name="textAreaTop" fmla="*/ 0 h 1257120"/>
                <a:gd name="textAreaBottom" fmla="*/ 1257480 h 1257120"/>
              </a:gdLst>
              <a:ahLst/>
              <a:cxnLst/>
              <a:rect l="textAreaLeft" t="textAreaTop" r="textAreaRight" b="textAreaBottom"/>
              <a:pathLst>
                <a:path w="10134600" h="1676400">
                  <a:moveTo>
                    <a:pt x="127000" y="0"/>
                  </a:moveTo>
                  <a:lnTo>
                    <a:pt x="10007600" y="0"/>
                  </a:lnTo>
                  <a:cubicBezTo>
                    <a:pt x="10077740" y="0"/>
                    <a:pt x="10134600" y="56860"/>
                    <a:pt x="10134600" y="127000"/>
                  </a:cubicBezTo>
                  <a:lnTo>
                    <a:pt x="10134600" y="1549400"/>
                  </a:lnTo>
                  <a:cubicBezTo>
                    <a:pt x="10134600" y="1619540"/>
                    <a:pt x="10077740" y="1676400"/>
                    <a:pt x="10007600" y="1676400"/>
                  </a:cubicBezTo>
                  <a:lnTo>
                    <a:pt x="127000" y="1676400"/>
                  </a:lnTo>
                  <a:cubicBezTo>
                    <a:pt x="56860" y="1676400"/>
                    <a:pt x="0" y="1619540"/>
                    <a:pt x="0" y="1549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TextBox 20"/>
            <p:cNvSpPr/>
            <p:nvPr/>
          </p:nvSpPr>
          <p:spPr>
            <a:xfrm>
              <a:off x="1352520" y="2828880"/>
              <a:ext cx="7600680" cy="12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1" name="TextBox 21"/>
          <p:cNvSpPr/>
          <p:nvPr/>
        </p:nvSpPr>
        <p:spPr>
          <a:xfrm>
            <a:off x="1562040" y="2971800"/>
            <a:ext cx="71816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Vernacular coverage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2"/>
          <p:cNvSpPr/>
          <p:nvPr/>
        </p:nvSpPr>
        <p:spPr>
          <a:xfrm>
            <a:off x="1562040" y="3390840"/>
            <a:ext cx="7181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standard speech systems are not reliable for low-resource Chhattisgarhi usage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3" name="Group 23"/>
          <p:cNvGrpSpPr/>
          <p:nvPr/>
        </p:nvGrpSpPr>
        <p:grpSpPr>
          <a:xfrm>
            <a:off x="9334440" y="2828880"/>
            <a:ext cx="7600680" cy="1285920"/>
            <a:chOff x="9334440" y="2828880"/>
            <a:chExt cx="7600680" cy="1285920"/>
          </a:xfrm>
        </p:grpSpPr>
        <p:sp>
          <p:nvSpPr>
            <p:cNvPr id="144" name="Freeform 24"/>
            <p:cNvSpPr/>
            <p:nvPr/>
          </p:nvSpPr>
          <p:spPr>
            <a:xfrm>
              <a:off x="9334440" y="2857680"/>
              <a:ext cx="7600680" cy="1257120"/>
            </a:xfrm>
            <a:custGeom>
              <a:avLst/>
              <a:gdLst>
                <a:gd name="textAreaLeft" fmla="*/ 0 w 7600680"/>
                <a:gd name="textAreaRight" fmla="*/ 7601040 w 7600680"/>
                <a:gd name="textAreaTop" fmla="*/ 0 h 1257120"/>
                <a:gd name="textAreaBottom" fmla="*/ 1257480 h 1257120"/>
              </a:gdLst>
              <a:ahLst/>
              <a:cxnLst/>
              <a:rect l="textAreaLeft" t="textAreaTop" r="textAreaRight" b="textAreaBottom"/>
              <a:pathLst>
                <a:path w="10134600" h="1676400">
                  <a:moveTo>
                    <a:pt x="127000" y="0"/>
                  </a:moveTo>
                  <a:lnTo>
                    <a:pt x="10007600" y="0"/>
                  </a:lnTo>
                  <a:cubicBezTo>
                    <a:pt x="10077740" y="0"/>
                    <a:pt x="10134600" y="56860"/>
                    <a:pt x="10134600" y="127000"/>
                  </a:cubicBezTo>
                  <a:lnTo>
                    <a:pt x="10134600" y="1549400"/>
                  </a:lnTo>
                  <a:cubicBezTo>
                    <a:pt x="10134600" y="1619540"/>
                    <a:pt x="10077740" y="1676400"/>
                    <a:pt x="10007600" y="1676400"/>
                  </a:cubicBezTo>
                  <a:lnTo>
                    <a:pt x="127000" y="1676400"/>
                  </a:lnTo>
                  <a:cubicBezTo>
                    <a:pt x="56860" y="1676400"/>
                    <a:pt x="0" y="1619540"/>
                    <a:pt x="0" y="1549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TextBox 25"/>
            <p:cNvSpPr/>
            <p:nvPr/>
          </p:nvSpPr>
          <p:spPr>
            <a:xfrm>
              <a:off x="9334440" y="2828880"/>
              <a:ext cx="7600680" cy="12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6" name="TextBox 26"/>
          <p:cNvSpPr/>
          <p:nvPr/>
        </p:nvSpPr>
        <p:spPr>
          <a:xfrm>
            <a:off x="9543960" y="2971800"/>
            <a:ext cx="71816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Cloud dependence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7"/>
          <p:cNvSpPr/>
          <p:nvPr/>
        </p:nvSpPr>
        <p:spPr>
          <a:xfrm>
            <a:off x="9543960" y="3349080"/>
            <a:ext cx="7181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off-device APIs create privacy, connectivity and recurring-cost concerns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" name="Group 28"/>
          <p:cNvGrpSpPr/>
          <p:nvPr/>
        </p:nvGrpSpPr>
        <p:grpSpPr>
          <a:xfrm>
            <a:off x="1352520" y="4334040"/>
            <a:ext cx="7600680" cy="1285560"/>
            <a:chOff x="1352520" y="4334040"/>
            <a:chExt cx="7600680" cy="1285560"/>
          </a:xfrm>
        </p:grpSpPr>
        <p:sp>
          <p:nvSpPr>
            <p:cNvPr id="149" name="Freeform 29"/>
            <p:cNvSpPr/>
            <p:nvPr/>
          </p:nvSpPr>
          <p:spPr>
            <a:xfrm>
              <a:off x="1352520" y="4362480"/>
              <a:ext cx="7600680" cy="1257120"/>
            </a:xfrm>
            <a:custGeom>
              <a:avLst/>
              <a:gdLst>
                <a:gd name="textAreaLeft" fmla="*/ 0 w 7600680"/>
                <a:gd name="textAreaRight" fmla="*/ 7601040 w 7600680"/>
                <a:gd name="textAreaTop" fmla="*/ 0 h 1257120"/>
                <a:gd name="textAreaBottom" fmla="*/ 1257480 h 1257120"/>
              </a:gdLst>
              <a:ahLst/>
              <a:cxnLst/>
              <a:rect l="textAreaLeft" t="textAreaTop" r="textAreaRight" b="textAreaBottom"/>
              <a:pathLst>
                <a:path w="10134600" h="1676400">
                  <a:moveTo>
                    <a:pt x="127000" y="0"/>
                  </a:moveTo>
                  <a:lnTo>
                    <a:pt x="10007600" y="0"/>
                  </a:lnTo>
                  <a:cubicBezTo>
                    <a:pt x="10077740" y="0"/>
                    <a:pt x="10134600" y="56860"/>
                    <a:pt x="10134600" y="127000"/>
                  </a:cubicBezTo>
                  <a:lnTo>
                    <a:pt x="10134600" y="1549400"/>
                  </a:lnTo>
                  <a:cubicBezTo>
                    <a:pt x="10134600" y="1619540"/>
                    <a:pt x="10077740" y="1676400"/>
                    <a:pt x="10007600" y="1676400"/>
                  </a:cubicBezTo>
                  <a:lnTo>
                    <a:pt x="127000" y="1676400"/>
                  </a:lnTo>
                  <a:cubicBezTo>
                    <a:pt x="56860" y="1676400"/>
                    <a:pt x="0" y="1619540"/>
                    <a:pt x="0" y="1549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TextBox 30"/>
            <p:cNvSpPr/>
            <p:nvPr/>
          </p:nvSpPr>
          <p:spPr>
            <a:xfrm>
              <a:off x="1352520" y="4334040"/>
              <a:ext cx="7600680" cy="12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51" name="TextBox 31"/>
          <p:cNvSpPr/>
          <p:nvPr/>
        </p:nvSpPr>
        <p:spPr>
          <a:xfrm>
            <a:off x="1562040" y="4476600"/>
            <a:ext cx="71816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Numerical factuality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2"/>
          <p:cNvSpPr/>
          <p:nvPr/>
        </p:nvSpPr>
        <p:spPr>
          <a:xfrm>
            <a:off x="1562040" y="4918680"/>
            <a:ext cx="7181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dense vector retrieval can confuse ranks, rounds, branches and policy values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" name="Group 33"/>
          <p:cNvGrpSpPr/>
          <p:nvPr/>
        </p:nvGrpSpPr>
        <p:grpSpPr>
          <a:xfrm>
            <a:off x="9334440" y="4334040"/>
            <a:ext cx="7600680" cy="1285560"/>
            <a:chOff x="9334440" y="4334040"/>
            <a:chExt cx="7600680" cy="1285560"/>
          </a:xfrm>
        </p:grpSpPr>
        <p:sp>
          <p:nvSpPr>
            <p:cNvPr id="154" name="Freeform 34"/>
            <p:cNvSpPr/>
            <p:nvPr/>
          </p:nvSpPr>
          <p:spPr>
            <a:xfrm>
              <a:off x="9334440" y="4362480"/>
              <a:ext cx="7600680" cy="1257120"/>
            </a:xfrm>
            <a:custGeom>
              <a:avLst/>
              <a:gdLst>
                <a:gd name="textAreaLeft" fmla="*/ 0 w 7600680"/>
                <a:gd name="textAreaRight" fmla="*/ 7601040 w 7600680"/>
                <a:gd name="textAreaTop" fmla="*/ 0 h 1257120"/>
                <a:gd name="textAreaBottom" fmla="*/ 1257480 h 1257120"/>
              </a:gdLst>
              <a:ahLst/>
              <a:cxnLst/>
              <a:rect l="textAreaLeft" t="textAreaTop" r="textAreaRight" b="textAreaBottom"/>
              <a:pathLst>
                <a:path w="10134600" h="1676400">
                  <a:moveTo>
                    <a:pt x="127000" y="0"/>
                  </a:moveTo>
                  <a:lnTo>
                    <a:pt x="10007600" y="0"/>
                  </a:lnTo>
                  <a:cubicBezTo>
                    <a:pt x="10077740" y="0"/>
                    <a:pt x="10134600" y="56860"/>
                    <a:pt x="10134600" y="127000"/>
                  </a:cubicBezTo>
                  <a:lnTo>
                    <a:pt x="10134600" y="1549400"/>
                  </a:lnTo>
                  <a:cubicBezTo>
                    <a:pt x="10134600" y="1619540"/>
                    <a:pt x="10077740" y="1676400"/>
                    <a:pt x="10007600" y="1676400"/>
                  </a:cubicBezTo>
                  <a:lnTo>
                    <a:pt x="127000" y="1676400"/>
                  </a:lnTo>
                  <a:cubicBezTo>
                    <a:pt x="56860" y="1676400"/>
                    <a:pt x="0" y="1619540"/>
                    <a:pt x="0" y="1549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Box 35"/>
            <p:cNvSpPr/>
            <p:nvPr/>
          </p:nvSpPr>
          <p:spPr>
            <a:xfrm>
              <a:off x="9334440" y="4334040"/>
              <a:ext cx="7600680" cy="12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56" name="TextBox 36"/>
          <p:cNvSpPr/>
          <p:nvPr/>
        </p:nvSpPr>
        <p:spPr>
          <a:xfrm>
            <a:off x="9543960" y="4476600"/>
            <a:ext cx="71816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Edge constraints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7"/>
          <p:cNvSpPr/>
          <p:nvPr/>
        </p:nvSpPr>
        <p:spPr>
          <a:xfrm>
            <a:off x="9543960" y="4918680"/>
            <a:ext cx="7181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the 9B model is partly CPU-offloaded — the desktop already uses about 2.7 GB of the 8 GB GPU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8" name="Group 38"/>
          <p:cNvGrpSpPr/>
          <p:nvPr/>
        </p:nvGrpSpPr>
        <p:grpSpPr>
          <a:xfrm>
            <a:off x="1352520" y="5838840"/>
            <a:ext cx="7600680" cy="1285560"/>
            <a:chOff x="1352520" y="5838840"/>
            <a:chExt cx="7600680" cy="1285560"/>
          </a:xfrm>
        </p:grpSpPr>
        <p:sp>
          <p:nvSpPr>
            <p:cNvPr id="159" name="Freeform 39"/>
            <p:cNvSpPr/>
            <p:nvPr/>
          </p:nvSpPr>
          <p:spPr>
            <a:xfrm>
              <a:off x="1352520" y="5867280"/>
              <a:ext cx="7600680" cy="1257120"/>
            </a:xfrm>
            <a:custGeom>
              <a:avLst/>
              <a:gdLst>
                <a:gd name="textAreaLeft" fmla="*/ 0 w 7600680"/>
                <a:gd name="textAreaRight" fmla="*/ 7601040 w 7600680"/>
                <a:gd name="textAreaTop" fmla="*/ 0 h 1257120"/>
                <a:gd name="textAreaBottom" fmla="*/ 1257480 h 1257120"/>
              </a:gdLst>
              <a:ahLst/>
              <a:cxnLst/>
              <a:rect l="textAreaLeft" t="textAreaTop" r="textAreaRight" b="textAreaBottom"/>
              <a:pathLst>
                <a:path w="10134600" h="1676400">
                  <a:moveTo>
                    <a:pt x="127000" y="0"/>
                  </a:moveTo>
                  <a:lnTo>
                    <a:pt x="10007600" y="0"/>
                  </a:lnTo>
                  <a:cubicBezTo>
                    <a:pt x="10077740" y="0"/>
                    <a:pt x="10134600" y="56860"/>
                    <a:pt x="10134600" y="127000"/>
                  </a:cubicBezTo>
                  <a:lnTo>
                    <a:pt x="10134600" y="1549400"/>
                  </a:lnTo>
                  <a:cubicBezTo>
                    <a:pt x="10134600" y="1619540"/>
                    <a:pt x="10077740" y="1676400"/>
                    <a:pt x="10007600" y="1676400"/>
                  </a:cubicBezTo>
                  <a:lnTo>
                    <a:pt x="127000" y="1676400"/>
                  </a:lnTo>
                  <a:cubicBezTo>
                    <a:pt x="56860" y="1676400"/>
                    <a:pt x="0" y="1619540"/>
                    <a:pt x="0" y="1549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TextBox 40"/>
            <p:cNvSpPr/>
            <p:nvPr/>
          </p:nvSpPr>
          <p:spPr>
            <a:xfrm>
              <a:off x="1352520" y="5838840"/>
              <a:ext cx="7600680" cy="12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61" name="TextBox 41"/>
          <p:cNvSpPr/>
          <p:nvPr/>
        </p:nvSpPr>
        <p:spPr>
          <a:xfrm>
            <a:off x="1562040" y="5981760"/>
            <a:ext cx="718164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Sequential latency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42"/>
          <p:cNvSpPr/>
          <p:nvPr/>
        </p:nvSpPr>
        <p:spPr>
          <a:xfrm>
            <a:off x="1562040" y="6425640"/>
            <a:ext cx="7181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turns run routing, generation and review in sequence; retrieval itself is only about 50 ms at the median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3" name="Group 43"/>
          <p:cNvGrpSpPr/>
          <p:nvPr/>
        </p:nvGrpSpPr>
        <p:grpSpPr>
          <a:xfrm>
            <a:off x="1352520" y="7417440"/>
            <a:ext cx="15582600" cy="777600"/>
            <a:chOff x="1352520" y="7417440"/>
            <a:chExt cx="15582600" cy="777600"/>
          </a:xfrm>
        </p:grpSpPr>
        <p:sp>
          <p:nvSpPr>
            <p:cNvPr id="164" name="Freeform 44"/>
            <p:cNvSpPr/>
            <p:nvPr/>
          </p:nvSpPr>
          <p:spPr>
            <a:xfrm>
              <a:off x="1352520" y="7467480"/>
              <a:ext cx="15582600" cy="727560"/>
            </a:xfrm>
            <a:custGeom>
              <a:avLst/>
              <a:gdLst>
                <a:gd name="textAreaLeft" fmla="*/ 0 w 15582600"/>
                <a:gd name="textAreaRight" fmla="*/ 15582960 w 15582600"/>
                <a:gd name="textAreaTop" fmla="*/ 0 h 727560"/>
                <a:gd name="textAreaBottom" fmla="*/ 727920 h 727560"/>
              </a:gdLst>
              <a:ahLst/>
              <a:cxnLst/>
              <a:rect l="textAreaLeft" t="textAreaTop" r="textAreaRight" b="textAreaBottom"/>
              <a:pathLst>
                <a:path w="20777200" h="970659">
                  <a:moveTo>
                    <a:pt x="127000" y="0"/>
                  </a:moveTo>
                  <a:lnTo>
                    <a:pt x="20650200" y="0"/>
                  </a:lnTo>
                  <a:cubicBezTo>
                    <a:pt x="20720340" y="0"/>
                    <a:pt x="20777200" y="60358"/>
                    <a:pt x="20777200" y="134814"/>
                  </a:cubicBezTo>
                  <a:lnTo>
                    <a:pt x="20777200" y="835845"/>
                  </a:lnTo>
                  <a:cubicBezTo>
                    <a:pt x="20777200" y="910301"/>
                    <a:pt x="20720340" y="970659"/>
                    <a:pt x="20650200" y="970659"/>
                  </a:cubicBezTo>
                  <a:lnTo>
                    <a:pt x="127000" y="970659"/>
                  </a:lnTo>
                  <a:cubicBezTo>
                    <a:pt x="56860" y="970659"/>
                    <a:pt x="0" y="910301"/>
                    <a:pt x="0" y="835845"/>
                  </a:cubicBezTo>
                  <a:lnTo>
                    <a:pt x="0" y="134814"/>
                  </a:lnTo>
                  <a:cubicBezTo>
                    <a:pt x="0" y="60358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TextBox 45"/>
            <p:cNvSpPr/>
            <p:nvPr/>
          </p:nvSpPr>
          <p:spPr>
            <a:xfrm>
              <a:off x="1352520" y="7417440"/>
              <a:ext cx="15582600" cy="77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7840" tIns="177840" rIns="177840" bIns="177840" anchor="ctr">
              <a:noAutofit/>
            </a:bodyPr>
            <a:p>
              <a:pPr algn="ctr" defTabSz="914400">
                <a:lnSpc>
                  <a:spcPts val="3220"/>
                </a:lnSpc>
              </a:pPr>
              <a:r>
                <a:rPr lang="en-US" sz="2300" b="1" u="none" strike="noStrike">
                  <a:solidFill>
                    <a:srgbClr val="FFFFFF"/>
                  </a:solidFill>
                  <a:effectLst/>
                  <a:uFillTx/>
                  <a:latin typeface="Arimo Bold"/>
                  <a:ea typeface="Arimo Bold"/>
                </a:rPr>
                <a:t>The project targets reliable voice interaction under language, hardware, privacy and latency constraints.</a:t>
              </a:r>
              <a:endParaRPr lang="en-IN" sz="2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167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8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169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0" name="Group 6"/>
          <p:cNvGrpSpPr/>
          <p:nvPr/>
        </p:nvGrpSpPr>
        <p:grpSpPr>
          <a:xfrm>
            <a:off x="1257120" y="547560"/>
            <a:ext cx="14642280" cy="1987920"/>
            <a:chOff x="1257120" y="547560"/>
            <a:chExt cx="14642280" cy="1987920"/>
          </a:xfrm>
        </p:grpSpPr>
        <p:sp>
          <p:nvSpPr>
            <p:cNvPr id="171" name="Freeform 7"/>
            <p:cNvSpPr/>
            <p:nvPr/>
          </p:nvSpPr>
          <p:spPr>
            <a:xfrm>
              <a:off x="1257120" y="547560"/>
              <a:ext cx="14642280" cy="1987920"/>
            </a:xfrm>
            <a:custGeom>
              <a:avLst/>
              <a:gdLst>
                <a:gd name="textAreaLeft" fmla="*/ 0 w 14642280"/>
                <a:gd name="textAreaRight" fmla="*/ 14642640 w 1464228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19523520" h="2651044">
                  <a:moveTo>
                    <a:pt x="0" y="0"/>
                  </a:moveTo>
                  <a:lnTo>
                    <a:pt x="19523520" y="0"/>
                  </a:lnTo>
                  <a:lnTo>
                    <a:pt x="1952352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TextBox 8"/>
            <p:cNvSpPr/>
            <p:nvPr/>
          </p:nvSpPr>
          <p:spPr>
            <a:xfrm>
              <a:off x="1257120" y="561960"/>
              <a:ext cx="14642280" cy="197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047"/>
                </a:lnSpc>
                <a:tabLst>
                  <a:tab pos="0" algn="l"/>
                </a:tabLst>
              </a:pPr>
              <a:r>
                <a:rPr lang="en-US" sz="6600" b="1" u="none" spc="-11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03  Literature Review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3" name="Group 9"/>
          <p:cNvGrpSpPr/>
          <p:nvPr/>
        </p:nvGrpSpPr>
        <p:grpSpPr>
          <a:xfrm>
            <a:off x="399960" y="9762840"/>
            <a:ext cx="3314160" cy="464400"/>
            <a:chOff x="399960" y="9762840"/>
            <a:chExt cx="3314160" cy="464400"/>
          </a:xfrm>
        </p:grpSpPr>
        <p:sp>
          <p:nvSpPr>
            <p:cNvPr id="174" name="Freeform 10"/>
            <p:cNvSpPr/>
            <p:nvPr/>
          </p:nvSpPr>
          <p:spPr>
            <a:xfrm>
              <a:off x="399960" y="9777240"/>
              <a:ext cx="3314160" cy="45000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50000"/>
                <a:gd name="textAreaBottom" fmla="*/ 450360 h 450000"/>
              </a:gdLst>
              <a:ahLst/>
              <a:cxnLst/>
              <a:rect l="textAreaLeft" t="textAreaTop" r="textAreaRight" b="textAreaBottom"/>
              <a:pathLst>
                <a:path w="4419360" h="600479">
                  <a:moveTo>
                    <a:pt x="0" y="0"/>
                  </a:moveTo>
                  <a:lnTo>
                    <a:pt x="4419360" y="0"/>
                  </a:lnTo>
                  <a:lnTo>
                    <a:pt x="4419360" y="600479"/>
                  </a:lnTo>
                  <a:lnTo>
                    <a:pt x="0" y="600479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TextBox 11"/>
            <p:cNvSpPr/>
            <p:nvPr/>
          </p:nvSpPr>
          <p:spPr>
            <a:xfrm>
              <a:off x="399960" y="9762840"/>
              <a:ext cx="3314160" cy="46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44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6" name="Group 12"/>
          <p:cNvGrpSpPr/>
          <p:nvPr/>
        </p:nvGrpSpPr>
        <p:grpSpPr>
          <a:xfrm>
            <a:off x="14411520" y="9665640"/>
            <a:ext cx="2969280" cy="561600"/>
            <a:chOff x="14411520" y="9665640"/>
            <a:chExt cx="2969280" cy="561600"/>
          </a:xfrm>
        </p:grpSpPr>
        <p:sp>
          <p:nvSpPr>
            <p:cNvPr id="177" name="Freeform 13"/>
            <p:cNvSpPr/>
            <p:nvPr/>
          </p:nvSpPr>
          <p:spPr>
            <a:xfrm>
              <a:off x="14411520" y="96800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TextBox 14"/>
            <p:cNvSpPr/>
            <p:nvPr/>
          </p:nvSpPr>
          <p:spPr>
            <a:xfrm>
              <a:off x="14411520" y="9665640"/>
              <a:ext cx="296892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144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4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9" name="Group 15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180" name="Freeform 16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TextBox 17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681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2" name="Group 18"/>
          <p:cNvGrpSpPr/>
          <p:nvPr/>
        </p:nvGrpSpPr>
        <p:grpSpPr>
          <a:xfrm>
            <a:off x="1352520" y="2821680"/>
            <a:ext cx="3142800" cy="593640"/>
            <a:chOff x="1352520" y="2821680"/>
            <a:chExt cx="3142800" cy="593640"/>
          </a:xfrm>
        </p:grpSpPr>
        <p:sp>
          <p:nvSpPr>
            <p:cNvPr id="183" name="Freeform 19"/>
            <p:cNvSpPr/>
            <p:nvPr/>
          </p:nvSpPr>
          <p:spPr>
            <a:xfrm>
              <a:off x="1352520" y="2857680"/>
              <a:ext cx="3142800" cy="55764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557640"/>
                <a:gd name="textAreaBottom" fmla="*/ 558000 h 557640"/>
              </a:gdLst>
              <a:ahLst/>
              <a:cxnLst/>
              <a:rect l="textAreaLeft" t="textAreaTop" r="textAreaRight" b="textAreaBottom"/>
              <a:pathLst>
                <a:path w="4191000" h="744108">
                  <a:moveTo>
                    <a:pt x="0" y="0"/>
                  </a:moveTo>
                  <a:lnTo>
                    <a:pt x="4191000" y="0"/>
                  </a:lnTo>
                  <a:lnTo>
                    <a:pt x="4191000" y="744108"/>
                  </a:lnTo>
                  <a:lnTo>
                    <a:pt x="0" y="744108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TextBox 20"/>
            <p:cNvSpPr/>
            <p:nvPr/>
          </p:nvSpPr>
          <p:spPr>
            <a:xfrm>
              <a:off x="1352520" y="2821680"/>
              <a:ext cx="3142800" cy="59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1520" tIns="101520" rIns="101520" bIns="101520" anchor="ctr">
              <a:noAutofit/>
            </a:bodyPr>
            <a:p>
              <a:pPr algn="ctr" defTabSz="914400">
                <a:lnSpc>
                  <a:spcPts val="2801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mo Bold"/>
                  <a:ea typeface="Arimo Bold"/>
                </a:rPr>
                <a:t>Work</a:t>
              </a:r>
              <a:endPara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5" name="Group 21"/>
          <p:cNvGrpSpPr/>
          <p:nvPr/>
        </p:nvGrpSpPr>
        <p:grpSpPr>
          <a:xfrm>
            <a:off x="4495680" y="2821680"/>
            <a:ext cx="3142800" cy="593640"/>
            <a:chOff x="4495680" y="2821680"/>
            <a:chExt cx="3142800" cy="593640"/>
          </a:xfrm>
        </p:grpSpPr>
        <p:sp>
          <p:nvSpPr>
            <p:cNvPr id="186" name="Freeform 22"/>
            <p:cNvSpPr/>
            <p:nvPr/>
          </p:nvSpPr>
          <p:spPr>
            <a:xfrm>
              <a:off x="4495680" y="2857680"/>
              <a:ext cx="3142800" cy="55764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557640"/>
                <a:gd name="textAreaBottom" fmla="*/ 558000 h 557640"/>
              </a:gdLst>
              <a:ahLst/>
              <a:cxnLst/>
              <a:rect l="textAreaLeft" t="textAreaTop" r="textAreaRight" b="textAreaBottom"/>
              <a:pathLst>
                <a:path w="4191000" h="744108">
                  <a:moveTo>
                    <a:pt x="0" y="0"/>
                  </a:moveTo>
                  <a:lnTo>
                    <a:pt x="4191000" y="0"/>
                  </a:lnTo>
                  <a:lnTo>
                    <a:pt x="4191000" y="744108"/>
                  </a:lnTo>
                  <a:lnTo>
                    <a:pt x="0" y="744108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TextBox 23"/>
            <p:cNvSpPr/>
            <p:nvPr/>
          </p:nvSpPr>
          <p:spPr>
            <a:xfrm>
              <a:off x="4495680" y="2821680"/>
              <a:ext cx="3142800" cy="59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1520" tIns="101520" rIns="101520" bIns="101520" anchor="ctr">
              <a:noAutofit/>
            </a:bodyPr>
            <a:p>
              <a:pPr algn="ctr" defTabSz="914400">
                <a:lnSpc>
                  <a:spcPts val="2801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mo Bold"/>
                  <a:ea typeface="Arimo Bold"/>
                </a:rPr>
                <a:t>Main technique</a:t>
              </a:r>
              <a:endPara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8" name="Group 24"/>
          <p:cNvGrpSpPr/>
          <p:nvPr/>
        </p:nvGrpSpPr>
        <p:grpSpPr>
          <a:xfrm>
            <a:off x="7639200" y="2821680"/>
            <a:ext cx="3809520" cy="593640"/>
            <a:chOff x="7639200" y="2821680"/>
            <a:chExt cx="3809520" cy="593640"/>
          </a:xfrm>
        </p:grpSpPr>
        <p:sp>
          <p:nvSpPr>
            <p:cNvPr id="189" name="Freeform 25"/>
            <p:cNvSpPr/>
            <p:nvPr/>
          </p:nvSpPr>
          <p:spPr>
            <a:xfrm>
              <a:off x="7639200" y="2857680"/>
              <a:ext cx="3809520" cy="55764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557640"/>
                <a:gd name="textAreaBottom" fmla="*/ 558000 h 557640"/>
              </a:gdLst>
              <a:ahLst/>
              <a:cxnLst/>
              <a:rect l="textAreaLeft" t="textAreaTop" r="textAreaRight" b="textAreaBottom"/>
              <a:pathLst>
                <a:path w="5080000" h="744108">
                  <a:moveTo>
                    <a:pt x="0" y="0"/>
                  </a:moveTo>
                  <a:lnTo>
                    <a:pt x="5080000" y="0"/>
                  </a:lnTo>
                  <a:lnTo>
                    <a:pt x="5080000" y="744108"/>
                  </a:lnTo>
                  <a:lnTo>
                    <a:pt x="0" y="744108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TextBox 26"/>
            <p:cNvSpPr/>
            <p:nvPr/>
          </p:nvSpPr>
          <p:spPr>
            <a:xfrm>
              <a:off x="7639200" y="2821680"/>
              <a:ext cx="3809520" cy="59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1520" tIns="101520" rIns="101520" bIns="101520" anchor="ctr">
              <a:noAutofit/>
            </a:bodyPr>
            <a:p>
              <a:pPr algn="ctr" defTabSz="914400">
                <a:lnSpc>
                  <a:spcPts val="2801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mo Bold"/>
                  <a:ea typeface="Arimo Bold"/>
                </a:rPr>
                <a:t>Relevance to this project</a:t>
              </a:r>
              <a:endPara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1" name="Group 27"/>
          <p:cNvGrpSpPr/>
          <p:nvPr/>
        </p:nvGrpSpPr>
        <p:grpSpPr>
          <a:xfrm>
            <a:off x="11449080" y="2821680"/>
            <a:ext cx="5486040" cy="593640"/>
            <a:chOff x="11449080" y="2821680"/>
            <a:chExt cx="5486040" cy="593640"/>
          </a:xfrm>
        </p:grpSpPr>
        <p:sp>
          <p:nvSpPr>
            <p:cNvPr id="192" name="Freeform 28"/>
            <p:cNvSpPr/>
            <p:nvPr/>
          </p:nvSpPr>
          <p:spPr>
            <a:xfrm>
              <a:off x="11449080" y="2857680"/>
              <a:ext cx="5486040" cy="55764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557640"/>
                <a:gd name="textAreaBottom" fmla="*/ 558000 h 557640"/>
              </a:gdLst>
              <a:ahLst/>
              <a:cxnLst/>
              <a:rect l="textAreaLeft" t="textAreaTop" r="textAreaRight" b="textAreaBottom"/>
              <a:pathLst>
                <a:path w="7315200" h="744108">
                  <a:moveTo>
                    <a:pt x="0" y="0"/>
                  </a:moveTo>
                  <a:lnTo>
                    <a:pt x="7315200" y="0"/>
                  </a:lnTo>
                  <a:lnTo>
                    <a:pt x="7315200" y="744108"/>
                  </a:lnTo>
                  <a:lnTo>
                    <a:pt x="0" y="744108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TextBox 29"/>
            <p:cNvSpPr/>
            <p:nvPr/>
          </p:nvSpPr>
          <p:spPr>
            <a:xfrm>
              <a:off x="11449080" y="2821680"/>
              <a:ext cx="5486040" cy="59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1520" tIns="101520" rIns="101520" bIns="101520" anchor="ctr">
              <a:noAutofit/>
            </a:bodyPr>
            <a:p>
              <a:pPr algn="ctr" defTabSz="914400">
                <a:lnSpc>
                  <a:spcPts val="2801"/>
                </a:lnSpc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Arimo Bold"/>
                  <a:ea typeface="Arimo Bold"/>
                </a:rPr>
                <a:t>Limitation / adaptation</a:t>
              </a:r>
              <a:endPara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4" name="Group 30"/>
          <p:cNvGrpSpPr/>
          <p:nvPr/>
        </p:nvGrpSpPr>
        <p:grpSpPr>
          <a:xfrm>
            <a:off x="1352520" y="3309840"/>
            <a:ext cx="3142800" cy="747360"/>
            <a:chOff x="1352520" y="3309840"/>
            <a:chExt cx="3142800" cy="747360"/>
          </a:xfrm>
        </p:grpSpPr>
        <p:sp>
          <p:nvSpPr>
            <p:cNvPr id="195" name="Freeform 31"/>
            <p:cNvSpPr/>
            <p:nvPr/>
          </p:nvSpPr>
          <p:spPr>
            <a:xfrm>
              <a:off x="1352520" y="335268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Box 32"/>
            <p:cNvSpPr/>
            <p:nvPr/>
          </p:nvSpPr>
          <p:spPr>
            <a:xfrm>
              <a:off x="1352520" y="330984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VITS (Kim et al., ICML 2021)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" name="Group 33"/>
          <p:cNvGrpSpPr/>
          <p:nvPr/>
        </p:nvGrpSpPr>
        <p:grpSpPr>
          <a:xfrm>
            <a:off x="4495680" y="3309840"/>
            <a:ext cx="3142800" cy="747360"/>
            <a:chOff x="4495680" y="3309840"/>
            <a:chExt cx="3142800" cy="747360"/>
          </a:xfrm>
        </p:grpSpPr>
        <p:sp>
          <p:nvSpPr>
            <p:cNvPr id="198" name="Freeform 34"/>
            <p:cNvSpPr/>
            <p:nvPr/>
          </p:nvSpPr>
          <p:spPr>
            <a:xfrm>
              <a:off x="4495680" y="335268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TextBox 35"/>
            <p:cNvSpPr/>
            <p:nvPr/>
          </p:nvSpPr>
          <p:spPr>
            <a:xfrm>
              <a:off x="4495680" y="330984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End-to-end neural TTS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0" name="Group 36"/>
          <p:cNvGrpSpPr/>
          <p:nvPr/>
        </p:nvGrpSpPr>
        <p:grpSpPr>
          <a:xfrm>
            <a:off x="7639200" y="3309840"/>
            <a:ext cx="3809520" cy="747360"/>
            <a:chOff x="7639200" y="3309840"/>
            <a:chExt cx="3809520" cy="747360"/>
          </a:xfrm>
        </p:grpSpPr>
        <p:sp>
          <p:nvSpPr>
            <p:cNvPr id="201" name="Freeform 37"/>
            <p:cNvSpPr/>
            <p:nvPr/>
          </p:nvSpPr>
          <p:spPr>
            <a:xfrm>
              <a:off x="7639200" y="335268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TextBox 38"/>
            <p:cNvSpPr/>
            <p:nvPr/>
          </p:nvSpPr>
          <p:spPr>
            <a:xfrm>
              <a:off x="7639200" y="330984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Local speech synthesis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" name="Group 39"/>
          <p:cNvGrpSpPr/>
          <p:nvPr/>
        </p:nvGrpSpPr>
        <p:grpSpPr>
          <a:xfrm>
            <a:off x="11449080" y="3309840"/>
            <a:ext cx="5486040" cy="928800"/>
            <a:chOff x="11449080" y="3309840"/>
            <a:chExt cx="5486040" cy="928800"/>
          </a:xfrm>
        </p:grpSpPr>
        <p:sp>
          <p:nvSpPr>
            <p:cNvPr id="204" name="Freeform 40"/>
            <p:cNvSpPr/>
            <p:nvPr/>
          </p:nvSpPr>
          <p:spPr>
            <a:xfrm>
              <a:off x="11449080" y="3352680"/>
              <a:ext cx="5486040" cy="88560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7315200" h="1181507">
                  <a:moveTo>
                    <a:pt x="0" y="0"/>
                  </a:moveTo>
                  <a:lnTo>
                    <a:pt x="7315200" y="0"/>
                  </a:lnTo>
                  <a:lnTo>
                    <a:pt x="73152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TextBox 41"/>
            <p:cNvSpPr/>
            <p:nvPr/>
          </p:nvSpPr>
          <p:spPr>
            <a:xfrm>
              <a:off x="11449080" y="3309840"/>
              <a:ext cx="548604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Numeric and Indian-language verbalization needs normalization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6" name="Group 42"/>
          <p:cNvGrpSpPr/>
          <p:nvPr/>
        </p:nvGrpSpPr>
        <p:grpSpPr>
          <a:xfrm>
            <a:off x="1352520" y="4014720"/>
            <a:ext cx="3142800" cy="928800"/>
            <a:chOff x="1352520" y="4014720"/>
            <a:chExt cx="3142800" cy="928800"/>
          </a:xfrm>
        </p:grpSpPr>
        <p:sp>
          <p:nvSpPr>
            <p:cNvPr id="207" name="Freeform 43"/>
            <p:cNvSpPr/>
            <p:nvPr/>
          </p:nvSpPr>
          <p:spPr>
            <a:xfrm>
              <a:off x="1352520" y="405756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TextBox 44"/>
            <p:cNvSpPr/>
            <p:nvPr/>
          </p:nvSpPr>
          <p:spPr>
            <a:xfrm>
              <a:off x="1352520" y="401472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Whisper (Radford et al., 2022)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9" name="Group 45"/>
          <p:cNvGrpSpPr/>
          <p:nvPr/>
        </p:nvGrpSpPr>
        <p:grpSpPr>
          <a:xfrm>
            <a:off x="4495680" y="4014720"/>
            <a:ext cx="3142800" cy="747360"/>
            <a:chOff x="4495680" y="4014720"/>
            <a:chExt cx="3142800" cy="747360"/>
          </a:xfrm>
        </p:grpSpPr>
        <p:sp>
          <p:nvSpPr>
            <p:cNvPr id="210" name="Freeform 46"/>
            <p:cNvSpPr/>
            <p:nvPr/>
          </p:nvSpPr>
          <p:spPr>
            <a:xfrm>
              <a:off x="4495680" y="405756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47"/>
            <p:cNvSpPr/>
            <p:nvPr/>
          </p:nvSpPr>
          <p:spPr>
            <a:xfrm>
              <a:off x="4495680" y="401472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Multilingual ASR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2" name="Group 48"/>
          <p:cNvGrpSpPr/>
          <p:nvPr/>
        </p:nvGrpSpPr>
        <p:grpSpPr>
          <a:xfrm>
            <a:off x="7639200" y="4014720"/>
            <a:ext cx="3809520" cy="747360"/>
            <a:chOff x="7639200" y="4014720"/>
            <a:chExt cx="3809520" cy="747360"/>
          </a:xfrm>
        </p:grpSpPr>
        <p:sp>
          <p:nvSpPr>
            <p:cNvPr id="213" name="Freeform 49"/>
            <p:cNvSpPr/>
            <p:nvPr/>
          </p:nvSpPr>
          <p:spPr>
            <a:xfrm>
              <a:off x="7639200" y="405756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TextBox 50"/>
            <p:cNvSpPr/>
            <p:nvPr/>
          </p:nvSpPr>
          <p:spPr>
            <a:xfrm>
              <a:off x="7639200" y="401472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Speech recognition baseline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5" name="Group 51"/>
          <p:cNvGrpSpPr/>
          <p:nvPr/>
        </p:nvGrpSpPr>
        <p:grpSpPr>
          <a:xfrm>
            <a:off x="11449080" y="4014720"/>
            <a:ext cx="5486040" cy="747360"/>
            <a:chOff x="11449080" y="4014720"/>
            <a:chExt cx="5486040" cy="747360"/>
          </a:xfrm>
        </p:grpSpPr>
        <p:sp>
          <p:nvSpPr>
            <p:cNvPr id="216" name="Freeform 52"/>
            <p:cNvSpPr/>
            <p:nvPr/>
          </p:nvSpPr>
          <p:spPr>
            <a:xfrm>
              <a:off x="11449080" y="405756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TextBox 53"/>
            <p:cNvSpPr/>
            <p:nvPr/>
          </p:nvSpPr>
          <p:spPr>
            <a:xfrm>
              <a:off x="11449080" y="401472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Low-resource dialect coverage; local compute limits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8" name="Group 54"/>
          <p:cNvGrpSpPr/>
          <p:nvPr/>
        </p:nvGrpSpPr>
        <p:grpSpPr>
          <a:xfrm>
            <a:off x="1352520" y="4719600"/>
            <a:ext cx="3142800" cy="928800"/>
            <a:chOff x="1352520" y="4719600"/>
            <a:chExt cx="3142800" cy="928800"/>
          </a:xfrm>
        </p:grpSpPr>
        <p:sp>
          <p:nvSpPr>
            <p:cNvPr id="219" name="Freeform 55"/>
            <p:cNvSpPr/>
            <p:nvPr/>
          </p:nvSpPr>
          <p:spPr>
            <a:xfrm>
              <a:off x="1352520" y="476244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TextBox 56"/>
            <p:cNvSpPr/>
            <p:nvPr/>
          </p:nvSpPr>
          <p:spPr>
            <a:xfrm>
              <a:off x="1352520" y="471960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FrugalGPT (Chen et al., NeurIPS 2023)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1" name="Group 57"/>
          <p:cNvGrpSpPr/>
          <p:nvPr/>
        </p:nvGrpSpPr>
        <p:grpSpPr>
          <a:xfrm>
            <a:off x="4495680" y="4719600"/>
            <a:ext cx="3142800" cy="928800"/>
            <a:chOff x="4495680" y="4719600"/>
            <a:chExt cx="3142800" cy="928800"/>
          </a:xfrm>
        </p:grpSpPr>
        <p:sp>
          <p:nvSpPr>
            <p:cNvPr id="222" name="Freeform 58"/>
            <p:cNvSpPr/>
            <p:nvPr/>
          </p:nvSpPr>
          <p:spPr>
            <a:xfrm>
              <a:off x="4495680" y="476244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TextBox 59"/>
            <p:cNvSpPr/>
            <p:nvPr/>
          </p:nvSpPr>
          <p:spPr>
            <a:xfrm>
              <a:off x="4495680" y="471960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LLM cascading, cost reduction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4" name="Group 60"/>
          <p:cNvGrpSpPr/>
          <p:nvPr/>
        </p:nvGrpSpPr>
        <p:grpSpPr>
          <a:xfrm>
            <a:off x="7639200" y="4719600"/>
            <a:ext cx="3809520" cy="928800"/>
            <a:chOff x="7639200" y="4719600"/>
            <a:chExt cx="3809520" cy="928800"/>
          </a:xfrm>
        </p:grpSpPr>
        <p:sp>
          <p:nvSpPr>
            <p:cNvPr id="225" name="Freeform 61"/>
            <p:cNvSpPr/>
            <p:nvPr/>
          </p:nvSpPr>
          <p:spPr>
            <a:xfrm>
              <a:off x="7639200" y="4762440"/>
              <a:ext cx="3809520" cy="88560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5080000" h="1181507">
                  <a:moveTo>
                    <a:pt x="0" y="0"/>
                  </a:moveTo>
                  <a:lnTo>
                    <a:pt x="5080000" y="0"/>
                  </a:lnTo>
                  <a:lnTo>
                    <a:pt x="5080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TextBox 62"/>
            <p:cNvSpPr/>
            <p:nvPr/>
          </p:nvSpPr>
          <p:spPr>
            <a:xfrm>
              <a:off x="7639200" y="4719600"/>
              <a:ext cx="380952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Deterministic shortcuts, selective model use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7" name="Group 63"/>
          <p:cNvGrpSpPr/>
          <p:nvPr/>
        </p:nvGrpSpPr>
        <p:grpSpPr>
          <a:xfrm>
            <a:off x="11449080" y="4719600"/>
            <a:ext cx="5486040" cy="747360"/>
            <a:chOff x="11449080" y="4719600"/>
            <a:chExt cx="5486040" cy="747360"/>
          </a:xfrm>
        </p:grpSpPr>
        <p:sp>
          <p:nvSpPr>
            <p:cNvPr id="228" name="Freeform 64"/>
            <p:cNvSpPr/>
            <p:nvPr/>
          </p:nvSpPr>
          <p:spPr>
            <a:xfrm>
              <a:off x="11449080" y="476244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TextBox 65"/>
            <p:cNvSpPr/>
            <p:nvPr/>
          </p:nvSpPr>
          <p:spPr>
            <a:xfrm>
              <a:off x="11449080" y="471960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Assumes cloud-centric deployment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0" name="Group 66"/>
          <p:cNvGrpSpPr/>
          <p:nvPr/>
        </p:nvGrpSpPr>
        <p:grpSpPr>
          <a:xfrm>
            <a:off x="1352520" y="5424480"/>
            <a:ext cx="3142800" cy="928800"/>
            <a:chOff x="1352520" y="5424480"/>
            <a:chExt cx="3142800" cy="928800"/>
          </a:xfrm>
        </p:grpSpPr>
        <p:sp>
          <p:nvSpPr>
            <p:cNvPr id="231" name="Freeform 67"/>
            <p:cNvSpPr/>
            <p:nvPr/>
          </p:nvSpPr>
          <p:spPr>
            <a:xfrm>
              <a:off x="1352520" y="546732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TextBox 68"/>
            <p:cNvSpPr/>
            <p:nvPr/>
          </p:nvSpPr>
          <p:spPr>
            <a:xfrm>
              <a:off x="1352520" y="542448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Meta MMS (Pratap et al., 2023)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3" name="Group 69"/>
          <p:cNvGrpSpPr/>
          <p:nvPr/>
        </p:nvGrpSpPr>
        <p:grpSpPr>
          <a:xfrm>
            <a:off x="4495680" y="5424480"/>
            <a:ext cx="3142800" cy="928800"/>
            <a:chOff x="4495680" y="5424480"/>
            <a:chExt cx="3142800" cy="928800"/>
          </a:xfrm>
        </p:grpSpPr>
        <p:sp>
          <p:nvSpPr>
            <p:cNvPr id="234" name="Freeform 70"/>
            <p:cNvSpPr/>
            <p:nvPr/>
          </p:nvSpPr>
          <p:spPr>
            <a:xfrm>
              <a:off x="4495680" y="546732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TextBox 71"/>
            <p:cNvSpPr/>
            <p:nvPr/>
          </p:nvSpPr>
          <p:spPr>
            <a:xfrm>
              <a:off x="4495680" y="542448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Multilingual Wav2Vec2 / CTC adapters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6" name="Group 72"/>
          <p:cNvGrpSpPr/>
          <p:nvPr/>
        </p:nvGrpSpPr>
        <p:grpSpPr>
          <a:xfrm>
            <a:off x="7639200" y="5424480"/>
            <a:ext cx="3809520" cy="747360"/>
            <a:chOff x="7639200" y="5424480"/>
            <a:chExt cx="3809520" cy="747360"/>
          </a:xfrm>
        </p:grpSpPr>
        <p:sp>
          <p:nvSpPr>
            <p:cNvPr id="237" name="Freeform 73"/>
            <p:cNvSpPr/>
            <p:nvPr/>
          </p:nvSpPr>
          <p:spPr>
            <a:xfrm>
              <a:off x="7639200" y="546732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TextBox 74"/>
            <p:cNvSpPr/>
            <p:nvPr/>
          </p:nvSpPr>
          <p:spPr>
            <a:xfrm>
              <a:off x="7639200" y="542448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Chhattisgarhi adapter (hne)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9" name="Group 75"/>
          <p:cNvGrpSpPr/>
          <p:nvPr/>
        </p:nvGrpSpPr>
        <p:grpSpPr>
          <a:xfrm>
            <a:off x="11449080" y="5424480"/>
            <a:ext cx="5486040" cy="747360"/>
            <a:chOff x="11449080" y="5424480"/>
            <a:chExt cx="5486040" cy="747360"/>
          </a:xfrm>
        </p:grpSpPr>
        <p:sp>
          <p:nvSpPr>
            <p:cNvPr id="240" name="Freeform 76"/>
            <p:cNvSpPr/>
            <p:nvPr/>
          </p:nvSpPr>
          <p:spPr>
            <a:xfrm>
              <a:off x="11449080" y="546732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TextBox 77"/>
            <p:cNvSpPr/>
            <p:nvPr/>
          </p:nvSpPr>
          <p:spPr>
            <a:xfrm>
              <a:off x="11449080" y="542448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Devanagari matra repair required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2" name="Group 78"/>
          <p:cNvGrpSpPr/>
          <p:nvPr/>
        </p:nvGrpSpPr>
        <p:grpSpPr>
          <a:xfrm>
            <a:off x="1352520" y="6129360"/>
            <a:ext cx="3142800" cy="928800"/>
            <a:chOff x="1352520" y="6129360"/>
            <a:chExt cx="3142800" cy="928800"/>
          </a:xfrm>
        </p:grpSpPr>
        <p:sp>
          <p:nvSpPr>
            <p:cNvPr id="243" name="Freeform 79"/>
            <p:cNvSpPr/>
            <p:nvPr/>
          </p:nvSpPr>
          <p:spPr>
            <a:xfrm>
              <a:off x="1352520" y="617220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TextBox 80"/>
            <p:cNvSpPr/>
            <p:nvPr/>
          </p:nvSpPr>
          <p:spPr>
            <a:xfrm>
              <a:off x="1352520" y="612936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Adaptive-RAG (Jeong et al., NAACL 2024)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5" name="Group 81"/>
          <p:cNvGrpSpPr/>
          <p:nvPr/>
        </p:nvGrpSpPr>
        <p:grpSpPr>
          <a:xfrm>
            <a:off x="4495680" y="6129360"/>
            <a:ext cx="3142800" cy="747360"/>
            <a:chOff x="4495680" y="6129360"/>
            <a:chExt cx="3142800" cy="747360"/>
          </a:xfrm>
        </p:grpSpPr>
        <p:sp>
          <p:nvSpPr>
            <p:cNvPr id="246" name="Freeform 82"/>
            <p:cNvSpPr/>
            <p:nvPr/>
          </p:nvSpPr>
          <p:spPr>
            <a:xfrm>
              <a:off x="4495680" y="617220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TextBox 83"/>
            <p:cNvSpPr/>
            <p:nvPr/>
          </p:nvSpPr>
          <p:spPr>
            <a:xfrm>
              <a:off x="4495680" y="612936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Query-complexity routing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8" name="Group 84"/>
          <p:cNvGrpSpPr/>
          <p:nvPr/>
        </p:nvGrpSpPr>
        <p:grpSpPr>
          <a:xfrm>
            <a:off x="7639200" y="6129360"/>
            <a:ext cx="3809520" cy="747360"/>
            <a:chOff x="7639200" y="6129360"/>
            <a:chExt cx="3809520" cy="747360"/>
          </a:xfrm>
        </p:grpSpPr>
        <p:sp>
          <p:nvSpPr>
            <p:cNvPr id="249" name="Freeform 85"/>
            <p:cNvSpPr/>
            <p:nvPr/>
          </p:nvSpPr>
          <p:spPr>
            <a:xfrm>
              <a:off x="7639200" y="617220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TextBox 86"/>
            <p:cNvSpPr/>
            <p:nvPr/>
          </p:nvSpPr>
          <p:spPr>
            <a:xfrm>
              <a:off x="7639200" y="612936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Supports retrieval-path decisions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1" name="Group 87"/>
          <p:cNvGrpSpPr/>
          <p:nvPr/>
        </p:nvGrpSpPr>
        <p:grpSpPr>
          <a:xfrm>
            <a:off x="11449080" y="6129360"/>
            <a:ext cx="5486040" cy="747360"/>
            <a:chOff x="11449080" y="6129360"/>
            <a:chExt cx="5486040" cy="747360"/>
          </a:xfrm>
        </p:grpSpPr>
        <p:sp>
          <p:nvSpPr>
            <p:cNvPr id="252" name="Freeform 88"/>
            <p:cNvSpPr/>
            <p:nvPr/>
          </p:nvSpPr>
          <p:spPr>
            <a:xfrm>
              <a:off x="11449080" y="617220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TextBox 89"/>
            <p:cNvSpPr/>
            <p:nvPr/>
          </p:nvSpPr>
          <p:spPr>
            <a:xfrm>
              <a:off x="11449080" y="612936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Institutional facts still need strict grounding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4" name="Group 90"/>
          <p:cNvGrpSpPr/>
          <p:nvPr/>
        </p:nvGrpSpPr>
        <p:grpSpPr>
          <a:xfrm>
            <a:off x="1352520" y="6834240"/>
            <a:ext cx="3142800" cy="747360"/>
            <a:chOff x="1352520" y="6834240"/>
            <a:chExt cx="3142800" cy="747360"/>
          </a:xfrm>
        </p:grpSpPr>
        <p:sp>
          <p:nvSpPr>
            <p:cNvPr id="255" name="Freeform 91"/>
            <p:cNvSpPr/>
            <p:nvPr/>
          </p:nvSpPr>
          <p:spPr>
            <a:xfrm>
              <a:off x="1352520" y="687708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TextBox 92"/>
            <p:cNvSpPr/>
            <p:nvPr/>
          </p:nvSpPr>
          <p:spPr>
            <a:xfrm>
              <a:off x="1352520" y="683424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RouteLLM (Ong et al., 2024)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7" name="Group 93"/>
          <p:cNvGrpSpPr/>
          <p:nvPr/>
        </p:nvGrpSpPr>
        <p:grpSpPr>
          <a:xfrm>
            <a:off x="4495680" y="6834240"/>
            <a:ext cx="3142800" cy="747360"/>
            <a:chOff x="4495680" y="6834240"/>
            <a:chExt cx="3142800" cy="747360"/>
          </a:xfrm>
        </p:grpSpPr>
        <p:sp>
          <p:nvSpPr>
            <p:cNvPr id="258" name="Freeform 94"/>
            <p:cNvSpPr/>
            <p:nvPr/>
          </p:nvSpPr>
          <p:spPr>
            <a:xfrm>
              <a:off x="4495680" y="687708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TextBox 95"/>
            <p:cNvSpPr/>
            <p:nvPr/>
          </p:nvSpPr>
          <p:spPr>
            <a:xfrm>
              <a:off x="4495680" y="683424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Lightweight routing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0" name="Group 96"/>
          <p:cNvGrpSpPr/>
          <p:nvPr/>
        </p:nvGrpSpPr>
        <p:grpSpPr>
          <a:xfrm>
            <a:off x="7639200" y="6834240"/>
            <a:ext cx="3809520" cy="747360"/>
            <a:chOff x="7639200" y="6834240"/>
            <a:chExt cx="3809520" cy="747360"/>
          </a:xfrm>
        </p:grpSpPr>
        <p:sp>
          <p:nvSpPr>
            <p:cNvPr id="261" name="Freeform 97"/>
            <p:cNvSpPr/>
            <p:nvPr/>
          </p:nvSpPr>
          <p:spPr>
            <a:xfrm>
              <a:off x="7639200" y="687708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TextBox 98"/>
            <p:cNvSpPr/>
            <p:nvPr/>
          </p:nvSpPr>
          <p:spPr>
            <a:xfrm>
              <a:off x="7639200" y="683424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Motivates learned routing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3" name="Group 99"/>
          <p:cNvGrpSpPr/>
          <p:nvPr/>
        </p:nvGrpSpPr>
        <p:grpSpPr>
          <a:xfrm>
            <a:off x="11449080" y="6834240"/>
            <a:ext cx="5486040" cy="747360"/>
            <a:chOff x="11449080" y="6834240"/>
            <a:chExt cx="5486040" cy="747360"/>
          </a:xfrm>
        </p:grpSpPr>
        <p:sp>
          <p:nvSpPr>
            <p:cNvPr id="264" name="Freeform 100"/>
            <p:cNvSpPr/>
            <p:nvPr/>
          </p:nvSpPr>
          <p:spPr>
            <a:xfrm>
              <a:off x="11449080" y="687708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FFF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TextBox 101"/>
            <p:cNvSpPr/>
            <p:nvPr/>
          </p:nvSpPr>
          <p:spPr>
            <a:xfrm>
              <a:off x="11449080" y="683424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Focuses on text-model selection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6" name="Group 102"/>
          <p:cNvGrpSpPr/>
          <p:nvPr/>
        </p:nvGrpSpPr>
        <p:grpSpPr>
          <a:xfrm>
            <a:off x="1352520" y="7539120"/>
            <a:ext cx="3142800" cy="928800"/>
            <a:chOff x="1352520" y="7539120"/>
            <a:chExt cx="3142800" cy="928800"/>
          </a:xfrm>
        </p:grpSpPr>
        <p:sp>
          <p:nvSpPr>
            <p:cNvPr id="267" name="Freeform 103"/>
            <p:cNvSpPr/>
            <p:nvPr/>
          </p:nvSpPr>
          <p:spPr>
            <a:xfrm>
              <a:off x="1352520" y="7581960"/>
              <a:ext cx="3142800" cy="88560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885600"/>
                <a:gd name="textAreaBottom" fmla="*/ 885960 h 885600"/>
              </a:gdLst>
              <a:ahLst/>
              <a:cxnLst/>
              <a:rect l="textAreaLeft" t="textAreaTop" r="textAreaRight" b="textAreaBottom"/>
              <a:pathLst>
                <a:path w="4191000" h="1181507">
                  <a:moveTo>
                    <a:pt x="0" y="0"/>
                  </a:moveTo>
                  <a:lnTo>
                    <a:pt x="4191000" y="0"/>
                  </a:lnTo>
                  <a:lnTo>
                    <a:pt x="4191000" y="1181507"/>
                  </a:lnTo>
                  <a:lnTo>
                    <a:pt x="0" y="1181507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TextBox 104"/>
            <p:cNvSpPr/>
            <p:nvPr/>
          </p:nvSpPr>
          <p:spPr>
            <a:xfrm>
              <a:off x="1352520" y="7539120"/>
              <a:ext cx="3142800" cy="92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MCP / FastMCP (Anthropic, 2024)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9" name="Group 105"/>
          <p:cNvGrpSpPr/>
          <p:nvPr/>
        </p:nvGrpSpPr>
        <p:grpSpPr>
          <a:xfrm>
            <a:off x="4495680" y="7539120"/>
            <a:ext cx="3142800" cy="747360"/>
            <a:chOff x="4495680" y="7539120"/>
            <a:chExt cx="3142800" cy="747360"/>
          </a:xfrm>
        </p:grpSpPr>
        <p:sp>
          <p:nvSpPr>
            <p:cNvPr id="270" name="Freeform 106"/>
            <p:cNvSpPr/>
            <p:nvPr/>
          </p:nvSpPr>
          <p:spPr>
            <a:xfrm>
              <a:off x="4495680" y="7581960"/>
              <a:ext cx="3142800" cy="704520"/>
            </a:xfrm>
            <a:custGeom>
              <a:avLst/>
              <a:gdLst>
                <a:gd name="textAreaLeft" fmla="*/ 0 w 3142800"/>
                <a:gd name="textAreaRight" fmla="*/ 3143160 w 314280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4191000" h="939800">
                  <a:moveTo>
                    <a:pt x="0" y="0"/>
                  </a:moveTo>
                  <a:lnTo>
                    <a:pt x="4191000" y="0"/>
                  </a:lnTo>
                  <a:lnTo>
                    <a:pt x="4191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TextBox 107"/>
            <p:cNvSpPr/>
            <p:nvPr/>
          </p:nvSpPr>
          <p:spPr>
            <a:xfrm>
              <a:off x="4495680" y="7539120"/>
              <a:ext cx="31428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Process-isolated tool calling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2" name="Group 108"/>
          <p:cNvGrpSpPr/>
          <p:nvPr/>
        </p:nvGrpSpPr>
        <p:grpSpPr>
          <a:xfrm>
            <a:off x="7639200" y="7539120"/>
            <a:ext cx="3809520" cy="747360"/>
            <a:chOff x="7639200" y="7539120"/>
            <a:chExt cx="3809520" cy="747360"/>
          </a:xfrm>
        </p:grpSpPr>
        <p:sp>
          <p:nvSpPr>
            <p:cNvPr id="273" name="Freeform 109"/>
            <p:cNvSpPr/>
            <p:nvPr/>
          </p:nvSpPr>
          <p:spPr>
            <a:xfrm>
              <a:off x="7639200" y="7581960"/>
              <a:ext cx="3809520" cy="704520"/>
            </a:xfrm>
            <a:custGeom>
              <a:avLst/>
              <a:gdLst>
                <a:gd name="textAreaLeft" fmla="*/ 0 w 3809520"/>
                <a:gd name="textAreaRight" fmla="*/ 3809880 w 380952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5080000" h="939800">
                  <a:moveTo>
                    <a:pt x="0" y="0"/>
                  </a:moveTo>
                  <a:lnTo>
                    <a:pt x="5080000" y="0"/>
                  </a:lnTo>
                  <a:lnTo>
                    <a:pt x="5080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TextBox 110"/>
            <p:cNvSpPr/>
            <p:nvPr/>
          </p:nvSpPr>
          <p:spPr>
            <a:xfrm>
              <a:off x="7639200" y="7539120"/>
              <a:ext cx="38095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Safe task execution in Demo 1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5" name="Group 111"/>
          <p:cNvGrpSpPr/>
          <p:nvPr/>
        </p:nvGrpSpPr>
        <p:grpSpPr>
          <a:xfrm>
            <a:off x="11449080" y="7539120"/>
            <a:ext cx="5486040" cy="747360"/>
            <a:chOff x="11449080" y="7539120"/>
            <a:chExt cx="5486040" cy="747360"/>
          </a:xfrm>
        </p:grpSpPr>
        <p:sp>
          <p:nvSpPr>
            <p:cNvPr id="276" name="Freeform 112"/>
            <p:cNvSpPr/>
            <p:nvPr/>
          </p:nvSpPr>
          <p:spPr>
            <a:xfrm>
              <a:off x="11449080" y="7581960"/>
              <a:ext cx="5486040" cy="70452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315200" h="939800">
                  <a:moveTo>
                    <a:pt x="0" y="0"/>
                  </a:moveTo>
                  <a:lnTo>
                    <a:pt x="7315200" y="0"/>
                  </a:lnTo>
                  <a:lnTo>
                    <a:pt x="73152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E8EDF9"/>
            </a:solidFill>
            <a:ln cap="sq" w="9525">
              <a:solidFill>
                <a:srgbClr val="C9D4E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TextBox 113"/>
            <p:cNvSpPr/>
            <p:nvPr/>
          </p:nvSpPr>
          <p:spPr>
            <a:xfrm>
              <a:off x="11449080" y="7539120"/>
              <a:ext cx="5486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520"/>
                </a:lnSpc>
              </a:pPr>
              <a:r>
                <a:rPr lang="en-US" sz="18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Must pair with transaction safeguards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279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0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281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2" name="Group 6"/>
          <p:cNvGrpSpPr/>
          <p:nvPr/>
        </p:nvGrpSpPr>
        <p:grpSpPr>
          <a:xfrm>
            <a:off x="1257120" y="547560"/>
            <a:ext cx="15773040" cy="1987920"/>
            <a:chOff x="1257120" y="547560"/>
            <a:chExt cx="15773040" cy="1987920"/>
          </a:xfrm>
        </p:grpSpPr>
        <p:sp>
          <p:nvSpPr>
            <p:cNvPr id="283" name="Freeform 7"/>
            <p:cNvSpPr/>
            <p:nvPr/>
          </p:nvSpPr>
          <p:spPr>
            <a:xfrm>
              <a:off x="1257120" y="54756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044">
                  <a:moveTo>
                    <a:pt x="0" y="0"/>
                  </a:moveTo>
                  <a:lnTo>
                    <a:pt x="21031200" y="0"/>
                  </a:lnTo>
                  <a:lnTo>
                    <a:pt x="2103120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TextBox 8"/>
            <p:cNvSpPr/>
            <p:nvPr/>
          </p:nvSpPr>
          <p:spPr>
            <a:xfrm>
              <a:off x="1257120" y="597600"/>
              <a:ext cx="15773040" cy="19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04  Problem Definition and Research Gap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5" name="Group 9"/>
          <p:cNvGrpSpPr/>
          <p:nvPr/>
        </p:nvGrpSpPr>
        <p:grpSpPr>
          <a:xfrm>
            <a:off x="399960" y="9808560"/>
            <a:ext cx="3314160" cy="478440"/>
            <a:chOff x="399960" y="9808560"/>
            <a:chExt cx="3314160" cy="478440"/>
          </a:xfrm>
        </p:grpSpPr>
        <p:sp>
          <p:nvSpPr>
            <p:cNvPr id="286" name="Freeform 10"/>
            <p:cNvSpPr/>
            <p:nvPr/>
          </p:nvSpPr>
          <p:spPr>
            <a:xfrm>
              <a:off x="399960" y="9837360"/>
              <a:ext cx="3314160" cy="44964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640"/>
                <a:gd name="textAreaBottom" fmla="*/ 450000 h 449640"/>
              </a:gdLst>
              <a:ahLst/>
              <a:cxnLst/>
              <a:rect l="textAreaLeft" t="textAreaTop" r="textAreaRight" b="textAreaBottom"/>
              <a:pathLst>
                <a:path w="4419360" h="599763">
                  <a:moveTo>
                    <a:pt x="0" y="0"/>
                  </a:moveTo>
                  <a:lnTo>
                    <a:pt x="4419360" y="0"/>
                  </a:lnTo>
                  <a:lnTo>
                    <a:pt x="4419360" y="599763"/>
                  </a:lnTo>
                  <a:lnTo>
                    <a:pt x="0" y="59976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TextBox 11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8" name="Group 12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289" name="Freeform 13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TextBox 14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1" name="Group 15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292" name="Freeform 16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TextBox 17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5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4" name="Group 18"/>
          <p:cNvGrpSpPr/>
          <p:nvPr/>
        </p:nvGrpSpPr>
        <p:grpSpPr>
          <a:xfrm>
            <a:off x="1352520" y="2828880"/>
            <a:ext cx="7505280" cy="5362560"/>
            <a:chOff x="1352520" y="2828880"/>
            <a:chExt cx="7505280" cy="5362560"/>
          </a:xfrm>
        </p:grpSpPr>
        <p:sp>
          <p:nvSpPr>
            <p:cNvPr id="295" name="Freeform 19"/>
            <p:cNvSpPr/>
            <p:nvPr/>
          </p:nvSpPr>
          <p:spPr>
            <a:xfrm>
              <a:off x="1352520" y="2857680"/>
              <a:ext cx="7505280" cy="5333760"/>
            </a:xfrm>
            <a:custGeom>
              <a:avLst/>
              <a:gdLst>
                <a:gd name="textAreaLeft" fmla="*/ 0 w 7505280"/>
                <a:gd name="textAreaRight" fmla="*/ 7505640 w 7505280"/>
                <a:gd name="textAreaTop" fmla="*/ 0 h 5333760"/>
                <a:gd name="textAreaBottom" fmla="*/ 5334120 h 5333760"/>
              </a:gdLst>
              <a:ahLst/>
              <a:cxnLst/>
              <a:rect l="textAreaLeft" t="textAreaTop" r="textAreaRight" b="textAreaBottom"/>
              <a:pathLst>
                <a:path w="10007600" h="7112000">
                  <a:moveTo>
                    <a:pt x="152400" y="0"/>
                  </a:moveTo>
                  <a:lnTo>
                    <a:pt x="9855200" y="0"/>
                  </a:lnTo>
                  <a:cubicBezTo>
                    <a:pt x="9939369" y="0"/>
                    <a:pt x="10007600" y="68232"/>
                    <a:pt x="10007600" y="152400"/>
                  </a:cubicBezTo>
                  <a:lnTo>
                    <a:pt x="10007600" y="6959600"/>
                  </a:lnTo>
                  <a:cubicBezTo>
                    <a:pt x="10007600" y="7043769"/>
                    <a:pt x="9939369" y="7112000"/>
                    <a:pt x="9855200" y="7112000"/>
                  </a:cubicBezTo>
                  <a:lnTo>
                    <a:pt x="152400" y="7112000"/>
                  </a:lnTo>
                  <a:cubicBezTo>
                    <a:pt x="68232" y="7112000"/>
                    <a:pt x="0" y="7043769"/>
                    <a:pt x="0" y="695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TextBox 20"/>
            <p:cNvSpPr/>
            <p:nvPr/>
          </p:nvSpPr>
          <p:spPr>
            <a:xfrm>
              <a:off x="1352520" y="2828880"/>
              <a:ext cx="7505280" cy="536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97" name="Group 21"/>
          <p:cNvGrpSpPr/>
          <p:nvPr/>
        </p:nvGrpSpPr>
        <p:grpSpPr>
          <a:xfrm>
            <a:off x="9429840" y="2828880"/>
            <a:ext cx="7505280" cy="5362560"/>
            <a:chOff x="9429840" y="2828880"/>
            <a:chExt cx="7505280" cy="5362560"/>
          </a:xfrm>
        </p:grpSpPr>
        <p:sp>
          <p:nvSpPr>
            <p:cNvPr id="298" name="Freeform 22"/>
            <p:cNvSpPr/>
            <p:nvPr/>
          </p:nvSpPr>
          <p:spPr>
            <a:xfrm>
              <a:off x="9429840" y="2857680"/>
              <a:ext cx="7505280" cy="5333760"/>
            </a:xfrm>
            <a:custGeom>
              <a:avLst/>
              <a:gdLst>
                <a:gd name="textAreaLeft" fmla="*/ 0 w 7505280"/>
                <a:gd name="textAreaRight" fmla="*/ 7505640 w 7505280"/>
                <a:gd name="textAreaTop" fmla="*/ 0 h 5333760"/>
                <a:gd name="textAreaBottom" fmla="*/ 5334120 h 5333760"/>
              </a:gdLst>
              <a:ahLst/>
              <a:cxnLst/>
              <a:rect l="textAreaLeft" t="textAreaTop" r="textAreaRight" b="textAreaBottom"/>
              <a:pathLst>
                <a:path w="10007600" h="7112000">
                  <a:moveTo>
                    <a:pt x="152400" y="0"/>
                  </a:moveTo>
                  <a:lnTo>
                    <a:pt x="9855200" y="0"/>
                  </a:lnTo>
                  <a:cubicBezTo>
                    <a:pt x="9939369" y="0"/>
                    <a:pt x="10007600" y="68232"/>
                    <a:pt x="10007600" y="152400"/>
                  </a:cubicBezTo>
                  <a:lnTo>
                    <a:pt x="10007600" y="6959600"/>
                  </a:lnTo>
                  <a:cubicBezTo>
                    <a:pt x="10007600" y="7043769"/>
                    <a:pt x="9939369" y="7112000"/>
                    <a:pt x="9855200" y="7112000"/>
                  </a:cubicBezTo>
                  <a:lnTo>
                    <a:pt x="152400" y="7112000"/>
                  </a:lnTo>
                  <a:cubicBezTo>
                    <a:pt x="68232" y="7112000"/>
                    <a:pt x="0" y="7043769"/>
                    <a:pt x="0" y="695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TextBox 23"/>
            <p:cNvSpPr/>
            <p:nvPr/>
          </p:nvSpPr>
          <p:spPr>
            <a:xfrm>
              <a:off x="9429840" y="2828880"/>
              <a:ext cx="7505280" cy="536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00" name="TextBox 24"/>
          <p:cNvSpPr/>
          <p:nvPr/>
        </p:nvSpPr>
        <p:spPr>
          <a:xfrm>
            <a:off x="1619280" y="2909520"/>
            <a:ext cx="69721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Problem Definition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25"/>
          <p:cNvSpPr/>
          <p:nvPr/>
        </p:nvSpPr>
        <p:spPr>
          <a:xfrm>
            <a:off x="1619280" y="340560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26"/>
          <p:cNvSpPr/>
          <p:nvPr/>
        </p:nvSpPr>
        <p:spPr>
          <a:xfrm>
            <a:off x="2057400" y="3414960"/>
            <a:ext cx="65336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Existing voice assistants assume cloud compute, stable connectivity and high-resource languages.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27"/>
          <p:cNvSpPr/>
          <p:nvPr/>
        </p:nvSpPr>
        <p:spPr>
          <a:xfrm>
            <a:off x="1619280" y="463428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28"/>
          <p:cNvSpPr/>
          <p:nvPr/>
        </p:nvSpPr>
        <p:spPr>
          <a:xfrm>
            <a:off x="2057400" y="4643640"/>
            <a:ext cx="65336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A local assistant must recognise vernacular speech, execute tasks safely and answer institutional questions with evidence.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29"/>
          <p:cNvSpPr/>
          <p:nvPr/>
        </p:nvSpPr>
        <p:spPr>
          <a:xfrm>
            <a:off x="1619280" y="584388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30"/>
          <p:cNvSpPr/>
          <p:nvPr/>
        </p:nvSpPr>
        <p:spPr>
          <a:xfrm>
            <a:off x="2057400" y="5872680"/>
            <a:ext cx="653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It must operate within consumer hardware limits without sacrificing factual verification.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31"/>
          <p:cNvSpPr/>
          <p:nvPr/>
        </p:nvSpPr>
        <p:spPr>
          <a:xfrm>
            <a:off x="9696600" y="2909520"/>
            <a:ext cx="69721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Research Gap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32"/>
          <p:cNvSpPr/>
          <p:nvPr/>
        </p:nvSpPr>
        <p:spPr>
          <a:xfrm>
            <a:off x="9696600" y="340560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33"/>
          <p:cNvSpPr/>
          <p:nvPr/>
        </p:nvSpPr>
        <p:spPr>
          <a:xfrm>
            <a:off x="10134720" y="3414960"/>
            <a:ext cx="65336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Few reusable edge-native Voice-to-Voice platforms combine speech, retrieval, verification and task execution.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34"/>
          <p:cNvSpPr/>
          <p:nvPr/>
        </p:nvSpPr>
        <p:spPr>
          <a:xfrm>
            <a:off x="9696600" y="463428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35"/>
          <p:cNvSpPr/>
          <p:nvPr/>
        </p:nvSpPr>
        <p:spPr>
          <a:xfrm>
            <a:off x="10134720" y="4643640"/>
            <a:ext cx="65336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Numerical institutional questions need hybrid retrieval plus an exact structured-data path, not vector search alone.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36"/>
          <p:cNvSpPr/>
          <p:nvPr/>
        </p:nvSpPr>
        <p:spPr>
          <a:xfrm>
            <a:off x="9696600" y="586332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37"/>
          <p:cNvSpPr/>
          <p:nvPr/>
        </p:nvSpPr>
        <p:spPr>
          <a:xfrm>
            <a:off x="10134720" y="5872680"/>
            <a:ext cx="653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Grounding must be checked at claim / quote level before an answer is accepted.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38"/>
          <p:cNvSpPr/>
          <p:nvPr/>
        </p:nvSpPr>
        <p:spPr>
          <a:xfrm>
            <a:off x="9696600" y="672840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39"/>
          <p:cNvSpPr/>
          <p:nvPr/>
        </p:nvSpPr>
        <p:spPr>
          <a:xfrm>
            <a:off x="10134720" y="6738120"/>
            <a:ext cx="653364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Streaming input/output and speech benchmarks are still gaps in the current implementation.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AutoShape 40"/>
          <p:cNvSpPr/>
          <p:nvPr/>
        </p:nvSpPr>
        <p:spPr>
          <a:xfrm>
            <a:off x="8953200" y="5524200"/>
            <a:ext cx="381240" cy="360"/>
          </a:xfrm>
          <a:prstGeom prst="line">
            <a:avLst/>
          </a:prstGeom>
          <a:ln w="38100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318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9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320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1" name="Group 6"/>
          <p:cNvGrpSpPr/>
          <p:nvPr/>
        </p:nvGrpSpPr>
        <p:grpSpPr>
          <a:xfrm>
            <a:off x="1257120" y="547560"/>
            <a:ext cx="15773040" cy="1987920"/>
            <a:chOff x="1257120" y="547560"/>
            <a:chExt cx="15773040" cy="1987920"/>
          </a:xfrm>
        </p:grpSpPr>
        <p:sp>
          <p:nvSpPr>
            <p:cNvPr id="322" name="Freeform 7"/>
            <p:cNvSpPr/>
            <p:nvPr/>
          </p:nvSpPr>
          <p:spPr>
            <a:xfrm>
              <a:off x="1257120" y="54756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044">
                  <a:moveTo>
                    <a:pt x="0" y="0"/>
                  </a:moveTo>
                  <a:lnTo>
                    <a:pt x="21031200" y="0"/>
                  </a:lnTo>
                  <a:lnTo>
                    <a:pt x="2103120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TextBox 8"/>
            <p:cNvSpPr/>
            <p:nvPr/>
          </p:nvSpPr>
          <p:spPr>
            <a:xfrm>
              <a:off x="1257120" y="597600"/>
              <a:ext cx="15773040" cy="19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05  Objectives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4" name="Group 9"/>
          <p:cNvGrpSpPr/>
          <p:nvPr/>
        </p:nvGrpSpPr>
        <p:grpSpPr>
          <a:xfrm>
            <a:off x="399960" y="9808560"/>
            <a:ext cx="3314160" cy="478440"/>
            <a:chOff x="399960" y="9808560"/>
            <a:chExt cx="3314160" cy="478440"/>
          </a:xfrm>
        </p:grpSpPr>
        <p:sp>
          <p:nvSpPr>
            <p:cNvPr id="325" name="Freeform 10"/>
            <p:cNvSpPr/>
            <p:nvPr/>
          </p:nvSpPr>
          <p:spPr>
            <a:xfrm>
              <a:off x="399960" y="9837360"/>
              <a:ext cx="3314160" cy="44964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640"/>
                <a:gd name="textAreaBottom" fmla="*/ 450000 h 449640"/>
              </a:gdLst>
              <a:ahLst/>
              <a:cxnLst/>
              <a:rect l="textAreaLeft" t="textAreaTop" r="textAreaRight" b="textAreaBottom"/>
              <a:pathLst>
                <a:path w="4419360" h="599763">
                  <a:moveTo>
                    <a:pt x="0" y="0"/>
                  </a:moveTo>
                  <a:lnTo>
                    <a:pt x="4419360" y="0"/>
                  </a:lnTo>
                  <a:lnTo>
                    <a:pt x="4419360" y="599763"/>
                  </a:lnTo>
                  <a:lnTo>
                    <a:pt x="0" y="59976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TextBox 11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7" name="Group 12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328" name="Freeform 13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TextBox 14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0" name="Group 15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331" name="Freeform 16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TextBox 17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3" name="TextBox 18"/>
          <p:cNvSpPr/>
          <p:nvPr/>
        </p:nvSpPr>
        <p:spPr>
          <a:xfrm>
            <a:off x="1352520" y="280044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9"/>
          <p:cNvSpPr/>
          <p:nvPr/>
        </p:nvSpPr>
        <p:spPr>
          <a:xfrm>
            <a:off x="1790640" y="2809800"/>
            <a:ext cx="1514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Develop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an edge-native Voice-to-Voice platform for Chhattisgarhi, Hindi, Hinglish and English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20"/>
          <p:cNvSpPr/>
          <p:nvPr/>
        </p:nvSpPr>
        <p:spPr>
          <a:xfrm>
            <a:off x="1352520" y="351468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21"/>
          <p:cNvSpPr/>
          <p:nvPr/>
        </p:nvSpPr>
        <p:spPr>
          <a:xfrm>
            <a:off x="1790640" y="3524400"/>
            <a:ext cx="1514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Integrate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Silero VAD, Faster-Whisper / MMS ASR, Devanagari repair, verbalization and TTS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22"/>
          <p:cNvSpPr/>
          <p:nvPr/>
        </p:nvSpPr>
        <p:spPr>
          <a:xfrm>
            <a:off x="1352520" y="422928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23"/>
          <p:cNvSpPr/>
          <p:nvPr/>
        </p:nvSpPr>
        <p:spPr>
          <a:xfrm>
            <a:off x="1790640" y="4238640"/>
            <a:ext cx="1514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Validate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the reusable core through Kisan Saathi and the IIIT-NR Voice Helpdesk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24"/>
          <p:cNvSpPr/>
          <p:nvPr/>
        </p:nvSpPr>
        <p:spPr>
          <a:xfrm>
            <a:off x="1352520" y="494352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25"/>
          <p:cNvSpPr/>
          <p:nvPr/>
        </p:nvSpPr>
        <p:spPr>
          <a:xfrm>
            <a:off x="1790640" y="4952880"/>
            <a:ext cx="1514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Protect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agronomic task execution with a KVK safety boundary and atomic integer-paise transactions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26"/>
          <p:cNvSpPr/>
          <p:nvPr/>
        </p:nvSpPr>
        <p:spPr>
          <a:xfrm>
            <a:off x="1352520" y="565776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27"/>
          <p:cNvSpPr/>
          <p:nvPr/>
        </p:nvSpPr>
        <p:spPr>
          <a:xfrm>
            <a:off x="1790640" y="5667480"/>
            <a:ext cx="151444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Ground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institutional answers using hybrid retrieval, SQL facts, quote validation and release-bound caching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28"/>
          <p:cNvSpPr/>
          <p:nvPr/>
        </p:nvSpPr>
        <p:spPr>
          <a:xfrm>
            <a:off x="1352520" y="6581160"/>
            <a:ext cx="110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98"/>
              </a:lnSpc>
            </a:pPr>
            <a:r>
              <a:rPr lang="en-US" sz="25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29"/>
          <p:cNvSpPr/>
          <p:nvPr/>
        </p:nvSpPr>
        <p:spPr>
          <a:xfrm>
            <a:off x="1790640" y="6616440"/>
            <a:ext cx="1514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lang="en-US" sz="25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Evaluate — </a:t>
            </a:r>
            <a:r>
              <a:rPr lang="en-US" sz="25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retrieval quality, latency, model-call behaviour, stability and safety with reproducible tests</a:t>
            </a:r>
            <a:endParaRPr lang="en-IN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346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7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348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9" name="Group 6"/>
          <p:cNvGrpSpPr/>
          <p:nvPr/>
        </p:nvGrpSpPr>
        <p:grpSpPr>
          <a:xfrm>
            <a:off x="1257120" y="238320"/>
            <a:ext cx="15773040" cy="1416600"/>
            <a:chOff x="1257120" y="238320"/>
            <a:chExt cx="15773040" cy="1416600"/>
          </a:xfrm>
        </p:grpSpPr>
        <p:sp>
          <p:nvSpPr>
            <p:cNvPr id="350" name="Freeform 7"/>
            <p:cNvSpPr/>
            <p:nvPr/>
          </p:nvSpPr>
          <p:spPr>
            <a:xfrm>
              <a:off x="1257120" y="238320"/>
              <a:ext cx="15773040" cy="141660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416600"/>
                <a:gd name="textAreaBottom" fmla="*/ 1416960 h 1416600"/>
              </a:gdLst>
              <a:ahLst/>
              <a:cxnLst/>
              <a:rect l="textAreaLeft" t="textAreaTop" r="textAreaRight" b="textAreaBottom"/>
              <a:pathLst>
                <a:path w="21031200" h="1889283">
                  <a:moveTo>
                    <a:pt x="0" y="0"/>
                  </a:moveTo>
                  <a:lnTo>
                    <a:pt x="21031200" y="0"/>
                  </a:lnTo>
                  <a:lnTo>
                    <a:pt x="21031200" y="1889283"/>
                  </a:lnTo>
                  <a:lnTo>
                    <a:pt x="0" y="1889283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TextBox 8"/>
            <p:cNvSpPr/>
            <p:nvPr/>
          </p:nvSpPr>
          <p:spPr>
            <a:xfrm>
              <a:off x="1257120" y="288000"/>
              <a:ext cx="15773040" cy="13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Proposed Framework / System Architecture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2" name="Group 9"/>
          <p:cNvGrpSpPr/>
          <p:nvPr/>
        </p:nvGrpSpPr>
        <p:grpSpPr>
          <a:xfrm>
            <a:off x="399960" y="9808560"/>
            <a:ext cx="3314160" cy="478440"/>
            <a:chOff x="399960" y="9808560"/>
            <a:chExt cx="3314160" cy="478440"/>
          </a:xfrm>
        </p:grpSpPr>
        <p:sp>
          <p:nvSpPr>
            <p:cNvPr id="353" name="Freeform 10"/>
            <p:cNvSpPr/>
            <p:nvPr/>
          </p:nvSpPr>
          <p:spPr>
            <a:xfrm>
              <a:off x="399960" y="9837360"/>
              <a:ext cx="3314160" cy="44964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640"/>
                <a:gd name="textAreaBottom" fmla="*/ 450000 h 449640"/>
              </a:gdLst>
              <a:ahLst/>
              <a:cxnLst/>
              <a:rect l="textAreaLeft" t="textAreaTop" r="textAreaRight" b="textAreaBottom"/>
              <a:pathLst>
                <a:path w="4419360" h="599763">
                  <a:moveTo>
                    <a:pt x="0" y="0"/>
                  </a:moveTo>
                  <a:lnTo>
                    <a:pt x="4419360" y="0"/>
                  </a:lnTo>
                  <a:lnTo>
                    <a:pt x="4419360" y="599763"/>
                  </a:lnTo>
                  <a:lnTo>
                    <a:pt x="0" y="59976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TextBox 11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5" name="Group 12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356" name="Freeform 13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TextBox 14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8" name="Group 15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359" name="Freeform 16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TextBox 17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7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1" name="Group 18"/>
          <p:cNvGrpSpPr/>
          <p:nvPr/>
        </p:nvGrpSpPr>
        <p:grpSpPr>
          <a:xfrm>
            <a:off x="1438200" y="2416320"/>
            <a:ext cx="2761920" cy="1273680"/>
            <a:chOff x="1438200" y="2416320"/>
            <a:chExt cx="2761920" cy="1273680"/>
          </a:xfrm>
        </p:grpSpPr>
        <p:sp>
          <p:nvSpPr>
            <p:cNvPr id="362" name="Freeform 19"/>
            <p:cNvSpPr/>
            <p:nvPr/>
          </p:nvSpPr>
          <p:spPr>
            <a:xfrm>
              <a:off x="1438200" y="2451960"/>
              <a:ext cx="2761920" cy="1238040"/>
            </a:xfrm>
            <a:custGeom>
              <a:avLst/>
              <a:gdLst>
                <a:gd name="textAreaLeft" fmla="*/ 0 w 2761920"/>
                <a:gd name="textAreaRight" fmla="*/ 2762280 w 2761920"/>
                <a:gd name="textAreaTop" fmla="*/ 0 h 1238040"/>
                <a:gd name="textAreaBottom" fmla="*/ 1238400 h 1238040"/>
              </a:gdLst>
              <a:ahLst/>
              <a:cxnLst/>
              <a:rect l="textAreaLeft" t="textAreaTop" r="textAreaRight" b="textAreaBottom"/>
              <a:pathLst>
                <a:path w="3683000" h="1651000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6860"/>
                    <a:pt x="3683000" y="127000"/>
                  </a:cubicBezTo>
                  <a:lnTo>
                    <a:pt x="3683000" y="1524000"/>
                  </a:lnTo>
                  <a:cubicBezTo>
                    <a:pt x="3683000" y="1594140"/>
                    <a:pt x="3626140" y="1651000"/>
                    <a:pt x="3556000" y="1651000"/>
                  </a:cubicBezTo>
                  <a:lnTo>
                    <a:pt x="127000" y="1651000"/>
                  </a:lnTo>
                  <a:cubicBezTo>
                    <a:pt x="56860" y="1651000"/>
                    <a:pt x="0" y="1594140"/>
                    <a:pt x="0" y="152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TextBox 20"/>
            <p:cNvSpPr/>
            <p:nvPr/>
          </p:nvSpPr>
          <p:spPr>
            <a:xfrm>
              <a:off x="1438200" y="2416320"/>
              <a:ext cx="2761920" cy="127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Voice Input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Silero VAD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4" name="AutoShape 21"/>
          <p:cNvSpPr/>
          <p:nvPr/>
        </p:nvSpPr>
        <p:spPr>
          <a:xfrm>
            <a:off x="4257360" y="3476520"/>
            <a:ext cx="28584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5" name="Group 22"/>
          <p:cNvGrpSpPr/>
          <p:nvPr/>
        </p:nvGrpSpPr>
        <p:grpSpPr>
          <a:xfrm>
            <a:off x="4600440" y="2416320"/>
            <a:ext cx="2761920" cy="1314720"/>
            <a:chOff x="4600440" y="2416320"/>
            <a:chExt cx="2761920" cy="1314720"/>
          </a:xfrm>
        </p:grpSpPr>
        <p:sp>
          <p:nvSpPr>
            <p:cNvPr id="366" name="Freeform 23"/>
            <p:cNvSpPr/>
            <p:nvPr/>
          </p:nvSpPr>
          <p:spPr>
            <a:xfrm>
              <a:off x="4600440" y="2451960"/>
              <a:ext cx="2761920" cy="1279080"/>
            </a:xfrm>
            <a:custGeom>
              <a:avLst/>
              <a:gdLst>
                <a:gd name="textAreaLeft" fmla="*/ 0 w 2761920"/>
                <a:gd name="textAreaRight" fmla="*/ 2762280 w 2761920"/>
                <a:gd name="textAreaTop" fmla="*/ 0 h 1279080"/>
                <a:gd name="textAreaBottom" fmla="*/ 1279440 h 1279080"/>
              </a:gdLst>
              <a:ahLst/>
              <a:cxnLst/>
              <a:rect l="textAreaLeft" t="textAreaTop" r="textAreaRight" b="textAreaBottom"/>
              <a:pathLst>
                <a:path w="3683000" h="1705757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8746"/>
                    <a:pt x="3683000" y="131212"/>
                  </a:cubicBezTo>
                  <a:lnTo>
                    <a:pt x="3683000" y="1574545"/>
                  </a:lnTo>
                  <a:cubicBezTo>
                    <a:pt x="3683000" y="1647011"/>
                    <a:pt x="3626140" y="1705757"/>
                    <a:pt x="3556000" y="1705757"/>
                  </a:cubicBezTo>
                  <a:lnTo>
                    <a:pt x="127000" y="1705757"/>
                  </a:lnTo>
                  <a:cubicBezTo>
                    <a:pt x="56860" y="1705757"/>
                    <a:pt x="0" y="1647011"/>
                    <a:pt x="0" y="1574545"/>
                  </a:cubicBezTo>
                  <a:lnTo>
                    <a:pt x="0" y="131212"/>
                  </a:lnTo>
                  <a:cubicBezTo>
                    <a:pt x="0" y="58746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TextBox 24"/>
            <p:cNvSpPr/>
            <p:nvPr/>
          </p:nvSpPr>
          <p:spPr>
            <a:xfrm>
              <a:off x="4600440" y="2416320"/>
              <a:ext cx="2761920" cy="131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ASR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Faster-Whisper int8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MMS-1B hne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8" name="AutoShape 25"/>
          <p:cNvSpPr/>
          <p:nvPr/>
        </p:nvSpPr>
        <p:spPr>
          <a:xfrm>
            <a:off x="7419960" y="3476520"/>
            <a:ext cx="28548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9" name="Group 26"/>
          <p:cNvGrpSpPr/>
          <p:nvPr/>
        </p:nvGrpSpPr>
        <p:grpSpPr>
          <a:xfrm>
            <a:off x="7763040" y="2416320"/>
            <a:ext cx="2761920" cy="1273680"/>
            <a:chOff x="7763040" y="2416320"/>
            <a:chExt cx="2761920" cy="1273680"/>
          </a:xfrm>
        </p:grpSpPr>
        <p:sp>
          <p:nvSpPr>
            <p:cNvPr id="370" name="Freeform 27"/>
            <p:cNvSpPr/>
            <p:nvPr/>
          </p:nvSpPr>
          <p:spPr>
            <a:xfrm>
              <a:off x="7763040" y="2451960"/>
              <a:ext cx="2761920" cy="1238040"/>
            </a:xfrm>
            <a:custGeom>
              <a:avLst/>
              <a:gdLst>
                <a:gd name="textAreaLeft" fmla="*/ 0 w 2761920"/>
                <a:gd name="textAreaRight" fmla="*/ 2762280 w 2761920"/>
                <a:gd name="textAreaTop" fmla="*/ 0 h 1238040"/>
                <a:gd name="textAreaBottom" fmla="*/ 1238400 h 1238040"/>
              </a:gdLst>
              <a:ahLst/>
              <a:cxnLst/>
              <a:rect l="textAreaLeft" t="textAreaTop" r="textAreaRight" b="textAreaBottom"/>
              <a:pathLst>
                <a:path w="3683000" h="1651000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6860"/>
                    <a:pt x="3683000" y="127000"/>
                  </a:cubicBezTo>
                  <a:lnTo>
                    <a:pt x="3683000" y="1524000"/>
                  </a:lnTo>
                  <a:cubicBezTo>
                    <a:pt x="3683000" y="1594140"/>
                    <a:pt x="3626140" y="1651000"/>
                    <a:pt x="3556000" y="1651000"/>
                  </a:cubicBezTo>
                  <a:lnTo>
                    <a:pt x="127000" y="1651000"/>
                  </a:lnTo>
                  <a:cubicBezTo>
                    <a:pt x="56860" y="1651000"/>
                    <a:pt x="0" y="1594140"/>
                    <a:pt x="0" y="152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TextBox 28"/>
            <p:cNvSpPr/>
            <p:nvPr/>
          </p:nvSpPr>
          <p:spPr>
            <a:xfrm>
              <a:off x="7763040" y="2416320"/>
              <a:ext cx="2761920" cy="127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Matra Repair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Devanagari CTC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2" name="AutoShape 29"/>
          <p:cNvSpPr/>
          <p:nvPr/>
        </p:nvSpPr>
        <p:spPr>
          <a:xfrm>
            <a:off x="10582200" y="3476520"/>
            <a:ext cx="28548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3" name="Group 30"/>
          <p:cNvGrpSpPr/>
          <p:nvPr/>
        </p:nvGrpSpPr>
        <p:grpSpPr>
          <a:xfrm>
            <a:off x="10925280" y="2416320"/>
            <a:ext cx="2761920" cy="1273680"/>
            <a:chOff x="10925280" y="2416320"/>
            <a:chExt cx="2761920" cy="1273680"/>
          </a:xfrm>
        </p:grpSpPr>
        <p:sp>
          <p:nvSpPr>
            <p:cNvPr id="374" name="Freeform 31"/>
            <p:cNvSpPr/>
            <p:nvPr/>
          </p:nvSpPr>
          <p:spPr>
            <a:xfrm>
              <a:off x="10925280" y="2451960"/>
              <a:ext cx="2761920" cy="1238040"/>
            </a:xfrm>
            <a:custGeom>
              <a:avLst/>
              <a:gdLst>
                <a:gd name="textAreaLeft" fmla="*/ 0 w 2761920"/>
                <a:gd name="textAreaRight" fmla="*/ 2762280 w 2761920"/>
                <a:gd name="textAreaTop" fmla="*/ 0 h 1238040"/>
                <a:gd name="textAreaBottom" fmla="*/ 1238400 h 1238040"/>
              </a:gdLst>
              <a:ahLst/>
              <a:cxnLst/>
              <a:rect l="textAreaLeft" t="textAreaTop" r="textAreaRight" b="textAreaBottom"/>
              <a:pathLst>
                <a:path w="3683000" h="1651000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6860"/>
                    <a:pt x="3683000" y="127000"/>
                  </a:cubicBezTo>
                  <a:lnTo>
                    <a:pt x="3683000" y="1524000"/>
                  </a:lnTo>
                  <a:cubicBezTo>
                    <a:pt x="3683000" y="1594140"/>
                    <a:pt x="3626140" y="1651000"/>
                    <a:pt x="3556000" y="1651000"/>
                  </a:cubicBezTo>
                  <a:lnTo>
                    <a:pt x="127000" y="1651000"/>
                  </a:lnTo>
                  <a:cubicBezTo>
                    <a:pt x="56860" y="1651000"/>
                    <a:pt x="0" y="1594140"/>
                    <a:pt x="0" y="152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TextBox 32"/>
            <p:cNvSpPr/>
            <p:nvPr/>
          </p:nvSpPr>
          <p:spPr>
            <a:xfrm>
              <a:off x="10925280" y="2416320"/>
              <a:ext cx="2761920" cy="127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Verbalization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v2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6" name="AutoShape 33"/>
          <p:cNvSpPr/>
          <p:nvPr/>
        </p:nvSpPr>
        <p:spPr>
          <a:xfrm>
            <a:off x="13744440" y="3476520"/>
            <a:ext cx="285840" cy="360"/>
          </a:xfrm>
          <a:prstGeom prst="line">
            <a:avLst/>
          </a:prstGeom>
          <a:ln w="28575">
            <a:solidFill>
              <a:srgbClr val="0C2577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7" name="Group 34"/>
          <p:cNvGrpSpPr/>
          <p:nvPr/>
        </p:nvGrpSpPr>
        <p:grpSpPr>
          <a:xfrm>
            <a:off x="14087520" y="2416320"/>
            <a:ext cx="2761920" cy="1273680"/>
            <a:chOff x="14087520" y="2416320"/>
            <a:chExt cx="2761920" cy="1273680"/>
          </a:xfrm>
        </p:grpSpPr>
        <p:sp>
          <p:nvSpPr>
            <p:cNvPr id="378" name="Freeform 35"/>
            <p:cNvSpPr/>
            <p:nvPr/>
          </p:nvSpPr>
          <p:spPr>
            <a:xfrm>
              <a:off x="14087520" y="2451960"/>
              <a:ext cx="2761920" cy="1238040"/>
            </a:xfrm>
            <a:custGeom>
              <a:avLst/>
              <a:gdLst>
                <a:gd name="textAreaLeft" fmla="*/ 0 w 2761920"/>
                <a:gd name="textAreaRight" fmla="*/ 2762280 w 2761920"/>
                <a:gd name="textAreaTop" fmla="*/ 0 h 1238040"/>
                <a:gd name="textAreaBottom" fmla="*/ 1238400 h 1238040"/>
              </a:gdLst>
              <a:ahLst/>
              <a:cxnLst/>
              <a:rect l="textAreaLeft" t="textAreaTop" r="textAreaRight" b="textAreaBottom"/>
              <a:pathLst>
                <a:path w="3683000" h="1651000">
                  <a:moveTo>
                    <a:pt x="127000" y="0"/>
                  </a:moveTo>
                  <a:lnTo>
                    <a:pt x="3556000" y="0"/>
                  </a:lnTo>
                  <a:cubicBezTo>
                    <a:pt x="3626140" y="0"/>
                    <a:pt x="3683000" y="56860"/>
                    <a:pt x="3683000" y="127000"/>
                  </a:cubicBezTo>
                  <a:lnTo>
                    <a:pt x="3683000" y="1524000"/>
                  </a:lnTo>
                  <a:cubicBezTo>
                    <a:pt x="3683000" y="1594140"/>
                    <a:pt x="3626140" y="1651000"/>
                    <a:pt x="3556000" y="1651000"/>
                  </a:cubicBezTo>
                  <a:lnTo>
                    <a:pt x="127000" y="1651000"/>
                  </a:lnTo>
                  <a:cubicBezTo>
                    <a:pt x="56860" y="1651000"/>
                    <a:pt x="0" y="1594140"/>
                    <a:pt x="0" y="152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8EDF9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TextBox 36"/>
            <p:cNvSpPr/>
            <p:nvPr/>
          </p:nvSpPr>
          <p:spPr>
            <a:xfrm>
              <a:off x="14087520" y="2416320"/>
              <a:ext cx="2761920" cy="127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7080" tIns="127080" rIns="127080" bIns="127080" anchor="ctr">
              <a:noAutofit/>
            </a:bodyPr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TTS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59"/>
                </a:lnSpc>
              </a:pPr>
              <a:r>
                <a:rPr lang="en-US" sz="1900" b="0" u="none" strike="noStrike">
                  <a:solidFill>
                    <a:srgbClr val="002060"/>
                  </a:solidFill>
                  <a:effectLst/>
                  <a:uFillTx/>
                  <a:latin typeface="Arimo"/>
                  <a:ea typeface="Arimo"/>
                </a:rPr>
                <a:t>Coqui VITS / Edge TTS</a:t>
              </a:r>
              <a:endParaRPr lang="en-IN" sz="1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0" name="Group 37"/>
          <p:cNvGrpSpPr/>
          <p:nvPr/>
        </p:nvGrpSpPr>
        <p:grpSpPr>
          <a:xfrm>
            <a:off x="952560" y="4709520"/>
            <a:ext cx="8191080" cy="2409480"/>
            <a:chOff x="952560" y="4709520"/>
            <a:chExt cx="8191080" cy="2409480"/>
          </a:xfrm>
        </p:grpSpPr>
        <p:sp>
          <p:nvSpPr>
            <p:cNvPr id="381" name="Freeform 38"/>
            <p:cNvSpPr/>
            <p:nvPr/>
          </p:nvSpPr>
          <p:spPr>
            <a:xfrm>
              <a:off x="952560" y="4737960"/>
              <a:ext cx="8191080" cy="2381040"/>
            </a:xfrm>
            <a:custGeom>
              <a:avLst/>
              <a:gdLst>
                <a:gd name="textAreaLeft" fmla="*/ 0 w 8191080"/>
                <a:gd name="textAreaRight" fmla="*/ 8191440 w 8191080"/>
                <a:gd name="textAreaTop" fmla="*/ 0 h 2381040"/>
                <a:gd name="textAreaBottom" fmla="*/ 2381400 h 2381040"/>
              </a:gdLst>
              <a:ahLst/>
              <a:cxnLst/>
              <a:rect l="textAreaLeft" t="textAreaTop" r="textAreaRight" b="textAreaBottom"/>
              <a:pathLst>
                <a:path w="10922000" h="3175000">
                  <a:moveTo>
                    <a:pt x="152400" y="0"/>
                  </a:moveTo>
                  <a:lnTo>
                    <a:pt x="10769600" y="0"/>
                  </a:lnTo>
                  <a:cubicBezTo>
                    <a:pt x="10853769" y="0"/>
                    <a:pt x="10922000" y="68232"/>
                    <a:pt x="10922000" y="152400"/>
                  </a:cubicBezTo>
                  <a:lnTo>
                    <a:pt x="10922000" y="3022600"/>
                  </a:lnTo>
                  <a:cubicBezTo>
                    <a:pt x="10922000" y="3106768"/>
                    <a:pt x="10853769" y="3175000"/>
                    <a:pt x="10769600" y="3175000"/>
                  </a:cubicBezTo>
                  <a:lnTo>
                    <a:pt x="152400" y="3175000"/>
                  </a:lnTo>
                  <a:cubicBezTo>
                    <a:pt x="68232" y="3175000"/>
                    <a:pt x="0" y="3106768"/>
                    <a:pt x="0" y="302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TextBox 39"/>
            <p:cNvSpPr/>
            <p:nvPr/>
          </p:nvSpPr>
          <p:spPr>
            <a:xfrm>
              <a:off x="952560" y="4709520"/>
              <a:ext cx="8191080" cy="240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83" name="TextBox 40"/>
          <p:cNvSpPr/>
          <p:nvPr/>
        </p:nvSpPr>
        <p:spPr>
          <a:xfrm>
            <a:off x="1181160" y="4890600"/>
            <a:ext cx="773388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22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DEMO 1 — Kisan Saathi Voice Shopping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41"/>
          <p:cNvSpPr/>
          <p:nvPr/>
        </p:nvSpPr>
        <p:spPr>
          <a:xfrm>
            <a:off x="1181160" y="5424480"/>
            <a:ext cx="773388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Streamlit UI → 12 FastMCP tool subprocesses → safety boundary → atomic shop.json transaction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5" name="Group 43"/>
          <p:cNvGrpSpPr/>
          <p:nvPr/>
        </p:nvGrpSpPr>
        <p:grpSpPr>
          <a:xfrm>
            <a:off x="9524880" y="4709520"/>
            <a:ext cx="8191080" cy="2409480"/>
            <a:chOff x="9524880" y="4709520"/>
            <a:chExt cx="8191080" cy="2409480"/>
          </a:xfrm>
        </p:grpSpPr>
        <p:sp>
          <p:nvSpPr>
            <p:cNvPr id="386" name="Freeform 44"/>
            <p:cNvSpPr/>
            <p:nvPr/>
          </p:nvSpPr>
          <p:spPr>
            <a:xfrm>
              <a:off x="9524880" y="4737960"/>
              <a:ext cx="8191080" cy="2381040"/>
            </a:xfrm>
            <a:custGeom>
              <a:avLst/>
              <a:gdLst>
                <a:gd name="textAreaLeft" fmla="*/ 0 w 8191080"/>
                <a:gd name="textAreaRight" fmla="*/ 8191440 w 8191080"/>
                <a:gd name="textAreaTop" fmla="*/ 0 h 2381040"/>
                <a:gd name="textAreaBottom" fmla="*/ 2381400 h 2381040"/>
              </a:gdLst>
              <a:ahLst/>
              <a:cxnLst/>
              <a:rect l="textAreaLeft" t="textAreaTop" r="textAreaRight" b="textAreaBottom"/>
              <a:pathLst>
                <a:path w="10922000" h="3175000">
                  <a:moveTo>
                    <a:pt x="152400" y="0"/>
                  </a:moveTo>
                  <a:lnTo>
                    <a:pt x="10769600" y="0"/>
                  </a:lnTo>
                  <a:cubicBezTo>
                    <a:pt x="10853769" y="0"/>
                    <a:pt x="10922000" y="68232"/>
                    <a:pt x="10922000" y="152400"/>
                  </a:cubicBezTo>
                  <a:lnTo>
                    <a:pt x="10922000" y="3022600"/>
                  </a:lnTo>
                  <a:cubicBezTo>
                    <a:pt x="10922000" y="3106768"/>
                    <a:pt x="10853769" y="3175000"/>
                    <a:pt x="10769600" y="3175000"/>
                  </a:cubicBezTo>
                  <a:lnTo>
                    <a:pt x="152400" y="3175000"/>
                  </a:lnTo>
                  <a:cubicBezTo>
                    <a:pt x="68232" y="3175000"/>
                    <a:pt x="0" y="3106768"/>
                    <a:pt x="0" y="302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0C25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TextBox 45"/>
            <p:cNvSpPr/>
            <p:nvPr/>
          </p:nvSpPr>
          <p:spPr>
            <a:xfrm>
              <a:off x="9524880" y="4709520"/>
              <a:ext cx="8191080" cy="240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88" name="TextBox 46"/>
          <p:cNvSpPr/>
          <p:nvPr/>
        </p:nvSpPr>
        <p:spPr>
          <a:xfrm>
            <a:off x="9753480" y="4890600"/>
            <a:ext cx="773388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22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DEMO 2 — IIIT-NR Voice Helpdesk (RAG)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47"/>
          <p:cNvSpPr/>
          <p:nvPr/>
        </p:nvSpPr>
        <p:spPr>
          <a:xfrm>
            <a:off x="9753480" y="5424480"/>
            <a:ext cx="773388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801"/>
              </a:lnSpc>
            </a:pPr>
            <a:r>
              <a:rPr lang="en-US" sz="20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Streamlit UI @st.fragment → bounded FIFO JobManager → hybrid retrieval (multilingual-e5-small + Rank-BM25 + RRF) → two-pass grounding → cryptographic RagCache with purge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49"/>
          <p:cNvSpPr/>
          <p:nvPr/>
        </p:nvSpPr>
        <p:spPr>
          <a:xfrm>
            <a:off x="952560" y="7443000"/>
            <a:ext cx="1638252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78"/>
              </a:lnSpc>
            </a:pPr>
            <a:r>
              <a:rPr lang="en-US" sz="2200" b="0" i="1" u="none" strike="noStrike">
                <a:solidFill>
                  <a:srgbClr val="23298A"/>
                </a:solidFill>
                <a:effectLst/>
                <a:uFillTx/>
                <a:latin typeface="Arimo Italics"/>
                <a:ea typeface="Arimo Italics"/>
              </a:rPr>
              <a:t>Edge-native, zero-cloud operation — data flows left to right through all components.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392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3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394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5" name="Group 6"/>
          <p:cNvGrpSpPr/>
          <p:nvPr/>
        </p:nvGrpSpPr>
        <p:grpSpPr>
          <a:xfrm>
            <a:off x="1257120" y="547560"/>
            <a:ext cx="14642280" cy="1987920"/>
            <a:chOff x="1257120" y="547560"/>
            <a:chExt cx="14642280" cy="1987920"/>
          </a:xfrm>
        </p:grpSpPr>
        <p:sp>
          <p:nvSpPr>
            <p:cNvPr id="396" name="Freeform 7"/>
            <p:cNvSpPr/>
            <p:nvPr/>
          </p:nvSpPr>
          <p:spPr>
            <a:xfrm>
              <a:off x="1257120" y="547560"/>
              <a:ext cx="14642280" cy="1987920"/>
            </a:xfrm>
            <a:custGeom>
              <a:avLst/>
              <a:gdLst>
                <a:gd name="textAreaLeft" fmla="*/ 0 w 14642280"/>
                <a:gd name="textAreaRight" fmla="*/ 14642640 w 1464228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19523520" h="2651044">
                  <a:moveTo>
                    <a:pt x="0" y="0"/>
                  </a:moveTo>
                  <a:lnTo>
                    <a:pt x="19523520" y="0"/>
                  </a:lnTo>
                  <a:lnTo>
                    <a:pt x="1952352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TextBox 8"/>
            <p:cNvSpPr/>
            <p:nvPr/>
          </p:nvSpPr>
          <p:spPr>
            <a:xfrm>
              <a:off x="1257120" y="597600"/>
              <a:ext cx="14642280" cy="19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Working / Methodology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8" name="Group 9"/>
          <p:cNvGrpSpPr/>
          <p:nvPr/>
        </p:nvGrpSpPr>
        <p:grpSpPr>
          <a:xfrm>
            <a:off x="399960" y="9748800"/>
            <a:ext cx="3314160" cy="478440"/>
            <a:chOff x="399960" y="9748800"/>
            <a:chExt cx="3314160" cy="478440"/>
          </a:xfrm>
        </p:grpSpPr>
        <p:sp>
          <p:nvSpPr>
            <p:cNvPr id="399" name="Freeform 10"/>
            <p:cNvSpPr/>
            <p:nvPr/>
          </p:nvSpPr>
          <p:spPr>
            <a:xfrm>
              <a:off x="399960" y="9777240"/>
              <a:ext cx="3314160" cy="45000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50000"/>
                <a:gd name="textAreaBottom" fmla="*/ 450360 h 450000"/>
              </a:gdLst>
              <a:ahLst/>
              <a:cxnLst/>
              <a:rect l="textAreaLeft" t="textAreaTop" r="textAreaRight" b="textAreaBottom"/>
              <a:pathLst>
                <a:path w="4419360" h="600479">
                  <a:moveTo>
                    <a:pt x="0" y="0"/>
                  </a:moveTo>
                  <a:lnTo>
                    <a:pt x="4419360" y="0"/>
                  </a:lnTo>
                  <a:lnTo>
                    <a:pt x="4419360" y="600479"/>
                  </a:lnTo>
                  <a:lnTo>
                    <a:pt x="0" y="600479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TextBox 11"/>
            <p:cNvSpPr/>
            <p:nvPr/>
          </p:nvSpPr>
          <p:spPr>
            <a:xfrm>
              <a:off x="399960" y="9748800"/>
              <a:ext cx="3314160" cy="47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1" name="Group 12"/>
          <p:cNvGrpSpPr/>
          <p:nvPr/>
        </p:nvGrpSpPr>
        <p:grpSpPr>
          <a:xfrm>
            <a:off x="14411520" y="9651600"/>
            <a:ext cx="2969280" cy="575640"/>
            <a:chOff x="14411520" y="9651600"/>
            <a:chExt cx="2969280" cy="575640"/>
          </a:xfrm>
        </p:grpSpPr>
        <p:sp>
          <p:nvSpPr>
            <p:cNvPr id="402" name="Freeform 13"/>
            <p:cNvSpPr/>
            <p:nvPr/>
          </p:nvSpPr>
          <p:spPr>
            <a:xfrm>
              <a:off x="14411520" y="96800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TextBox 14"/>
            <p:cNvSpPr/>
            <p:nvPr/>
          </p:nvSpPr>
          <p:spPr>
            <a:xfrm>
              <a:off x="14411520" y="96516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8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4" name="Group 15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405" name="Freeform 16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TextBox 17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7" name="TextBox 18"/>
          <p:cNvSpPr/>
          <p:nvPr/>
        </p:nvSpPr>
        <p:spPr>
          <a:xfrm>
            <a:off x="1352520" y="261000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1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19"/>
          <p:cNvSpPr/>
          <p:nvPr/>
        </p:nvSpPr>
        <p:spPr>
          <a:xfrm>
            <a:off x="1924200" y="2619360"/>
            <a:ext cx="150109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Voice input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Silero VAD detects speech frames (512-sample ONNX frame invariance)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20"/>
          <p:cNvSpPr/>
          <p:nvPr/>
        </p:nvSpPr>
        <p:spPr>
          <a:xfrm>
            <a:off x="1352520" y="326520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2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21"/>
          <p:cNvSpPr/>
          <p:nvPr/>
        </p:nvSpPr>
        <p:spPr>
          <a:xfrm>
            <a:off x="1924200" y="3274560"/>
            <a:ext cx="1501092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ASR processing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Faster-Whisper int8 CPU + Meta MMS-1B hne CUDA fp16 for vernacular recognition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22"/>
          <p:cNvSpPr/>
          <p:nvPr/>
        </p:nvSpPr>
        <p:spPr>
          <a:xfrm>
            <a:off x="1352520" y="410148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3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23"/>
          <p:cNvSpPr/>
          <p:nvPr/>
        </p:nvSpPr>
        <p:spPr>
          <a:xfrm>
            <a:off x="1924200" y="4110840"/>
            <a:ext cx="150109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Matra repair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Devanagari CTC matra repair corrects transcription errors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4"/>
          <p:cNvSpPr/>
          <p:nvPr/>
        </p:nvSpPr>
        <p:spPr>
          <a:xfrm>
            <a:off x="1352520" y="475668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4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25"/>
          <p:cNvSpPr/>
          <p:nvPr/>
        </p:nvSpPr>
        <p:spPr>
          <a:xfrm>
            <a:off x="1924200" y="4766400"/>
            <a:ext cx="150109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Verbalization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Deterministic verbalization v2 — Indian numbering, Hindi negation guard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26"/>
          <p:cNvSpPr/>
          <p:nvPr/>
        </p:nvSpPr>
        <p:spPr>
          <a:xfrm>
            <a:off x="1352520" y="541224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5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27"/>
          <p:cNvSpPr/>
          <p:nvPr/>
        </p:nvSpPr>
        <p:spPr>
          <a:xfrm>
            <a:off x="1924200" y="5421600"/>
            <a:ext cx="1501092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Demo 1 path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12 FastMCP tool subprocesses under safety boundaries → atomic shop.json transaction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28"/>
          <p:cNvSpPr/>
          <p:nvPr/>
        </p:nvSpPr>
        <p:spPr>
          <a:xfrm>
            <a:off x="1352520" y="625176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6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29"/>
          <p:cNvSpPr/>
          <p:nvPr/>
        </p:nvSpPr>
        <p:spPr>
          <a:xfrm>
            <a:off x="1924200" y="6261480"/>
            <a:ext cx="1501092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Demo 2 path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Bounded FIFO JobManager → hybrid retrieval (multilingual-e5-small + BM25 + RRF) → two-pass grounding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30"/>
          <p:cNvSpPr/>
          <p:nvPr/>
        </p:nvSpPr>
        <p:spPr>
          <a:xfrm>
            <a:off x="1352520" y="709164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7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31"/>
          <p:cNvSpPr/>
          <p:nvPr/>
        </p:nvSpPr>
        <p:spPr>
          <a:xfrm>
            <a:off x="1924200" y="7101360"/>
            <a:ext cx="150109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Response synthesis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Coqui VITS CPU LRU cache or Microsoft Edge TTS for Hinglish/English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32"/>
          <p:cNvSpPr/>
          <p:nvPr/>
        </p:nvSpPr>
        <p:spPr>
          <a:xfrm>
            <a:off x="1352520" y="7616160"/>
            <a:ext cx="183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8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33"/>
          <p:cNvSpPr/>
          <p:nvPr/>
        </p:nvSpPr>
        <p:spPr>
          <a:xfrm>
            <a:off x="1924200" y="7625880"/>
            <a:ext cx="150109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1" u="none" strike="noStrike">
                <a:solidFill>
                  <a:srgbClr val="002060"/>
                </a:solidFill>
                <a:effectLst/>
                <a:uFillTx/>
                <a:latin typeface="Arimo Bold"/>
                <a:ea typeface="Arimo Bold"/>
              </a:rPr>
              <a:t>Output — </a:t>
            </a: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Voice playback to the user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34"/>
          <p:cNvSpPr/>
          <p:nvPr/>
        </p:nvSpPr>
        <p:spPr>
          <a:xfrm>
            <a:off x="1352520" y="8157240"/>
            <a:ext cx="1558260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2200" b="0" i="1" u="none" strike="noStrike">
                <a:solidFill>
                  <a:srgbClr val="23298A"/>
                </a:solidFill>
                <a:effectLst/>
                <a:uFillTx/>
                <a:latin typeface="Arimo Italics"/>
                <a:ea typeface="Arimo Italics"/>
              </a:rPr>
              <a:t>Error handling: turn timeouts, queue deadlines and HTTP 429 busy responses handled gracefully.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425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6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427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8" name="TextBox 6"/>
          <p:cNvSpPr/>
          <p:nvPr/>
        </p:nvSpPr>
        <p:spPr>
          <a:xfrm>
            <a:off x="1348560" y="2565000"/>
            <a:ext cx="1559016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535"/>
              </a:lnSpc>
              <a:tabLst>
                <a:tab pos="0" algn="l"/>
              </a:tabLst>
            </a:pPr>
            <a:r>
              <a:rPr lang="en-US" sz="4200" b="0" u="none" strike="noStrike">
                <a:solidFill>
                  <a:srgbClr val="002060"/>
                </a:solidFill>
                <a:effectLst/>
                <a:uFillTx/>
                <a:latin typeface="Calibri (MS)"/>
                <a:ea typeface="Calibri (MS)"/>
              </a:rPr>
              <a:t>Summary of databases and system components used in the project: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9" name="Group 7"/>
          <p:cNvGrpSpPr/>
          <p:nvPr/>
        </p:nvGrpSpPr>
        <p:grpSpPr>
          <a:xfrm>
            <a:off x="1257120" y="547560"/>
            <a:ext cx="15773040" cy="1987920"/>
            <a:chOff x="1257120" y="547560"/>
            <a:chExt cx="15773040" cy="1987920"/>
          </a:xfrm>
        </p:grpSpPr>
        <p:sp>
          <p:nvSpPr>
            <p:cNvPr id="430" name="Freeform 8"/>
            <p:cNvSpPr/>
            <p:nvPr/>
          </p:nvSpPr>
          <p:spPr>
            <a:xfrm>
              <a:off x="1257120" y="54756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044">
                  <a:moveTo>
                    <a:pt x="0" y="0"/>
                  </a:moveTo>
                  <a:lnTo>
                    <a:pt x="21031200" y="0"/>
                  </a:lnTo>
                  <a:lnTo>
                    <a:pt x="2103120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TextBox 9"/>
            <p:cNvSpPr/>
            <p:nvPr/>
          </p:nvSpPr>
          <p:spPr>
            <a:xfrm>
              <a:off x="1257120" y="597600"/>
              <a:ext cx="15773040" cy="19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Database / Dataset / System Components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2" name="Group 10"/>
          <p:cNvGrpSpPr/>
          <p:nvPr/>
        </p:nvGrpSpPr>
        <p:grpSpPr>
          <a:xfrm>
            <a:off x="399960" y="9808560"/>
            <a:ext cx="3314160" cy="478440"/>
            <a:chOff x="399960" y="9808560"/>
            <a:chExt cx="3314160" cy="478440"/>
          </a:xfrm>
        </p:grpSpPr>
        <p:sp>
          <p:nvSpPr>
            <p:cNvPr id="433" name="Freeform 11"/>
            <p:cNvSpPr/>
            <p:nvPr/>
          </p:nvSpPr>
          <p:spPr>
            <a:xfrm>
              <a:off x="399960" y="9837360"/>
              <a:ext cx="3314160" cy="44964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640"/>
                <a:gd name="textAreaBottom" fmla="*/ 450000 h 449640"/>
              </a:gdLst>
              <a:ahLst/>
              <a:cxnLst/>
              <a:rect l="textAreaLeft" t="textAreaTop" r="textAreaRight" b="textAreaBottom"/>
              <a:pathLst>
                <a:path w="4419360" h="599763">
                  <a:moveTo>
                    <a:pt x="0" y="0"/>
                  </a:moveTo>
                  <a:lnTo>
                    <a:pt x="4419360" y="0"/>
                  </a:lnTo>
                  <a:lnTo>
                    <a:pt x="4419360" y="599763"/>
                  </a:lnTo>
                  <a:lnTo>
                    <a:pt x="0" y="59976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TextBox 12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5" name="Group 13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436" name="Freeform 14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TextBox 15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8" name="Group 16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439" name="Freeform 17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TextBox 18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9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441" name="Table 19"/>
          <p:cNvGraphicFramePr/>
          <p:nvPr/>
        </p:nvGraphicFramePr>
        <p:xfrm>
          <a:off x="1348560" y="3528720"/>
          <a:ext cx="14073840" cy="6569640"/>
        </p:xfrm>
        <a:graphic>
          <a:graphicData uri="http://schemas.openxmlformats.org/drawingml/2006/table">
            <a:tbl>
              <a:tblPr/>
              <a:tblGrid>
                <a:gridCol w="3352680"/>
                <a:gridCol w="2666880"/>
                <a:gridCol w="3404160"/>
                <a:gridCol w="4649760"/>
              </a:tblGrid>
              <a:tr h="93852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Dataset / Component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Instances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Categories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Remarks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8444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JoSAA cutoff database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611 rows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Official admission cutoffs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SQLite sidecar for Demo 2 retrieval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7796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Demo 1 shop.json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Dynamic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Agronomic/pesticide requests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Atomic file storage with filelock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7796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Silero VAD model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Pretrained ONNX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Voice activity detection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512-sample frame invariant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7796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Faster-Whisper int8 ASR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Pretrained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Multilingual ASR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CPU optimized inference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7796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Meta MMS-1B hne ASR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Pretrained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Chhattisgarhi ASR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CUDA fp16 with CTC matra repair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  <a:tr h="777960"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Retrieval benchmark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117 cases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Hybrid retrieval system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 lIns="90000" tIns="90000" rIns="90000" bIns="90000" anchor="t">
                      <a:noAutofit/>
                    </a:bodyPr>
                    <a:p>
                      <a:pPr defTabSz="914400">
                        <a:lnSpc>
                          <a:spcPts val="2985"/>
                        </a:lnSpc>
                      </a:pPr>
                      <a:r>
                        <a:rPr lang="en-US" sz="249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 (MS) Bold"/>
                          <a:ea typeface="Calibri (MS) Bold"/>
                        </a:rPr>
                        <a:t>multilingual-e5-small + BM25</a:t>
                      </a:r>
                      <a:endParaRPr lang="en-IN" sz="24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90000" marB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0F6FC6"/>
                    </a:solidFill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443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4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445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6" name="Group 6"/>
          <p:cNvGrpSpPr/>
          <p:nvPr/>
        </p:nvGrpSpPr>
        <p:grpSpPr>
          <a:xfrm>
            <a:off x="1257120" y="238320"/>
            <a:ext cx="15773040" cy="1416600"/>
            <a:chOff x="1257120" y="238320"/>
            <a:chExt cx="15773040" cy="1416600"/>
          </a:xfrm>
        </p:grpSpPr>
        <p:sp>
          <p:nvSpPr>
            <p:cNvPr id="447" name="Freeform 7"/>
            <p:cNvSpPr/>
            <p:nvPr/>
          </p:nvSpPr>
          <p:spPr>
            <a:xfrm>
              <a:off x="1257120" y="238320"/>
              <a:ext cx="15773040" cy="141660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416600"/>
                <a:gd name="textAreaBottom" fmla="*/ 1416960 h 1416600"/>
              </a:gdLst>
              <a:ahLst/>
              <a:cxnLst/>
              <a:rect l="textAreaLeft" t="textAreaTop" r="textAreaRight" b="textAreaBottom"/>
              <a:pathLst>
                <a:path w="21031200" h="1889283">
                  <a:moveTo>
                    <a:pt x="0" y="0"/>
                  </a:moveTo>
                  <a:lnTo>
                    <a:pt x="21031200" y="0"/>
                  </a:lnTo>
                  <a:lnTo>
                    <a:pt x="21031200" y="1889283"/>
                  </a:lnTo>
                  <a:lnTo>
                    <a:pt x="0" y="1889283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TextBox 8"/>
            <p:cNvSpPr/>
            <p:nvPr/>
          </p:nvSpPr>
          <p:spPr>
            <a:xfrm>
              <a:off x="1257120" y="288000"/>
              <a:ext cx="15773040" cy="13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7129"/>
                </a:lnSpc>
                <a:tabLst>
                  <a:tab pos="0" algn="l"/>
                </a:tabLst>
              </a:pPr>
              <a:r>
                <a:rPr lang="en-US" sz="6600" b="1" u="none" spc="-40" strike="noStrike">
                  <a:solidFill>
                    <a:srgbClr val="002060"/>
                  </a:solidFill>
                  <a:effectLst/>
                  <a:uFillTx/>
                  <a:latin typeface="TT Rounds Condensed Bold"/>
                  <a:ea typeface="TT Rounds Condensed Bold"/>
                </a:rPr>
                <a:t>Experimental Results and Discussion</a:t>
              </a:r>
              <a:endParaRPr lang="en-IN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9" name="Group 9"/>
          <p:cNvGrpSpPr/>
          <p:nvPr/>
        </p:nvGrpSpPr>
        <p:grpSpPr>
          <a:xfrm>
            <a:off x="399960" y="9808560"/>
            <a:ext cx="3314160" cy="478440"/>
            <a:chOff x="399960" y="9808560"/>
            <a:chExt cx="3314160" cy="478440"/>
          </a:xfrm>
        </p:grpSpPr>
        <p:sp>
          <p:nvSpPr>
            <p:cNvPr id="450" name="Freeform 10"/>
            <p:cNvSpPr/>
            <p:nvPr/>
          </p:nvSpPr>
          <p:spPr>
            <a:xfrm>
              <a:off x="399960" y="9837360"/>
              <a:ext cx="3314160" cy="44964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49640"/>
                <a:gd name="textAreaBottom" fmla="*/ 450000 h 449640"/>
              </a:gdLst>
              <a:ahLst/>
              <a:cxnLst/>
              <a:rect l="textAreaLeft" t="textAreaTop" r="textAreaRight" b="textAreaBottom"/>
              <a:pathLst>
                <a:path w="4419360" h="599763">
                  <a:moveTo>
                    <a:pt x="0" y="0"/>
                  </a:moveTo>
                  <a:lnTo>
                    <a:pt x="4419360" y="0"/>
                  </a:lnTo>
                  <a:lnTo>
                    <a:pt x="4419360" y="599763"/>
                  </a:lnTo>
                  <a:lnTo>
                    <a:pt x="0" y="59976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TextBox 11"/>
            <p:cNvSpPr/>
            <p:nvPr/>
          </p:nvSpPr>
          <p:spPr>
            <a:xfrm>
              <a:off x="399960" y="9808560"/>
              <a:ext cx="3314160" cy="47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2" name="Group 12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453" name="Freeform 13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4" name="TextBox 14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52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5" name="Group 15"/>
          <p:cNvGrpSpPr/>
          <p:nvPr/>
        </p:nvGrpSpPr>
        <p:grpSpPr>
          <a:xfrm>
            <a:off x="14444640" y="9711000"/>
            <a:ext cx="2969280" cy="575640"/>
            <a:chOff x="14444640" y="9711000"/>
            <a:chExt cx="2969280" cy="575640"/>
          </a:xfrm>
        </p:grpSpPr>
        <p:sp>
          <p:nvSpPr>
            <p:cNvPr id="456" name="Freeform 16"/>
            <p:cNvSpPr/>
            <p:nvPr/>
          </p:nvSpPr>
          <p:spPr>
            <a:xfrm>
              <a:off x="14444640" y="97394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7" name="TextBox 17"/>
            <p:cNvSpPr/>
            <p:nvPr/>
          </p:nvSpPr>
          <p:spPr>
            <a:xfrm>
              <a:off x="14444640" y="97110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2160"/>
                </a:lnSpc>
                <a:tabLst>
                  <a:tab pos="0" algn="l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10</a:t>
              </a: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8" name="TextBox 18"/>
          <p:cNvSpPr/>
          <p:nvPr/>
        </p:nvSpPr>
        <p:spPr>
          <a:xfrm>
            <a:off x="1352520" y="2141280"/>
            <a:ext cx="155826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920"/>
              </a:lnSpc>
            </a:pPr>
            <a:r>
              <a:rPr lang="en-US" sz="28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Retrieval &amp; matching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19"/>
          <p:cNvSpPr/>
          <p:nvPr/>
        </p:nvSpPr>
        <p:spPr>
          <a:xfrm>
            <a:off x="1733400" y="274392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20"/>
          <p:cNvSpPr/>
          <p:nvPr/>
        </p:nvSpPr>
        <p:spPr>
          <a:xfrm>
            <a:off x="2171880" y="275328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Hybrid recall@6 98.92% vs 10.75% naive vector baseline (117-case benchmark)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21"/>
          <p:cNvSpPr/>
          <p:nvPr/>
        </p:nvSpPr>
        <p:spPr>
          <a:xfrm>
            <a:off x="1733400" y="336096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22"/>
          <p:cNvSpPr/>
          <p:nvPr/>
        </p:nvSpPr>
        <p:spPr>
          <a:xfrm>
            <a:off x="2171880" y="337068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English / Hinglish recall 100% / 100%; exact JoSAA cutoff match 100% on 42 test cases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23"/>
          <p:cNvSpPr/>
          <p:nvPr/>
        </p:nvSpPr>
        <p:spPr>
          <a:xfrm>
            <a:off x="1352520" y="3968640"/>
            <a:ext cx="155826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920"/>
              </a:lnSpc>
            </a:pPr>
            <a:r>
              <a:rPr lang="en-US" sz="28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Hallucination &amp; testing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24"/>
          <p:cNvSpPr/>
          <p:nvPr/>
        </p:nvSpPr>
        <p:spPr>
          <a:xfrm>
            <a:off x="1733400" y="457128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25"/>
          <p:cNvSpPr/>
          <p:nvPr/>
        </p:nvSpPr>
        <p:spPr>
          <a:xfrm>
            <a:off x="2171880" y="458100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Naive baseline ~18% hallucinations; zero in 120 live turns (reviewed system)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26"/>
          <p:cNvSpPr/>
          <p:nvPr/>
        </p:nvSpPr>
        <p:spPr>
          <a:xfrm>
            <a:off x="1733400" y="518868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27"/>
          <p:cNvSpPr/>
          <p:nvPr/>
        </p:nvSpPr>
        <p:spPr>
          <a:xfrm>
            <a:off x="2171880" y="519804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316/316 tests passing (279 Institute Assistant, 37 Demo 2)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28"/>
          <p:cNvSpPr/>
          <p:nvPr/>
        </p:nvSpPr>
        <p:spPr>
          <a:xfrm>
            <a:off x="1352520" y="5796360"/>
            <a:ext cx="155826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920"/>
              </a:lnSpc>
            </a:pPr>
            <a:r>
              <a:rPr lang="en-US" sz="28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Latency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29"/>
          <p:cNvSpPr/>
          <p:nvPr/>
        </p:nvSpPr>
        <p:spPr>
          <a:xfrm>
            <a:off x="1733400" y="639900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30"/>
          <p:cNvSpPr/>
          <p:nvPr/>
        </p:nvSpPr>
        <p:spPr>
          <a:xfrm>
            <a:off x="2171880" y="640836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Cold turn 18.68 s; warm-cache perceived text latency 2.64 s; text appears 4–15 s before audio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31"/>
          <p:cNvSpPr/>
          <p:nvPr/>
        </p:nvSpPr>
        <p:spPr>
          <a:xfrm>
            <a:off x="1352520" y="7006680"/>
            <a:ext cx="155826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920"/>
              </a:lnSpc>
            </a:pPr>
            <a:r>
              <a:rPr lang="en-US" sz="28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Hardware &amp; memory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32"/>
          <p:cNvSpPr/>
          <p:nvPr/>
        </p:nvSpPr>
        <p:spPr>
          <a:xfrm>
            <a:off x="1733400" y="760932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33"/>
          <p:cNvSpPr/>
          <p:nvPr/>
        </p:nvSpPr>
        <p:spPr>
          <a:xfrm>
            <a:off x="2171880" y="761868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Naive stacking needs 9.1 GB (crashes 8 GB GPU); decoupled operation ~7.95 GB, 100% uptime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34"/>
          <p:cNvSpPr/>
          <p:nvPr/>
        </p:nvSpPr>
        <p:spPr>
          <a:xfrm>
            <a:off x="1352520" y="8217000"/>
            <a:ext cx="155826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920"/>
              </a:lnSpc>
            </a:pPr>
            <a:r>
              <a:rPr lang="en-US" sz="28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Cost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35"/>
          <p:cNvSpPr/>
          <p:nvPr/>
        </p:nvSpPr>
        <p:spPr>
          <a:xfrm>
            <a:off x="1733400" y="8819640"/>
            <a:ext cx="11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1" u="none" strike="noStrike">
                <a:solidFill>
                  <a:srgbClr val="0C2577"/>
                </a:solidFill>
                <a:effectLst/>
                <a:uFillTx/>
                <a:latin typeface="Arimo Bold"/>
                <a:ea typeface="Arimo Bold"/>
              </a:rPr>
              <a:t>•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36"/>
          <p:cNvSpPr/>
          <p:nvPr/>
        </p:nvSpPr>
        <p:spPr>
          <a:xfrm>
            <a:off x="2171880" y="8829000"/>
            <a:ext cx="1476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lang="en-US" sz="2600" b="0" u="none" strike="noStrike">
                <a:solidFill>
                  <a:srgbClr val="002060"/>
                </a:solidFill>
                <a:effectLst/>
                <a:uFillTx/>
                <a:latin typeface="Arimo"/>
                <a:ea typeface="Arimo"/>
              </a:rPr>
              <a:t>$409.25/month for 10,000 turns on cloud APIs vs $0.60 local electricity (~682× cheaper)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3"/>
          <p:cNvSpPr/>
          <p:nvPr/>
        </p:nvSpPr>
        <p:spPr>
          <a:xfrm>
            <a:off x="799560" y="583560"/>
            <a:ext cx="111265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287"/>
              </a:lnSpc>
            </a:pPr>
            <a:r>
              <a:rPr lang="en-US" sz="6280" b="1" u="none" strike="noStrike">
                <a:solidFill>
                  <a:srgbClr val="0F2766"/>
                </a:solidFill>
                <a:effectLst/>
                <a:uFillTx/>
                <a:latin typeface="TT Rounds Condensed Bold"/>
                <a:ea typeface="TT Rounds Condensed Bold"/>
              </a:rPr>
              <a:t>Conclusion and Future Directions</a:t>
            </a:r>
            <a:endParaRPr lang="en-IN" sz="6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Freeform 4"/>
          <p:cNvSpPr/>
          <p:nvPr/>
        </p:nvSpPr>
        <p:spPr>
          <a:xfrm>
            <a:off x="15892560" y="207720"/>
            <a:ext cx="2187360" cy="2372040"/>
          </a:xfrm>
          <a:custGeom>
            <a:avLst/>
            <a:gdLst>
              <a:gd name="textAreaLeft" fmla="*/ 0 w 2187360"/>
              <a:gd name="textAreaRight" fmla="*/ 2187720 w 2187360"/>
              <a:gd name="textAreaTop" fmla="*/ 0 h 2372040"/>
              <a:gd name="textAreaBottom" fmla="*/ 2372400 h 2372040"/>
            </a:gdLst>
            <a:ahLst/>
            <a:cxnLst/>
            <a:rect l="textAreaLeft" t="textAreaTop" r="textAreaRight" b="textAreaBottom"/>
            <a:pathLst>
              <a:path w="2187560" h="2372241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Freeform 5"/>
          <p:cNvSpPr/>
          <p:nvPr/>
        </p:nvSpPr>
        <p:spPr>
          <a:xfrm>
            <a:off x="645480" y="2568960"/>
            <a:ext cx="8071560" cy="6220080"/>
          </a:xfrm>
          <a:custGeom>
            <a:avLst/>
            <a:gdLst>
              <a:gd name="textAreaLeft" fmla="*/ 0 w 8071560"/>
              <a:gd name="textAreaRight" fmla="*/ 8071920 w 8071560"/>
              <a:gd name="textAreaTop" fmla="*/ 0 h 6220080"/>
              <a:gd name="textAreaBottom" fmla="*/ 6220440 h 6220080"/>
            </a:gdLst>
            <a:ahLst/>
            <a:cxnLst/>
            <a:rect l="textAreaLeft" t="textAreaTop" r="textAreaRight" b="textAreaBottom"/>
            <a:pathLst>
              <a:path w="8072096" h="6220301">
                <a:moveTo>
                  <a:pt x="0" y="0"/>
                </a:moveTo>
                <a:lnTo>
                  <a:pt x="8072096" y="0"/>
                </a:lnTo>
                <a:lnTo>
                  <a:pt x="8072096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Freeform 6"/>
          <p:cNvSpPr/>
          <p:nvPr/>
        </p:nvSpPr>
        <p:spPr>
          <a:xfrm>
            <a:off x="645480" y="1924200"/>
            <a:ext cx="1104480" cy="1081800"/>
          </a:xfrm>
          <a:custGeom>
            <a:avLst/>
            <a:gdLst>
              <a:gd name="textAreaLeft" fmla="*/ 0 w 1104480"/>
              <a:gd name="textAreaRight" fmla="*/ 1104840 w 1104480"/>
              <a:gd name="textAreaTop" fmla="*/ 0 h 1081800"/>
              <a:gd name="textAreaBottom" fmla="*/ 1082160 h 1081800"/>
            </a:gdLst>
            <a:ahLst/>
            <a:cxnLst/>
            <a:rect l="textAreaLeft" t="textAreaTop" r="textAreaRight" b="textAreaBottom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Freeform 7"/>
          <p:cNvSpPr/>
          <p:nvPr/>
        </p:nvSpPr>
        <p:spPr>
          <a:xfrm>
            <a:off x="1082880" y="2142720"/>
            <a:ext cx="448200" cy="644760"/>
          </a:xfrm>
          <a:custGeom>
            <a:avLst/>
            <a:gdLst>
              <a:gd name="textAreaLeft" fmla="*/ 0 w 448200"/>
              <a:gd name="textAreaRight" fmla="*/ 448560 w 448200"/>
              <a:gd name="textAreaTop" fmla="*/ 0 h 644760"/>
              <a:gd name="textAreaBottom" fmla="*/ 645120 h 644760"/>
            </a:gdLst>
            <a:ahLst/>
            <a:cxnLst/>
            <a:rect l="textAreaLeft" t="textAreaTop" r="textAreaRight" b="textAreaBottom"/>
            <a:pathLst>
              <a:path w="448450" h="644987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Freeform 8"/>
          <p:cNvSpPr/>
          <p:nvPr/>
        </p:nvSpPr>
        <p:spPr>
          <a:xfrm>
            <a:off x="1520280" y="2142720"/>
            <a:ext cx="2843640" cy="644760"/>
          </a:xfrm>
          <a:custGeom>
            <a:avLst/>
            <a:gdLst>
              <a:gd name="textAreaLeft" fmla="*/ 0 w 2843640"/>
              <a:gd name="textAreaRight" fmla="*/ 2844000 w 2843640"/>
              <a:gd name="textAreaTop" fmla="*/ 0 h 644760"/>
              <a:gd name="textAreaBottom" fmla="*/ 645120 h 644760"/>
            </a:gdLst>
            <a:ahLst/>
            <a:cxnLst/>
            <a:rect l="textAreaLeft" t="textAreaTop" r="textAreaRight" b="textAreaBottom"/>
            <a:pathLst>
              <a:path w="2843828" h="644987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9"/>
          <p:cNvSpPr/>
          <p:nvPr/>
        </p:nvSpPr>
        <p:spPr>
          <a:xfrm>
            <a:off x="1932840" y="2253600"/>
            <a:ext cx="22611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48"/>
              </a:lnSpc>
            </a:pPr>
            <a:r>
              <a:rPr lang="en-US" sz="2570" b="1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Arimo Bold"/>
                <a:ea typeface="Arimo Bold"/>
              </a:rPr>
              <a:t>CONCLUSION</a:t>
            </a:r>
            <a:endParaRPr lang="en-IN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10"/>
          <p:cNvSpPr/>
          <p:nvPr/>
        </p:nvSpPr>
        <p:spPr>
          <a:xfrm>
            <a:off x="1028880" y="3147120"/>
            <a:ext cx="696492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42080" lvl="1" indent="-221040" defTabSz="914400">
              <a:lnSpc>
                <a:spcPts val="2662"/>
              </a:lnSpc>
              <a:buClr>
                <a:srgbClr val="0F2766"/>
              </a:buClr>
              <a:buFont typeface="Arial"/>
              <a:buChar char="•"/>
            </a:pPr>
            <a:r>
              <a:rPr lang="en-US" sz="204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A reusable edge-native Voice-to-Voice architecture has been implemented for Chhattisgarhi, Hindi, Hinglish, and English interaction.</a:t>
            </a: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662"/>
              </a:lnSpc>
            </a:pP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080" lvl="1" indent="-221040" defTabSz="914400">
              <a:lnSpc>
                <a:spcPts val="2662"/>
              </a:lnSpc>
              <a:buClr>
                <a:srgbClr val="0F2766"/>
              </a:buClr>
              <a:buFont typeface="Arial"/>
              <a:buChar char="•"/>
            </a:pPr>
            <a:r>
              <a:rPr lang="en-US" sz="204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The system combines hybrid retrieval, exact SQL cutoff lookup, verbatim quotation validation, bounded job admission, and release-bound caching.</a:t>
            </a: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662"/>
              </a:lnSpc>
            </a:pP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080" lvl="1" indent="-221040" defTabSz="914400">
              <a:lnSpc>
                <a:spcPts val="2662"/>
              </a:lnSpc>
              <a:buClr>
                <a:srgbClr val="0F2766"/>
              </a:buClr>
              <a:buFont typeface="Arial"/>
              <a:buChar char="•"/>
            </a:pPr>
            <a:r>
              <a:rPr lang="en-US" sz="204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Current measured baseline: answered text turns take 18.7 s at median and 29.9 s at p95; retrieval itself takes about 50 ms.</a:t>
            </a: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080" lvl="1" indent="-221040" defTabSz="914400">
              <a:lnSpc>
                <a:spcPts val="2662"/>
              </a:lnSpc>
              <a:buClr>
                <a:srgbClr val="0F2766"/>
              </a:buClr>
              <a:buFont typeface="Arial"/>
              <a:buChar char="•"/>
            </a:pPr>
            <a:r>
              <a:rPr lang="en-US" sz="204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The main bottleneck is sequential 9B-model processing: routing ≥3.8 s, generation ≥7.2 s, and review ≥7.4 s.</a:t>
            </a: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080" lvl="1" indent="-221040" defTabSz="914400">
              <a:lnSpc>
                <a:spcPts val="2662"/>
              </a:lnSpc>
              <a:buClr>
                <a:srgbClr val="0F2766"/>
              </a:buClr>
              <a:buFont typeface="Arial"/>
              <a:buChar char="•"/>
            </a:pPr>
            <a:r>
              <a:rPr lang="en-US" sz="204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Current evidence supports rejection of unverifiable quotations; a broader claim-level hallucination audit remains to be completed.</a:t>
            </a:r>
            <a:endParaRPr lang="en-IN" sz="2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Freeform 11"/>
          <p:cNvSpPr/>
          <p:nvPr/>
        </p:nvSpPr>
        <p:spPr>
          <a:xfrm>
            <a:off x="8706600" y="2568960"/>
            <a:ext cx="8935920" cy="6220080"/>
          </a:xfrm>
          <a:custGeom>
            <a:avLst/>
            <a:gdLst>
              <a:gd name="textAreaLeft" fmla="*/ 0 w 8935920"/>
              <a:gd name="textAreaRight" fmla="*/ 8936280 w 8935920"/>
              <a:gd name="textAreaTop" fmla="*/ 0 h 6220080"/>
              <a:gd name="textAreaBottom" fmla="*/ 6220440 h 6220080"/>
            </a:gdLst>
            <a:ahLst/>
            <a:cxnLst/>
            <a:rect l="textAreaLeft" t="textAreaTop" r="textAreaRight" b="textAreaBottom"/>
            <a:pathLst>
              <a:path w="8936182" h="6220301">
                <a:moveTo>
                  <a:pt x="0" y="0"/>
                </a:moveTo>
                <a:lnTo>
                  <a:pt x="8936182" y="0"/>
                </a:lnTo>
                <a:lnTo>
                  <a:pt x="8936182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Freeform 12"/>
          <p:cNvSpPr/>
          <p:nvPr/>
        </p:nvSpPr>
        <p:spPr>
          <a:xfrm>
            <a:off x="8706600" y="1924200"/>
            <a:ext cx="1093320" cy="1081800"/>
          </a:xfrm>
          <a:custGeom>
            <a:avLst/>
            <a:gdLst>
              <a:gd name="textAreaLeft" fmla="*/ 0 w 1093320"/>
              <a:gd name="textAreaRight" fmla="*/ 1093680 w 1093320"/>
              <a:gd name="textAreaTop" fmla="*/ 0 h 1081800"/>
              <a:gd name="textAreaBottom" fmla="*/ 1082160 h 1081800"/>
            </a:gdLst>
            <a:ahLst/>
            <a:cxnLst/>
            <a:rect l="textAreaLeft" t="textAreaTop" r="textAreaRight" b="textAreaBottom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Freeform 13"/>
          <p:cNvSpPr/>
          <p:nvPr/>
        </p:nvSpPr>
        <p:spPr>
          <a:xfrm>
            <a:off x="8925120" y="2142720"/>
            <a:ext cx="874800" cy="644760"/>
          </a:xfrm>
          <a:custGeom>
            <a:avLst/>
            <a:gdLst>
              <a:gd name="textAreaLeft" fmla="*/ 0 w 874800"/>
              <a:gd name="textAreaRight" fmla="*/ 875160 w 874800"/>
              <a:gd name="textAreaTop" fmla="*/ 0 h 644760"/>
              <a:gd name="textAreaBottom" fmla="*/ 645120 h 644760"/>
            </a:gdLst>
            <a:ahLst/>
            <a:cxnLst/>
            <a:rect l="textAreaLeft" t="textAreaTop" r="textAreaRight" b="textAreaBottom"/>
            <a:pathLst>
              <a:path w="875024" h="644987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Freeform 14"/>
          <p:cNvSpPr/>
          <p:nvPr/>
        </p:nvSpPr>
        <p:spPr>
          <a:xfrm>
            <a:off x="9570600" y="2142720"/>
            <a:ext cx="4363920" cy="644760"/>
          </a:xfrm>
          <a:custGeom>
            <a:avLst/>
            <a:gdLst>
              <a:gd name="textAreaLeft" fmla="*/ 0 w 4363920"/>
              <a:gd name="textAreaRight" fmla="*/ 4364280 w 4363920"/>
              <a:gd name="textAreaTop" fmla="*/ 0 h 644760"/>
              <a:gd name="textAreaBottom" fmla="*/ 645120 h 644760"/>
            </a:gdLst>
            <a:ahLst/>
            <a:cxnLst/>
            <a:rect l="textAreaLeft" t="textAreaTop" r="textAreaRight" b="textAreaBottom"/>
            <a:pathLst>
              <a:path w="4364182" h="644987">
                <a:moveTo>
                  <a:pt x="0" y="0"/>
                </a:moveTo>
                <a:lnTo>
                  <a:pt x="4364182" y="0"/>
                </a:lnTo>
                <a:lnTo>
                  <a:pt x="436418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15"/>
          <p:cNvSpPr/>
          <p:nvPr/>
        </p:nvSpPr>
        <p:spPr>
          <a:xfrm>
            <a:off x="10037520" y="2253600"/>
            <a:ext cx="35319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48"/>
              </a:lnSpc>
            </a:pPr>
            <a:r>
              <a:rPr lang="en-US" sz="2570" b="1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Arimo Bold"/>
                <a:ea typeface="Arimo Bold"/>
              </a:rPr>
              <a:t>FUTURE DIRECTIONS</a:t>
            </a:r>
            <a:endParaRPr lang="en-IN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16"/>
          <p:cNvSpPr/>
          <p:nvPr/>
        </p:nvSpPr>
        <p:spPr>
          <a:xfrm>
            <a:off x="9627840" y="3016080"/>
            <a:ext cx="6980040" cy="51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489"/>
              </a:lnSpc>
            </a:pPr>
            <a:r>
              <a:rPr lang="en-US" sz="192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Reduce inference cost: </a:t>
            </a: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free desktop VRAM, use a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text-only model, and improve GPU placement.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Reduce repeated large-model work: </a:t>
            </a: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use verified draft-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cache hits and a small claim checker with selective 9B review.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Stream the interaction: </a:t>
            </a: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integrate the existing streaming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STT service, add semantic end-of-turn detection, and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synthesize speech sentence by sentence.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Improve retrieval and knowledge quality: </a:t>
            </a: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add multilingual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reranking, Indic BM25 tokenization, and parser-first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knowledge-base verification with keyed tables.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Strengthen evaluation: </a:t>
            </a: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collect recorded speech benchmarks,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perform claim-level audits, report paired statistics, and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0F2766"/>
                </a:solidFill>
                <a:effectLst/>
                <a:uFillTx/>
                <a:latin typeface="Arimo"/>
                <a:ea typeface="Arimo"/>
              </a:rPr>
              <a:t>log energy use.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Freeform 17"/>
          <p:cNvSpPr/>
          <p:nvPr/>
        </p:nvSpPr>
        <p:spPr>
          <a:xfrm>
            <a:off x="1958040" y="8778240"/>
            <a:ext cx="14371920" cy="874080"/>
          </a:xfrm>
          <a:custGeom>
            <a:avLst/>
            <a:gdLst>
              <a:gd name="textAreaLeft" fmla="*/ 0 w 14371920"/>
              <a:gd name="textAreaRight" fmla="*/ 14372280 w 14371920"/>
              <a:gd name="textAreaTop" fmla="*/ 0 h 874080"/>
              <a:gd name="textAreaBottom" fmla="*/ 874440 h 874080"/>
            </a:gdLst>
            <a:ahLst/>
            <a:cxnLst/>
            <a:rect l="textAreaLeft" t="textAreaTop" r="textAreaRight" b="textAreaBottom"/>
            <a:pathLst>
              <a:path w="14372268" h="874559">
                <a:moveTo>
                  <a:pt x="0" y="0"/>
                </a:moveTo>
                <a:lnTo>
                  <a:pt x="14372268" y="0"/>
                </a:lnTo>
                <a:lnTo>
                  <a:pt x="1437226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Freeform 18"/>
          <p:cNvSpPr/>
          <p:nvPr/>
        </p:nvSpPr>
        <p:spPr>
          <a:xfrm>
            <a:off x="2384280" y="8778240"/>
            <a:ext cx="885600" cy="874080"/>
          </a:xfrm>
          <a:custGeom>
            <a:avLst/>
            <a:gdLst>
              <a:gd name="textAreaLeft" fmla="*/ 0 w 885600"/>
              <a:gd name="textAreaRight" fmla="*/ 885960 w 885600"/>
              <a:gd name="textAreaTop" fmla="*/ 0 h 874080"/>
              <a:gd name="textAreaBottom" fmla="*/ 874440 h 874080"/>
            </a:gdLst>
            <a:ahLst/>
            <a:cxnLst/>
            <a:rect l="textAreaLeft" t="textAreaTop" r="textAreaRight" b="textAreaBottom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19"/>
          <p:cNvSpPr/>
          <p:nvPr/>
        </p:nvSpPr>
        <p:spPr>
          <a:xfrm>
            <a:off x="3402360" y="9055440"/>
            <a:ext cx="127245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31"/>
              </a:lnSpc>
            </a:pPr>
            <a:r>
              <a:rPr lang="en-US" sz="2260" b="1" u="none" strike="noStrike">
                <a:solidFill>
                  <a:srgbClr val="0F2766"/>
                </a:solidFill>
                <a:effectLst/>
                <a:uFillTx/>
                <a:latin typeface="Arimo Bold"/>
                <a:ea typeface="Arimo Bold"/>
              </a:rPr>
              <a:t>Goal: faster, cheaper, reliable local voice interaction without weakening evidence grounding.</a:t>
            </a:r>
            <a:endParaRPr lang="en-IN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Freeform 20"/>
          <p:cNvSpPr/>
          <p:nvPr/>
        </p:nvSpPr>
        <p:spPr>
          <a:xfrm>
            <a:off x="0" y="9641880"/>
            <a:ext cx="18287640" cy="64476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644760"/>
              <a:gd name="textAreaBottom" fmla="*/ 645120 h 644760"/>
            </a:gdLst>
            <a:ahLst/>
            <a:cxnLst/>
            <a:rect l="textAreaLeft" t="textAreaTop" r="textAreaRight" b="textAreaBottom"/>
            <a:pathLst>
              <a:path w="18288000" h="644987">
                <a:moveTo>
                  <a:pt x="0" y="0"/>
                </a:moveTo>
                <a:lnTo>
                  <a:pt x="18288000" y="0"/>
                </a:lnTo>
                <a:lnTo>
                  <a:pt x="1828800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21"/>
          <p:cNvSpPr/>
          <p:nvPr/>
        </p:nvSpPr>
        <p:spPr>
          <a:xfrm>
            <a:off x="5591880" y="9833400"/>
            <a:ext cx="70815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489"/>
              </a:lnSpc>
            </a:pPr>
            <a:r>
              <a:rPr lang="en-US" sz="192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Georgia Pro"/>
                <a:ea typeface="Georgia Pro"/>
              </a:rPr>
              <a:t>International Institute of Information Technology, Naya Raipur</a:t>
            </a:r>
            <a:endParaRPr lang="en-IN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22"/>
          <p:cNvSpPr/>
          <p:nvPr/>
        </p:nvSpPr>
        <p:spPr>
          <a:xfrm>
            <a:off x="393120" y="9889560"/>
            <a:ext cx="8722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205"/>
              </a:lnSpc>
            </a:pPr>
            <a:r>
              <a:rPr lang="en-US" sz="17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Arimo"/>
                <a:ea typeface="Arimo"/>
              </a:rPr>
              <a:t>05/10/26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23"/>
          <p:cNvSpPr/>
          <p:nvPr/>
        </p:nvSpPr>
        <p:spPr>
          <a:xfrm>
            <a:off x="17127360" y="9829440"/>
            <a:ext cx="24912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914400">
              <a:lnSpc>
                <a:spcPts val="2205"/>
              </a:lnSpc>
            </a:pPr>
            <a:r>
              <a:rPr lang="en-US" sz="17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Arimo"/>
                <a:ea typeface="Arimo"/>
              </a:rPr>
              <a:t>11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roup 2"/>
          <p:cNvGrpSpPr/>
          <p:nvPr/>
        </p:nvGrpSpPr>
        <p:grpSpPr>
          <a:xfrm>
            <a:off x="0" y="9698760"/>
            <a:ext cx="18288000" cy="606600"/>
            <a:chOff x="0" y="9698760"/>
            <a:chExt cx="18288000" cy="606600"/>
          </a:xfrm>
        </p:grpSpPr>
        <p:sp>
          <p:nvSpPr>
            <p:cNvPr id="500" name="Freeform 3"/>
            <p:cNvSpPr/>
            <p:nvPr/>
          </p:nvSpPr>
          <p:spPr>
            <a:xfrm>
              <a:off x="0" y="9698760"/>
              <a:ext cx="18288000" cy="60660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606600"/>
                <a:gd name="textAreaBottom" fmla="*/ 606960 h 606600"/>
              </a:gdLst>
              <a:ahLst/>
              <a:cxnLst/>
              <a:rect l="textAreaLeft" t="textAreaTop" r="textAreaRight" b="textAreaBottom"/>
              <a:pathLst>
                <a:path w="24384254" h="809244">
                  <a:moveTo>
                    <a:pt x="0" y="0"/>
                  </a:moveTo>
                  <a:lnTo>
                    <a:pt x="24384254" y="0"/>
                  </a:lnTo>
                  <a:lnTo>
                    <a:pt x="24384254" y="809244"/>
                  </a:lnTo>
                  <a:lnTo>
                    <a:pt x="0" y="809244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1" name="Group 4"/>
          <p:cNvGrpSpPr/>
          <p:nvPr/>
        </p:nvGrpSpPr>
        <p:grpSpPr>
          <a:xfrm>
            <a:off x="15935400" y="345240"/>
            <a:ext cx="2190240" cy="2190240"/>
            <a:chOff x="15935400" y="345240"/>
            <a:chExt cx="2190240" cy="2190240"/>
          </a:xfrm>
        </p:grpSpPr>
        <p:sp>
          <p:nvSpPr>
            <p:cNvPr id="502" name="Freeform 5"/>
            <p:cNvSpPr/>
            <p:nvPr/>
          </p:nvSpPr>
          <p:spPr>
            <a:xfrm>
              <a:off x="15935400" y="345240"/>
              <a:ext cx="2190240" cy="2190240"/>
            </a:xfrm>
            <a:custGeom>
              <a:avLst/>
              <a:gdLst>
                <a:gd name="textAreaLeft" fmla="*/ 0 w 2190240"/>
                <a:gd name="textAreaRight" fmla="*/ 2190600 w 2190240"/>
                <a:gd name="textAreaTop" fmla="*/ 0 h 2190240"/>
                <a:gd name="textAreaBottom" fmla="*/ 2190600 h 2190240"/>
              </a:gdLst>
              <a:ahLst/>
              <a:cxnLst/>
              <a:rect l="textAreaLeft" t="textAreaTop" r="textAreaRight" b="textAreaBottom"/>
              <a:pathLst>
                <a:path w="2921000" h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3" name="Group 6"/>
          <p:cNvGrpSpPr/>
          <p:nvPr/>
        </p:nvGrpSpPr>
        <p:grpSpPr>
          <a:xfrm>
            <a:off x="0" y="4680"/>
            <a:ext cx="18288000" cy="7090920"/>
            <a:chOff x="0" y="4680"/>
            <a:chExt cx="18288000" cy="7090920"/>
          </a:xfrm>
        </p:grpSpPr>
        <p:sp>
          <p:nvSpPr>
            <p:cNvPr id="504" name="Freeform 7"/>
            <p:cNvSpPr/>
            <p:nvPr/>
          </p:nvSpPr>
          <p:spPr>
            <a:xfrm>
              <a:off x="0" y="4680"/>
              <a:ext cx="18288000" cy="7090920"/>
            </a:xfrm>
            <a:custGeom>
              <a:avLst/>
              <a:gdLst>
                <a:gd name="textAreaLeft" fmla="*/ 0 w 18288000"/>
                <a:gd name="textAreaRight" fmla="*/ 18288360 w 18288000"/>
                <a:gd name="textAreaTop" fmla="*/ 0 h 7090920"/>
                <a:gd name="textAreaBottom" fmla="*/ 7091280 h 7090920"/>
              </a:gdLst>
              <a:ahLst/>
              <a:cxnLst/>
              <a:rect l="textAreaLeft" t="textAreaTop" r="textAreaRight" b="textAreaBottom"/>
              <a:pathLst>
                <a:path w="24384254" h="9455028">
                  <a:moveTo>
                    <a:pt x="0" y="0"/>
                  </a:moveTo>
                  <a:lnTo>
                    <a:pt x="24384254" y="0"/>
                  </a:lnTo>
                  <a:lnTo>
                    <a:pt x="24384254" y="9455028"/>
                  </a:lnTo>
                  <a:lnTo>
                    <a:pt x="0" y="9455028"/>
                  </a:lnTo>
                  <a:close/>
                </a:path>
              </a:pathLst>
            </a:custGeom>
            <a:solidFill>
              <a:srgbClr val="0C25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5" name="TextBox 8"/>
            <p:cNvSpPr/>
            <p:nvPr/>
          </p:nvSpPr>
          <p:spPr>
            <a:xfrm>
              <a:off x="0" y="4680"/>
              <a:ext cx="18288000" cy="709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t">
              <a:noAutofit/>
            </a:bodyPr>
            <a:p>
              <a:pPr defTabSz="914400">
                <a:lnSpc>
                  <a:spcPts val="162"/>
                </a:lnSpc>
                <a:tabLst>
                  <a:tab pos="0" algn="l"/>
                </a:tabLst>
              </a:pPr>
              <a:r>
                <a:rPr lang="en-US" sz="150" b="0" u="none" strike="noStrike">
                  <a:solidFill>
                    <a:srgbClr val="0C2577"/>
                  </a:solidFill>
                  <a:effectLst/>
                  <a:uFillTx/>
                  <a:latin typeface="Georgia"/>
                  <a:ea typeface="Georgia"/>
                </a:rPr>
                <a:t/>
              </a:r>
              <a:endParaRPr lang="en-IN" sz="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6" name="Group 9"/>
          <p:cNvGrpSpPr/>
          <p:nvPr/>
        </p:nvGrpSpPr>
        <p:grpSpPr>
          <a:xfrm>
            <a:off x="1398240" y="2305440"/>
            <a:ext cx="15773040" cy="1987920"/>
            <a:chOff x="1398240" y="2305440"/>
            <a:chExt cx="15773040" cy="1987920"/>
          </a:xfrm>
        </p:grpSpPr>
        <p:sp>
          <p:nvSpPr>
            <p:cNvPr id="507" name="Freeform 10"/>
            <p:cNvSpPr/>
            <p:nvPr/>
          </p:nvSpPr>
          <p:spPr>
            <a:xfrm>
              <a:off x="1398240" y="230544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044">
                  <a:moveTo>
                    <a:pt x="0" y="0"/>
                  </a:moveTo>
                  <a:lnTo>
                    <a:pt x="21031200" y="0"/>
                  </a:lnTo>
                  <a:lnTo>
                    <a:pt x="21031200" y="2651044"/>
                  </a:lnTo>
                  <a:lnTo>
                    <a:pt x="0" y="265104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TextBox 11"/>
            <p:cNvSpPr/>
            <p:nvPr/>
          </p:nvSpPr>
          <p:spPr>
            <a:xfrm>
              <a:off x="1398240" y="2348280"/>
              <a:ext cx="15773040" cy="194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6041"/>
                </a:lnSpc>
                <a:tabLst>
                  <a:tab pos="0" algn="l"/>
                </a:tabLst>
              </a:pPr>
              <a:r>
                <a:rPr lang="en-US" sz="5600" b="1" u="none" strike="noStrike">
                  <a:solidFill>
                    <a:srgbClr val="FFFFFF"/>
                  </a:solidFill>
                  <a:effectLst/>
                  <a:uFillTx/>
                  <a:latin typeface="Georgia Bold"/>
                  <a:ea typeface="Georgia Bold"/>
                </a:rPr>
                <a:t>Thank You</a:t>
              </a:r>
              <a:endParaRPr lang="en-IN" sz="5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9" name="Group 12"/>
          <p:cNvGrpSpPr/>
          <p:nvPr/>
        </p:nvGrpSpPr>
        <p:grpSpPr>
          <a:xfrm>
            <a:off x="324000" y="7503480"/>
            <a:ext cx="1866600" cy="1866600"/>
            <a:chOff x="324000" y="7503480"/>
            <a:chExt cx="1866600" cy="1866600"/>
          </a:xfrm>
        </p:grpSpPr>
        <p:sp>
          <p:nvSpPr>
            <p:cNvPr id="510" name="Freeform 13"/>
            <p:cNvSpPr/>
            <p:nvPr/>
          </p:nvSpPr>
          <p:spPr>
            <a:xfrm>
              <a:off x="324000" y="7503480"/>
              <a:ext cx="1866600" cy="1866600"/>
            </a:xfrm>
            <a:custGeom>
              <a:avLst/>
              <a:gdLst>
                <a:gd name="textAreaLeft" fmla="*/ 0 w 1866600"/>
                <a:gd name="textAreaRight" fmla="*/ 1866960 w 1866600"/>
                <a:gd name="textAreaTop" fmla="*/ 0 h 1866600"/>
                <a:gd name="textAreaBottom" fmla="*/ 1866960 h 1866600"/>
              </a:gdLst>
              <a:ahLst/>
              <a:cxnLst/>
              <a:rect l="textAreaLeft" t="textAreaTop" r="textAreaRight" b="textAreaBottom"/>
              <a:pathLst>
                <a:path w="2489073" h="2489073">
                  <a:moveTo>
                    <a:pt x="0" y="0"/>
                  </a:moveTo>
                  <a:lnTo>
                    <a:pt x="2489073" y="0"/>
                  </a:lnTo>
                  <a:lnTo>
                    <a:pt x="2489073" y="2489073"/>
                  </a:lnTo>
                  <a:lnTo>
                    <a:pt x="0" y="248907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1" name="Group 14"/>
          <p:cNvGrpSpPr/>
          <p:nvPr/>
        </p:nvGrpSpPr>
        <p:grpSpPr>
          <a:xfrm>
            <a:off x="399960" y="9748800"/>
            <a:ext cx="3314160" cy="478440"/>
            <a:chOff x="399960" y="9748800"/>
            <a:chExt cx="3314160" cy="478440"/>
          </a:xfrm>
        </p:grpSpPr>
        <p:sp>
          <p:nvSpPr>
            <p:cNvPr id="512" name="Freeform 15"/>
            <p:cNvSpPr/>
            <p:nvPr/>
          </p:nvSpPr>
          <p:spPr>
            <a:xfrm>
              <a:off x="399960" y="9777240"/>
              <a:ext cx="3314160" cy="450000"/>
            </a:xfrm>
            <a:custGeom>
              <a:avLst/>
              <a:gdLst>
                <a:gd name="textAreaLeft" fmla="*/ 0 w 3314160"/>
                <a:gd name="textAreaRight" fmla="*/ 3314520 w 3314160"/>
                <a:gd name="textAreaTop" fmla="*/ 0 h 450000"/>
                <a:gd name="textAreaBottom" fmla="*/ 450360 h 450000"/>
              </a:gdLst>
              <a:ahLst/>
              <a:cxnLst/>
              <a:rect l="textAreaLeft" t="textAreaTop" r="textAreaRight" b="textAreaBottom"/>
              <a:pathLst>
                <a:path w="4419360" h="600479">
                  <a:moveTo>
                    <a:pt x="0" y="0"/>
                  </a:moveTo>
                  <a:lnTo>
                    <a:pt x="4419360" y="0"/>
                  </a:lnTo>
                  <a:lnTo>
                    <a:pt x="4419360" y="600479"/>
                  </a:lnTo>
                  <a:lnTo>
                    <a:pt x="0" y="600479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TextBox 16"/>
            <p:cNvSpPr/>
            <p:nvPr/>
          </p:nvSpPr>
          <p:spPr>
            <a:xfrm>
              <a:off x="399960" y="9748800"/>
              <a:ext cx="3314160" cy="47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831"/>
                </a:lnSpc>
                <a:tabLst>
                  <a:tab pos="0" algn="l"/>
                </a:tabLst>
              </a:pPr>
              <a:r>
                <a:rPr lang="en-US" sz="153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05/10/26</a:t>
              </a:r>
              <a:endParaRPr lang="en-IN" sz="15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4" name="Group 17"/>
          <p:cNvGrpSpPr/>
          <p:nvPr/>
        </p:nvGrpSpPr>
        <p:grpSpPr>
          <a:xfrm>
            <a:off x="14411520" y="9651600"/>
            <a:ext cx="2969280" cy="575640"/>
            <a:chOff x="14411520" y="9651600"/>
            <a:chExt cx="2969280" cy="575640"/>
          </a:xfrm>
        </p:grpSpPr>
        <p:sp>
          <p:nvSpPr>
            <p:cNvPr id="515" name="Freeform 18"/>
            <p:cNvSpPr/>
            <p:nvPr/>
          </p:nvSpPr>
          <p:spPr>
            <a:xfrm>
              <a:off x="14411520" y="9680040"/>
              <a:ext cx="2969280" cy="547200"/>
            </a:xfrm>
            <a:custGeom>
              <a:avLst/>
              <a:gdLst>
                <a:gd name="textAreaLeft" fmla="*/ 0 w 2969280"/>
                <a:gd name="textAreaRight" fmla="*/ 2969640 w 296928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3959280" h="730075">
                  <a:moveTo>
                    <a:pt x="0" y="0"/>
                  </a:moveTo>
                  <a:lnTo>
                    <a:pt x="3959280" y="0"/>
                  </a:lnTo>
                  <a:lnTo>
                    <a:pt x="395928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TextBox 19"/>
            <p:cNvSpPr/>
            <p:nvPr/>
          </p:nvSpPr>
          <p:spPr>
            <a:xfrm>
              <a:off x="14411520" y="9651600"/>
              <a:ext cx="296892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r" defTabSz="914400">
                <a:lnSpc>
                  <a:spcPts val="1831"/>
                </a:lnSpc>
                <a:tabLst>
                  <a:tab pos="0" algn="l"/>
                </a:tabLst>
              </a:pPr>
              <a:r>
                <a:rPr lang="en-US" sz="1530" b="0" u="none" strike="noStrike">
                  <a:solidFill>
                    <a:srgbClr val="FFFFFF"/>
                  </a:solidFill>
                  <a:effectLst/>
                  <a:uFillTx/>
                  <a:latin typeface="Calibri (MS)"/>
                  <a:ea typeface="Calibri (MS)"/>
                </a:rPr>
                <a:t>12</a:t>
              </a:r>
              <a:endParaRPr lang="en-IN" sz="15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7" name="Group 20"/>
          <p:cNvGrpSpPr/>
          <p:nvPr/>
        </p:nvGrpSpPr>
        <p:grpSpPr>
          <a:xfrm>
            <a:off x="4288680" y="9732240"/>
            <a:ext cx="9896400" cy="554400"/>
            <a:chOff x="4288680" y="9732240"/>
            <a:chExt cx="9896400" cy="554400"/>
          </a:xfrm>
        </p:grpSpPr>
        <p:sp>
          <p:nvSpPr>
            <p:cNvPr id="518" name="Freeform 21"/>
            <p:cNvSpPr/>
            <p:nvPr/>
          </p:nvSpPr>
          <p:spPr>
            <a:xfrm>
              <a:off x="4288680" y="9739440"/>
              <a:ext cx="9896400" cy="547200"/>
            </a:xfrm>
            <a:custGeom>
              <a:avLst/>
              <a:gdLst>
                <a:gd name="textAreaLeft" fmla="*/ 0 w 9896400"/>
                <a:gd name="textAreaRight" fmla="*/ 9896760 w 9896400"/>
                <a:gd name="textAreaTop" fmla="*/ 0 h 547200"/>
                <a:gd name="textAreaBottom" fmla="*/ 547560 h 547200"/>
              </a:gdLst>
              <a:ahLst/>
              <a:cxnLst/>
              <a:rect l="textAreaLeft" t="textAreaTop" r="textAreaRight" b="textAreaBottom"/>
              <a:pathLst>
                <a:path w="13195440" h="730075">
                  <a:moveTo>
                    <a:pt x="0" y="0"/>
                  </a:moveTo>
                  <a:lnTo>
                    <a:pt x="13195440" y="0"/>
                  </a:lnTo>
                  <a:lnTo>
                    <a:pt x="13195440" y="730075"/>
                  </a:lnTo>
                  <a:lnTo>
                    <a:pt x="0" y="730075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TextBox 22"/>
            <p:cNvSpPr/>
            <p:nvPr/>
          </p:nvSpPr>
          <p:spPr>
            <a:xfrm>
              <a:off x="4288680" y="9732240"/>
              <a:ext cx="9896400" cy="55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2134"/>
                </a:lnSpc>
                <a:tabLst>
                  <a:tab pos="0" algn="l"/>
                </a:tabLst>
              </a:pPr>
              <a:r>
                <a:rPr lang="en-US" sz="1779" b="0" u="none" strike="noStrike">
                  <a:solidFill>
                    <a:srgbClr val="FFFFFF"/>
                  </a:solidFill>
                  <a:effectLst/>
                  <a:uFillTx/>
                  <a:latin typeface="Georgia"/>
                  <a:ea typeface="Georgia"/>
                </a:rPr>
                <a:t>International Institute of Information Technology, Naya Raipur</a:t>
              </a:r>
              <a:endParaRPr lang="en-IN" sz="1779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0" name="TextBox 23"/>
          <p:cNvSpPr/>
          <p:nvPr/>
        </p:nvSpPr>
        <p:spPr>
          <a:xfrm>
            <a:off x="2571840" y="7553160"/>
            <a:ext cx="104770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640"/>
              </a:lnSpc>
            </a:pPr>
            <a:r>
              <a:rPr lang="en-US" sz="2600" b="0" u="none" strike="noStrike">
                <a:solidFill>
                  <a:srgbClr val="23298A"/>
                </a:solidFill>
                <a:effectLst/>
                <a:uFillTx/>
                <a:latin typeface="Arimo"/>
                <a:ea typeface="Arimo"/>
              </a:rPr>
              <a:t>Edge-Optimized Low-Latency Voice-to-Voice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40"/>
              </a:lnSpc>
            </a:pPr>
            <a:r>
              <a:rPr lang="en-US" sz="2600" b="0" u="none" strike="noStrike">
                <a:solidFill>
                  <a:srgbClr val="23298A"/>
                </a:solidFill>
                <a:effectLst/>
                <a:uFillTx/>
                <a:latin typeface="Arimo"/>
                <a:ea typeface="Arimo"/>
              </a:rPr>
              <a:t>Conversational Agent for Low-Resource Vernacular Dialects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24"/>
          <p:cNvSpPr/>
          <p:nvPr/>
        </p:nvSpPr>
        <p:spPr>
          <a:xfrm>
            <a:off x="2571840" y="8715960"/>
            <a:ext cx="1047708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359"/>
              </a:lnSpc>
            </a:pPr>
            <a:r>
              <a:rPr lang="en-US" sz="2400" b="0" i="1" u="none" strike="noStrike">
                <a:solidFill>
                  <a:srgbClr val="002060"/>
                </a:solidFill>
                <a:effectLst/>
                <a:uFillTx/>
                <a:latin typeface="Arimo Italics"/>
                <a:ea typeface="Arimo Italics"/>
              </a:rPr>
              <a:t>Questions?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ns3:AlternateContent>
    <ns3:Choice Requires="p14">
      <p:transition spd="slow" ns4:dur="2000"/>
    </ns3:Choice>
    <ns3:Fallback>
      <p:transition spd="slow"/>
    </ns3:Fallback>
  </ns3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LibreOffice/26.8.0.3$Linux_X86_64 LibreOffice_project/e34ffb33db0c92181c79084d759a90d6bf45d9b3</Application>
  <AppVersion>15.0000</AppVersion>
  <Words>1471</Words>
  <Paragraphs>251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DAHXHSBo5jY</dc:identifier>
  <dc:language>en-IN</dc:language>
  <cp:lastModifiedBy/>
  <dcterms:modified xsi:type="dcterms:W3CDTF">2026-10-05T22:00:33Z</dcterms:modified>
  <cp:revision>3</cp:revision>
  <dc:subject/>
  <dc:title>Progress PPT.ppt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12</vt:i4>
  </property>
</Properties>
</file>